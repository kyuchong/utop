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UTOP 은 유비쿼스가 네트워크 장비 시험을 위해 만든 웹 기반 시험 자동화 플랫폼입니다. 요구사항 관리, 시험 항목 작성, 사이클 실행, 결과서 산출까지 한 곳에서 처리하고 장비 CLI 와 트래픽 계측기를 직접 제어합니다.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 배경입니다. 시험 자체보다 결과 정리, 실행 관리, 자료 연결, 장비 조작에 시간이 더 든다는 점을 짚습니다. 특히 결과서 옮겨 적기는 시험 100건이면 하루가 걸리던 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UTOP 의 흐름은 다섯 단계입니다. 위키에 규격·절차를 적고, REQ-Coverage 에서 요구사항을 시험으로 덮고, Cycles 에서 돌리고, 결과서를 내고, 결함을 Jira 로 넘깁니다. 이 다섯이 한 저장소·한 계정·한 링크 체계 안에 있다는 점이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서버는 web, api, db 세 컨테이너와 실행기로 구성됩니다. 장비와 계측기, Jira 같은 외부 시스템은 모두 api 가 대신 붙습니다. N2X 는 Tcl DLL 이 윈도우 전용이라 윈도우 중계를 통해 연결합니다. 실행기는 API 를 통해서만 장비에 붙기 때문에 다른 PC 에 여러 대를 띄울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메뉴는 다섯 묶음입니다. QUALITY 는 일이 흘러가는 차례대로 WIKI, REQ-Coverage, Cycles. RESOURCES 는 장비·계측기·랙. INTEGRATION 은 Jira 와 이어지는 것들. AI 두 자리, 그리고 SETUP 입니다. 같은 일을 하는 자리를 여러 곳에 두지 않는 것이 설계 원칙입니다.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위키는 프로젝트별 문서입니다. 별도 위키를 붙이지 않고 안에 둔 이유는 계정·프로젝트·링크가 한 벌이어야 문서와 요구사항이 서로를 가리킬 수 있기 때문입니다. REQ-Coverage 는 요구사항과 시험을 합쳐 보는 자리로, 아직 시험으로 덮이지 않은 요구사항이 바로 드러납니다.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시험 항목은 스텝의 나열입니다. 스텝마다 장비·명령·기대값·판정 종류를 두고, 판정은 일곱 가지 규칙으로 응답을 봅니다. IF 분기와 변수 치환으로 한 시험이 여러 기종과 여러 버전을 덮습니다. 토폴로지를 그려 두면 결과서에 그대로 들어갑니다.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장비는 SSH/Telnet CLI 와 SNMP 로, 계측기는 IXIA N2X 와 Spirent TestCenter 를 지원합니다. 계측기도 장비와 같은 등록부를 써서 "장비는 비었는데 계측기가 잡혀 있다" 를 한 화면에서 알 수 있습니다. 랙 뷰는 시험실 실장도로, 접속 상태를 LED 로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예전에는 브라우저가 실행을 붙들고 있어 탭을 닫으면 멈췄습니다. 지금은 화면이 일감을 대기줄에 걸면 실행 서버가 집어서 돌리고, 진행은 WebSocket 으로 모두에게 중계됩니다. 판정 규칙은 시험 화면과 실행기가 같은 TypeScript 코드를 쓰기 때문에 결과가 어긋나지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결과서는 고객사가 준 PPTX 양식을 그대로 열어 장을 복제하고 값만 채우는 방식입니다. 서식을 손대지 않으므로 받는 쪽 눈에는 자기네 양식 그대로입니다. 결과 메일과 대시보드도 사이클 안에서 바로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결함은 실행 항목에서 그 자리에서 등록하고, Defects 화면에서 골라 Jira 로 밉니다. Jira Issue 는 프로젝트를 골라 증분 동기화하고 DB 에 둡니다. Releases 는 버전별로 이슈와 그것을 덮는 시험을 보여 배포 전 검증 여부를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는 두 자리입니다. Coverage AI 는 말로 시험을 짜고 돌려 보고 저장하는 자리, Knowledge AI 는 쌓인 자료에서 근거와 함께 답하는 자리입니다. LLM 은 Claude API, 로컬 LLM, Dify 중 골라 쓸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운영 관점입니다. Docker 하나로 설치와 업데이트가 끝나고, 데이터는 볼륨에만 있어 소스와 분리됩니다. 랩마다 서 있는 UTOP 사이에 자료를 묶음으로 옮길 수 있고, 계정·권한·감사 로그를 갖추고 있습니다. 백엔드는 밖에 열지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 전후 비교입니다. 결과서, 실행, 다기종 대응, 요구사항 추적, 계측기, 결함, 설치까지 사람이 손으로 하던 일이 어떻게 바뀌는지 항목별로 정리했습니다.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도입은 환경 준비, 자료 이관, 시범 사이클, 정착의 네 단계입니다. 시범 사이클에서 결과서와 결함 흐름까지 한 번 끝까지 흘려 보는 것을 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마무리입니다. UTOP 은 요구사항에서 결과서까지를 한 곳에서 처리합니다. 질문을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slideLayout" Target="../slideLayouts/slideLayout1.xml"/><Relationship Id="rId1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C"/>
        </a:solidFill>
      </p:bgPr>
    </p:bg>
    <p:spTree>
      <p:nvGrpSpPr>
        <p:cNvPr id="1" name=""/>
        <p:cNvGrpSpPr/>
        <p:nvPr/>
      </p:nvGrpSpPr>
      <p:grpSpPr>
        <a:xfrm>
          <a:off x="0" y="0"/>
          <a:ext cx="0" cy="0"/>
          <a:chOff x="0" y="0"/>
          <a:chExt cx="0" cy="0"/>
        </a:xfrm>
      </p:grpSpPr>
      <p:sp>
        <p:nvSpPr>
          <p:cNvPr id="2" name="Shape 0"/>
          <p:cNvSpPr/>
          <p:nvPr/>
        </p:nvSpPr>
        <p:spPr>
          <a:xfrm flipV="1">
            <a:off x="8604504" y="1143000"/>
            <a:ext cx="1499616" cy="512064"/>
          </a:xfrm>
          <a:prstGeom prst="line">
            <a:avLst/>
          </a:prstGeom>
          <a:noFill/>
          <a:ln w="19050">
            <a:solidFill>
              <a:srgbClr val="2E4A85"/>
            </a:solidFill>
            <a:prstDash val="solid"/>
          </a:ln>
        </p:spPr>
      </p:sp>
      <p:sp>
        <p:nvSpPr>
          <p:cNvPr id="3" name="Shape 1"/>
          <p:cNvSpPr/>
          <p:nvPr/>
        </p:nvSpPr>
        <p:spPr>
          <a:xfrm>
            <a:off x="8604504" y="1655064"/>
            <a:ext cx="731520" cy="1645920"/>
          </a:xfrm>
          <a:prstGeom prst="line">
            <a:avLst/>
          </a:prstGeom>
          <a:noFill/>
          <a:ln w="19050">
            <a:solidFill>
              <a:srgbClr val="2E4A85"/>
            </a:solidFill>
            <a:prstDash val="solid"/>
          </a:ln>
        </p:spPr>
      </p:sp>
      <p:sp>
        <p:nvSpPr>
          <p:cNvPr id="4" name="Shape 2"/>
          <p:cNvSpPr/>
          <p:nvPr/>
        </p:nvSpPr>
        <p:spPr>
          <a:xfrm>
            <a:off x="10104120" y="1143000"/>
            <a:ext cx="1005840" cy="1280160"/>
          </a:xfrm>
          <a:prstGeom prst="line">
            <a:avLst/>
          </a:prstGeom>
          <a:noFill/>
          <a:ln w="19050">
            <a:solidFill>
              <a:srgbClr val="2E4A85"/>
            </a:solidFill>
            <a:prstDash val="solid"/>
          </a:ln>
        </p:spPr>
      </p:sp>
      <p:sp>
        <p:nvSpPr>
          <p:cNvPr id="5" name="Shape 3"/>
          <p:cNvSpPr/>
          <p:nvPr/>
        </p:nvSpPr>
        <p:spPr>
          <a:xfrm flipH="1">
            <a:off x="9336024" y="2423160"/>
            <a:ext cx="1773936" cy="877824"/>
          </a:xfrm>
          <a:prstGeom prst="line">
            <a:avLst/>
          </a:prstGeom>
          <a:noFill/>
          <a:ln w="19050">
            <a:solidFill>
              <a:srgbClr val="2E4A85"/>
            </a:solidFill>
            <a:prstDash val="solid"/>
          </a:ln>
        </p:spPr>
      </p:sp>
      <p:sp>
        <p:nvSpPr>
          <p:cNvPr id="6" name="Shape 4"/>
          <p:cNvSpPr/>
          <p:nvPr/>
        </p:nvSpPr>
        <p:spPr>
          <a:xfrm>
            <a:off x="9336024" y="3300984"/>
            <a:ext cx="1252728" cy="704088"/>
          </a:xfrm>
          <a:prstGeom prst="line">
            <a:avLst/>
          </a:prstGeom>
          <a:noFill/>
          <a:ln w="19050">
            <a:solidFill>
              <a:srgbClr val="2E4A85"/>
            </a:solidFill>
            <a:prstDash val="solid"/>
          </a:ln>
        </p:spPr>
      </p:sp>
      <p:sp>
        <p:nvSpPr>
          <p:cNvPr id="7" name="Shape 5"/>
          <p:cNvSpPr/>
          <p:nvPr/>
        </p:nvSpPr>
        <p:spPr>
          <a:xfrm flipH="1">
            <a:off x="8001000" y="3300984"/>
            <a:ext cx="1335024" cy="1042416"/>
          </a:xfrm>
          <a:prstGeom prst="line">
            <a:avLst/>
          </a:prstGeom>
          <a:noFill/>
          <a:ln w="19050">
            <a:solidFill>
              <a:srgbClr val="2E4A85"/>
            </a:solidFill>
            <a:prstDash val="solid"/>
          </a:ln>
        </p:spPr>
      </p:sp>
      <p:sp>
        <p:nvSpPr>
          <p:cNvPr id="8" name="Shape 6"/>
          <p:cNvSpPr/>
          <p:nvPr/>
        </p:nvSpPr>
        <p:spPr>
          <a:xfrm>
            <a:off x="9336024" y="3300984"/>
            <a:ext cx="201168" cy="1847088"/>
          </a:xfrm>
          <a:prstGeom prst="line">
            <a:avLst/>
          </a:prstGeom>
          <a:noFill/>
          <a:ln w="19050">
            <a:solidFill>
              <a:srgbClr val="2E4A85"/>
            </a:solidFill>
            <a:prstDash val="solid"/>
          </a:ln>
        </p:spPr>
      </p:sp>
      <p:sp>
        <p:nvSpPr>
          <p:cNvPr id="9" name="Shape 7"/>
          <p:cNvSpPr/>
          <p:nvPr/>
        </p:nvSpPr>
        <p:spPr>
          <a:xfrm>
            <a:off x="10588752" y="4005072"/>
            <a:ext cx="612648" cy="1527048"/>
          </a:xfrm>
          <a:prstGeom prst="line">
            <a:avLst/>
          </a:prstGeom>
          <a:noFill/>
          <a:ln w="19050">
            <a:solidFill>
              <a:srgbClr val="2E4A85"/>
            </a:solidFill>
            <a:prstDash val="solid"/>
          </a:ln>
        </p:spPr>
      </p:sp>
      <p:sp>
        <p:nvSpPr>
          <p:cNvPr id="10" name="Shape 8"/>
          <p:cNvSpPr/>
          <p:nvPr/>
        </p:nvSpPr>
        <p:spPr>
          <a:xfrm>
            <a:off x="9537192" y="5148072"/>
            <a:ext cx="1664208" cy="384048"/>
          </a:xfrm>
          <a:prstGeom prst="line">
            <a:avLst/>
          </a:prstGeom>
          <a:noFill/>
          <a:ln w="19050">
            <a:solidFill>
              <a:srgbClr val="2E4A85"/>
            </a:solidFill>
            <a:prstDash val="solid"/>
          </a:ln>
        </p:spPr>
      </p:sp>
      <p:sp>
        <p:nvSpPr>
          <p:cNvPr id="11" name="Shape 9"/>
          <p:cNvSpPr/>
          <p:nvPr/>
        </p:nvSpPr>
        <p:spPr>
          <a:xfrm flipH="1">
            <a:off x="8385048" y="5148072"/>
            <a:ext cx="1152144" cy="768096"/>
          </a:xfrm>
          <a:prstGeom prst="line">
            <a:avLst/>
          </a:prstGeom>
          <a:noFill/>
          <a:ln w="19050">
            <a:solidFill>
              <a:srgbClr val="2E4A85"/>
            </a:solidFill>
            <a:prstDash val="solid"/>
          </a:ln>
        </p:spPr>
      </p:sp>
      <p:sp>
        <p:nvSpPr>
          <p:cNvPr id="12" name="Shape 10"/>
          <p:cNvSpPr/>
          <p:nvPr/>
        </p:nvSpPr>
        <p:spPr>
          <a:xfrm>
            <a:off x="8001000" y="4343400"/>
            <a:ext cx="384048" cy="1572768"/>
          </a:xfrm>
          <a:prstGeom prst="line">
            <a:avLst/>
          </a:prstGeom>
          <a:noFill/>
          <a:ln w="19050">
            <a:solidFill>
              <a:srgbClr val="2E4A85"/>
            </a:solidFill>
            <a:prstDash val="solid"/>
          </a:ln>
        </p:spPr>
      </p:sp>
      <p:sp>
        <p:nvSpPr>
          <p:cNvPr id="13" name="Shape 11"/>
          <p:cNvSpPr/>
          <p:nvPr/>
        </p:nvSpPr>
        <p:spPr>
          <a:xfrm flipH="1">
            <a:off x="10588752" y="2423160"/>
            <a:ext cx="521208" cy="1581912"/>
          </a:xfrm>
          <a:prstGeom prst="line">
            <a:avLst/>
          </a:prstGeom>
          <a:noFill/>
          <a:ln w="19050">
            <a:solidFill>
              <a:srgbClr val="2E4A85"/>
            </a:solidFill>
            <a:prstDash val="solid"/>
          </a:ln>
        </p:spPr>
      </p:sp>
      <p:sp>
        <p:nvSpPr>
          <p:cNvPr id="14" name="Shape 12"/>
          <p:cNvSpPr/>
          <p:nvPr/>
        </p:nvSpPr>
        <p:spPr>
          <a:xfrm>
            <a:off x="8412480" y="1463040"/>
            <a:ext cx="384048" cy="384048"/>
          </a:xfrm>
          <a:prstGeom prst="ellipse">
            <a:avLst/>
          </a:prstGeom>
          <a:solidFill>
            <a:srgbClr val="12A594"/>
          </a:solidFill>
          <a:ln w="25400">
            <a:solidFill>
              <a:srgbClr val="0F1E3C"/>
            </a:solidFill>
            <a:prstDash val="solid"/>
          </a:ln>
        </p:spPr>
      </p:sp>
      <p:sp>
        <p:nvSpPr>
          <p:cNvPr id="15" name="Shape 13"/>
          <p:cNvSpPr/>
          <p:nvPr/>
        </p:nvSpPr>
        <p:spPr>
          <a:xfrm>
            <a:off x="9966960" y="1005840"/>
            <a:ext cx="274320" cy="274320"/>
          </a:xfrm>
          <a:prstGeom prst="ellipse">
            <a:avLst/>
          </a:prstGeom>
          <a:solidFill>
            <a:srgbClr val="2E4A85"/>
          </a:solidFill>
          <a:ln w="25400">
            <a:solidFill>
              <a:srgbClr val="0F1E3C"/>
            </a:solidFill>
            <a:prstDash val="solid"/>
          </a:ln>
        </p:spPr>
      </p:sp>
      <p:sp>
        <p:nvSpPr>
          <p:cNvPr id="16" name="Shape 14"/>
          <p:cNvSpPr/>
          <p:nvPr/>
        </p:nvSpPr>
        <p:spPr>
          <a:xfrm>
            <a:off x="10881360" y="2194560"/>
            <a:ext cx="457200" cy="457200"/>
          </a:xfrm>
          <a:prstGeom prst="ellipse">
            <a:avLst/>
          </a:prstGeom>
          <a:solidFill>
            <a:srgbClr val="2E4A85"/>
          </a:solidFill>
          <a:ln w="25400">
            <a:solidFill>
              <a:srgbClr val="0F1E3C"/>
            </a:solidFill>
            <a:prstDash val="solid"/>
          </a:ln>
        </p:spPr>
      </p:sp>
      <p:sp>
        <p:nvSpPr>
          <p:cNvPr id="17" name="Shape 15"/>
          <p:cNvSpPr/>
          <p:nvPr/>
        </p:nvSpPr>
        <p:spPr>
          <a:xfrm>
            <a:off x="9052560" y="3017520"/>
            <a:ext cx="566928" cy="566928"/>
          </a:xfrm>
          <a:prstGeom prst="ellipse">
            <a:avLst/>
          </a:prstGeom>
          <a:solidFill>
            <a:srgbClr val="12A594"/>
          </a:solidFill>
          <a:ln w="25400">
            <a:solidFill>
              <a:srgbClr val="0F1E3C"/>
            </a:solidFill>
            <a:prstDash val="solid"/>
          </a:ln>
        </p:spPr>
      </p:sp>
      <p:sp>
        <p:nvSpPr>
          <p:cNvPr id="18" name="Shape 16"/>
          <p:cNvSpPr/>
          <p:nvPr/>
        </p:nvSpPr>
        <p:spPr>
          <a:xfrm>
            <a:off x="10424160" y="3840480"/>
            <a:ext cx="329184" cy="329184"/>
          </a:xfrm>
          <a:prstGeom prst="ellipse">
            <a:avLst/>
          </a:prstGeom>
          <a:solidFill>
            <a:srgbClr val="2E4A85"/>
          </a:solidFill>
          <a:ln w="25400">
            <a:solidFill>
              <a:srgbClr val="0F1E3C"/>
            </a:solidFill>
            <a:prstDash val="solid"/>
          </a:ln>
        </p:spPr>
      </p:sp>
      <p:sp>
        <p:nvSpPr>
          <p:cNvPr id="19" name="Shape 17"/>
          <p:cNvSpPr/>
          <p:nvPr/>
        </p:nvSpPr>
        <p:spPr>
          <a:xfrm>
            <a:off x="7863840" y="4206240"/>
            <a:ext cx="274320" cy="274320"/>
          </a:xfrm>
          <a:prstGeom prst="ellipse">
            <a:avLst/>
          </a:prstGeom>
          <a:solidFill>
            <a:srgbClr val="2E4A85"/>
          </a:solidFill>
          <a:ln w="25400">
            <a:solidFill>
              <a:srgbClr val="0F1E3C"/>
            </a:solidFill>
            <a:prstDash val="solid"/>
          </a:ln>
        </p:spPr>
      </p:sp>
      <p:sp>
        <p:nvSpPr>
          <p:cNvPr id="20" name="Shape 18"/>
          <p:cNvSpPr/>
          <p:nvPr/>
        </p:nvSpPr>
        <p:spPr>
          <a:xfrm>
            <a:off x="9326880" y="4937760"/>
            <a:ext cx="420624" cy="420624"/>
          </a:xfrm>
          <a:prstGeom prst="ellipse">
            <a:avLst/>
          </a:prstGeom>
          <a:solidFill>
            <a:srgbClr val="F2A23A"/>
          </a:solidFill>
          <a:ln w="25400">
            <a:solidFill>
              <a:srgbClr val="0F1E3C"/>
            </a:solidFill>
            <a:prstDash val="solid"/>
          </a:ln>
        </p:spPr>
      </p:sp>
      <p:sp>
        <p:nvSpPr>
          <p:cNvPr id="21" name="Shape 19"/>
          <p:cNvSpPr/>
          <p:nvPr/>
        </p:nvSpPr>
        <p:spPr>
          <a:xfrm>
            <a:off x="11064240" y="5394960"/>
            <a:ext cx="274320" cy="274320"/>
          </a:xfrm>
          <a:prstGeom prst="ellipse">
            <a:avLst/>
          </a:prstGeom>
          <a:solidFill>
            <a:srgbClr val="2E4A85"/>
          </a:solidFill>
          <a:ln w="25400">
            <a:solidFill>
              <a:srgbClr val="0F1E3C"/>
            </a:solidFill>
            <a:prstDash val="solid"/>
          </a:ln>
        </p:spPr>
      </p:sp>
      <p:sp>
        <p:nvSpPr>
          <p:cNvPr id="22" name="Shape 20"/>
          <p:cNvSpPr/>
          <p:nvPr/>
        </p:nvSpPr>
        <p:spPr>
          <a:xfrm>
            <a:off x="8229600" y="5760720"/>
            <a:ext cx="310896" cy="310896"/>
          </a:xfrm>
          <a:prstGeom prst="ellipse">
            <a:avLst/>
          </a:prstGeom>
          <a:solidFill>
            <a:srgbClr val="2E4A85"/>
          </a:solidFill>
          <a:ln w="25400">
            <a:solidFill>
              <a:srgbClr val="0F1E3C"/>
            </a:solidFill>
            <a:prstDash val="solid"/>
          </a:ln>
        </p:spPr>
      </p:sp>
      <p:sp>
        <p:nvSpPr>
          <p:cNvPr id="23" name="Text 21"/>
          <p:cNvSpPr txBox="1"/>
          <p:nvPr/>
        </p:nvSpPr>
        <p:spPr>
          <a:xfrm>
            <a:off x="548640" y="1554480"/>
            <a:ext cx="6400800" cy="1188720"/>
          </a:xfrm>
          <a:prstGeom prst="rect">
            <a:avLst/>
          </a:prstGeom>
          <a:noFill/>
          <a:ln/>
        </p:spPr>
        <p:txBody>
          <a:bodyPr wrap="square" lIns="0" tIns="0" rIns="0" bIns="0" rtlCol="0" anchor="t"/>
          <a:lstStyle/>
          <a:p>
            <a:pPr indent="0" marL="0">
              <a:buNone/>
            </a:pPr>
            <a:r>
              <a:rPr lang="en-US" sz="7200" b="1" dirty="0">
                <a:solidFill>
                  <a:srgbClr val="FFFFFF"/>
                </a:solidFill>
                <a:latin typeface="Arial" pitchFamily="34" charset="0"/>
                <a:ea typeface="Arial" pitchFamily="34" charset="-122"/>
                <a:cs typeface="Arial" pitchFamily="34" charset="-120"/>
              </a:rPr>
              <a:t>UTOP</a:t>
            </a:r>
            <a:endParaRPr lang="en-US" sz="7200" dirty="0"/>
          </a:p>
        </p:txBody>
      </p:sp>
      <p:sp>
        <p:nvSpPr>
          <p:cNvPr id="24" name="Text 22"/>
          <p:cNvSpPr txBox="1"/>
          <p:nvPr/>
        </p:nvSpPr>
        <p:spPr>
          <a:xfrm>
            <a:off x="548640" y="2697480"/>
            <a:ext cx="6858000" cy="457200"/>
          </a:xfrm>
          <a:prstGeom prst="rect">
            <a:avLst/>
          </a:prstGeom>
          <a:noFill/>
          <a:ln/>
        </p:spPr>
        <p:txBody>
          <a:bodyPr wrap="square" lIns="0" tIns="0" rIns="0" bIns="0" rtlCol="0" anchor="t"/>
          <a:lstStyle/>
          <a:p>
            <a:pPr indent="0" marL="0">
              <a:buNone/>
            </a:pPr>
            <a:r>
              <a:rPr lang="en-US" sz="2000" dirty="0">
                <a:solidFill>
                  <a:srgbClr val="9FB4D8"/>
                </a:solidFill>
                <a:latin typeface="Arial" pitchFamily="34" charset="0"/>
                <a:ea typeface="Arial" pitchFamily="34" charset="-122"/>
                <a:cs typeface="Arial" pitchFamily="34" charset="-120"/>
              </a:rPr>
              <a:t>Ubiquoss Test Orchestration Platform</a:t>
            </a:r>
            <a:endParaRPr lang="en-US" sz="2000" dirty="0"/>
          </a:p>
        </p:txBody>
      </p:sp>
      <p:sp>
        <p:nvSpPr>
          <p:cNvPr id="25" name="Text 23"/>
          <p:cNvSpPr txBox="1"/>
          <p:nvPr/>
        </p:nvSpPr>
        <p:spPr>
          <a:xfrm>
            <a:off x="548640" y="3429000"/>
            <a:ext cx="6858000" cy="548640"/>
          </a:xfrm>
          <a:prstGeom prst="rect">
            <a:avLst/>
          </a:prstGeom>
          <a:noFill/>
          <a:ln/>
        </p:spPr>
        <p:txBody>
          <a:bodyPr wrap="square" lIns="0" tIns="0" rIns="0" bIns="0" rtlCol="0" anchor="t"/>
          <a:lstStyle/>
          <a:p>
            <a:pPr indent="0" marL="0">
              <a:buNone/>
            </a:pPr>
            <a:r>
              <a:rPr lang="en-US" sz="2600" b="1" dirty="0">
                <a:solidFill>
                  <a:srgbClr val="FFFFFF"/>
                </a:solidFill>
                <a:latin typeface="Malgun Gothic" pitchFamily="34" charset="0"/>
                <a:ea typeface="Malgun Gothic" pitchFamily="34" charset="-122"/>
                <a:cs typeface="Malgun Gothic" pitchFamily="34" charset="-120"/>
              </a:rPr>
              <a:t>네트워크 장비 시험 자동화 플랫폼</a:t>
            </a:r>
            <a:endParaRPr lang="en-US" sz="2600" dirty="0"/>
          </a:p>
        </p:txBody>
      </p:sp>
      <p:sp>
        <p:nvSpPr>
          <p:cNvPr id="26" name="Text 24"/>
          <p:cNvSpPr txBox="1"/>
          <p:nvPr/>
        </p:nvSpPr>
        <p:spPr>
          <a:xfrm>
            <a:off x="548640" y="4023360"/>
            <a:ext cx="6858000" cy="457200"/>
          </a:xfrm>
          <a:prstGeom prst="rect">
            <a:avLst/>
          </a:prstGeom>
          <a:noFill/>
          <a:ln/>
        </p:spPr>
        <p:txBody>
          <a:bodyPr wrap="square" lIns="0" tIns="0" rIns="0" bIns="0" rtlCol="0" anchor="t"/>
          <a:lstStyle/>
          <a:p>
            <a:pPr indent="0" marL="0">
              <a:buNone/>
            </a:pPr>
            <a:r>
              <a:rPr lang="en-US" sz="1500" dirty="0">
                <a:solidFill>
                  <a:srgbClr val="CADCFC"/>
                </a:solidFill>
                <a:latin typeface="Malgun Gothic" pitchFamily="34" charset="0"/>
                <a:ea typeface="Malgun Gothic" pitchFamily="34" charset="-122"/>
                <a:cs typeface="Malgun Gothic" pitchFamily="34" charset="-120"/>
              </a:rPr>
              <a:t>요구사항 관리부터 시험 실행, 고객사 양식 결과서까지 한 곳에서</a:t>
            </a:r>
            <a:endParaRPr lang="en-US" sz="1500" dirty="0"/>
          </a:p>
        </p:txBody>
      </p:sp>
      <p:sp>
        <p:nvSpPr>
          <p:cNvPr id="27" name="Text 25"/>
          <p:cNvSpPr txBox="1"/>
          <p:nvPr/>
        </p:nvSpPr>
        <p:spPr>
          <a:xfrm>
            <a:off x="548640" y="5806440"/>
            <a:ext cx="5486400" cy="320040"/>
          </a:xfrm>
          <a:prstGeom prst="rect">
            <a:avLst/>
          </a:prstGeom>
          <a:noFill/>
          <a:ln/>
        </p:spPr>
        <p:txBody>
          <a:bodyPr wrap="square" lIns="0" tIns="0" rIns="0" bIns="0" rtlCol="0" anchor="t"/>
          <a:lstStyle/>
          <a:p>
            <a:pPr indent="0" marL="0">
              <a:buNone/>
            </a:pPr>
            <a:r>
              <a:rPr lang="en-US" sz="1200" dirty="0">
                <a:solidFill>
                  <a:srgbClr val="7F8FB0"/>
                </a:solidFill>
                <a:latin typeface="Malgun Gothic" pitchFamily="34" charset="0"/>
                <a:ea typeface="Malgun Gothic" pitchFamily="34" charset="-122"/>
                <a:cs typeface="Malgun Gothic" pitchFamily="34" charset="-120"/>
              </a:rPr>
              <a:t>고객사 소개 자료  ·  2026. 09</a:t>
            </a:r>
            <a:endParaRPr lang="en-US" sz="1200" dirty="0"/>
          </a:p>
        </p:txBody>
      </p:sp>
      <p:sp>
        <p:nvSpPr>
          <p:cNvPr id="28" name="Text 26"/>
          <p:cNvSpPr txBox="1"/>
          <p:nvPr/>
        </p:nvSpPr>
        <p:spPr>
          <a:xfrm>
            <a:off x="548640" y="6126480"/>
            <a:ext cx="5486400" cy="320040"/>
          </a:xfrm>
          <a:prstGeom prst="rect">
            <a:avLst/>
          </a:prstGeom>
          <a:noFill/>
          <a:ln/>
        </p:spPr>
        <p:txBody>
          <a:bodyPr wrap="square" lIns="0" tIns="0" rIns="0" bIns="0" rtlCol="0" anchor="t"/>
          <a:lstStyle/>
          <a:p>
            <a:pPr indent="0" marL="0">
              <a:buNone/>
            </a:pPr>
            <a:r>
              <a:rPr lang="en-US" sz="1200" b="1" dirty="0">
                <a:solidFill>
                  <a:srgbClr val="B9C6DD"/>
                </a:solidFill>
                <a:latin typeface="Malgun Gothic" pitchFamily="34" charset="0"/>
                <a:ea typeface="Malgun Gothic" pitchFamily="34" charset="-122"/>
                <a:cs typeface="Malgun Gothic" pitchFamily="34" charset="-120"/>
              </a:rPr>
              <a:t>유비쿼스</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t"/>
          <a:lstStyle/>
          <a:p>
            <a:pPr indent="0" marL="0">
              <a:buNone/>
            </a:pPr>
            <a:r>
              <a:rPr lang="en-US" sz="3000" b="1" dirty="0">
                <a:solidFill>
                  <a:srgbClr val="0F1E3C"/>
                </a:solidFill>
                <a:latin typeface="Malgun Gothic" pitchFamily="34" charset="0"/>
                <a:ea typeface="Malgun Gothic" pitchFamily="34" charset="-122"/>
                <a:cs typeface="Malgun Gothic" pitchFamily="34" charset="-120"/>
              </a:rPr>
              <a:t>시험 현장에서 반복되는 네 가지 고민</a:t>
            </a:r>
            <a:endParaRPr lang="en-US" sz="3000" dirty="0"/>
          </a:p>
        </p:txBody>
      </p:sp>
      <p:sp>
        <p:nvSpPr>
          <p:cNvPr id="3" name="Text 1"/>
          <p:cNvSpPr txBox="1"/>
          <p:nvPr/>
        </p:nvSpPr>
        <p:spPr>
          <a:xfrm>
            <a:off x="548640" y="1024128"/>
            <a:ext cx="11094415" cy="365760"/>
          </a:xfrm>
          <a:prstGeom prst="rect">
            <a:avLst/>
          </a:prstGeom>
          <a:noFill/>
          <a:ln/>
        </p:spPr>
        <p:txBody>
          <a:bodyPr wrap="square" lIns="0" tIns="0" rIns="0" bIns="0" rtlCol="0" anchor="t"/>
          <a:lstStyle/>
          <a:p>
            <a:pPr indent="0" marL="0">
              <a:buNone/>
            </a:pPr>
            <a:r>
              <a:rPr lang="en-US" sz="1400" dirty="0">
                <a:solidFill>
                  <a:srgbClr val="6B7A90"/>
                </a:solidFill>
                <a:latin typeface="Malgun Gothic" pitchFamily="34" charset="0"/>
                <a:ea typeface="Malgun Gothic" pitchFamily="34" charset="-122"/>
                <a:cs typeface="Malgun Gothic" pitchFamily="34" charset="-120"/>
              </a:rPr>
              <a:t>장비 시험은 자동화보다 "그 앞뒤 일" 에 시간이 더 든다</a:t>
            </a:r>
            <a:endParaRPr lang="en-US" sz="1400" dirty="0"/>
          </a:p>
        </p:txBody>
      </p:sp>
      <p:sp>
        <p:nvSpPr>
          <p:cNvPr id="4" name="Shape 2"/>
          <p:cNvSpPr/>
          <p:nvPr/>
        </p:nvSpPr>
        <p:spPr>
          <a:xfrm>
            <a:off x="548640" y="1737360"/>
            <a:ext cx="2567864" cy="3566160"/>
          </a:xfrm>
          <a:prstGeom prst="roundRect">
            <a:avLst>
              <a:gd name="adj" fmla="val 4273"/>
            </a:avLst>
          </a:prstGeom>
          <a:solidFill>
            <a:srgbClr val="EEF3F9"/>
          </a:solidFill>
          <a:ln w="12700">
            <a:solidFill>
              <a:srgbClr val="EEF3F9"/>
            </a:solidFill>
            <a:prstDash val="solid"/>
          </a:ln>
        </p:spPr>
      </p:sp>
      <p:sp>
        <p:nvSpPr>
          <p:cNvPr id="5" name="Shape 3"/>
          <p:cNvSpPr/>
          <p:nvPr/>
        </p:nvSpPr>
        <p:spPr>
          <a:xfrm>
            <a:off x="822960" y="2011680"/>
            <a:ext cx="731520" cy="731520"/>
          </a:xfrm>
          <a:prstGeom prst="ellipse">
            <a:avLst/>
          </a:prstGeom>
          <a:solidFill>
            <a:srgbClr val="E05252"/>
          </a:solidFill>
          <a:ln w="12700">
            <a:solidFill>
              <a:srgbClr val="E05252"/>
            </a:solidFill>
            <a:prstDash val="solid"/>
          </a:ln>
        </p:spPr>
      </p:sp>
      <p:pic>
        <p:nvPicPr>
          <p:cNvPr id="6" name="Image 0" descr="preencoded.png">    </p:cNvPr>
          <p:cNvPicPr>
            <a:picLocks noChangeAspect="1"/>
          </p:cNvPicPr>
          <p:nvPr/>
        </p:nvPicPr>
        <p:blipFill>
          <a:blip r:embed="rId1"/>
          <a:stretch>
            <a:fillRect/>
          </a:stretch>
        </p:blipFill>
        <p:spPr>
          <a:xfrm>
            <a:off x="1020470" y="2209190"/>
            <a:ext cx="336499" cy="336499"/>
          </a:xfrm>
          <a:prstGeom prst="rect">
            <a:avLst/>
          </a:prstGeom>
        </p:spPr>
      </p:pic>
      <p:sp>
        <p:nvSpPr>
          <p:cNvPr id="7" name="Text 4"/>
          <p:cNvSpPr txBox="1"/>
          <p:nvPr/>
        </p:nvSpPr>
        <p:spPr>
          <a:xfrm>
            <a:off x="822960" y="2926080"/>
            <a:ext cx="2019224" cy="731520"/>
          </a:xfrm>
          <a:prstGeom prst="rect">
            <a:avLst/>
          </a:prstGeom>
          <a:noFill/>
          <a:ln/>
        </p:spPr>
        <p:txBody>
          <a:bodyPr wrap="square" lIns="0" tIns="0" rIns="0" bIns="0" rtlCol="0" anchor="t"/>
          <a:lstStyle/>
          <a:p>
            <a:pPr indent="0" marL="0">
              <a:buNone/>
            </a:pPr>
            <a:r>
              <a:rPr lang="en-US" sz="1600" b="1" dirty="0">
                <a:solidFill>
                  <a:srgbClr val="0F1E3C"/>
                </a:solidFill>
                <a:latin typeface="Malgun Gothic" pitchFamily="34" charset="0"/>
                <a:ea typeface="Malgun Gothic" pitchFamily="34" charset="-122"/>
                <a:cs typeface="Malgun Gothic" pitchFamily="34" charset="-120"/>
              </a:rPr>
              <a:t>결과를 다시 옮겨 적는다</a:t>
            </a:r>
            <a:endParaRPr lang="en-US" sz="1600" dirty="0"/>
          </a:p>
        </p:txBody>
      </p:sp>
      <p:sp>
        <p:nvSpPr>
          <p:cNvPr id="8" name="Text 5"/>
          <p:cNvSpPr txBox="1"/>
          <p:nvPr/>
        </p:nvSpPr>
        <p:spPr>
          <a:xfrm>
            <a:off x="822960" y="3611880"/>
            <a:ext cx="2019224" cy="1554480"/>
          </a:xfrm>
          <a:prstGeom prst="rect">
            <a:avLst/>
          </a:prstGeom>
          <a:noFill/>
          <a:ln/>
        </p:spPr>
        <p:txBody>
          <a:bodyPr wrap="square" lIns="0" tIns="0" rIns="0" bIns="0" rtlCol="0" anchor="t"/>
          <a:lstStyle/>
          <a:p>
            <a:pPr indent="0" marL="0">
              <a:lnSpc>
                <a:spcPct val="125000"/>
              </a:lnSpc>
              <a:buNone/>
            </a:pPr>
            <a:r>
              <a:rPr lang="en-US" sz="1200" dirty="0">
                <a:solidFill>
                  <a:srgbClr val="1A2333"/>
                </a:solidFill>
                <a:latin typeface="Malgun Gothic" pitchFamily="34" charset="0"/>
                <a:ea typeface="Malgun Gothic" pitchFamily="34" charset="-122"/>
                <a:cs typeface="Malgun Gothic" pitchFamily="34" charset="-120"/>
              </a:rPr>
              <a:t>시험은 끝났는데 고객사 양식에 맞춰 옮겨 붙이는 데 하루가 간다. 글꼴·표선·로고가 안 맞으면 받는 쪽에서 또 손본다.</a:t>
            </a:r>
            <a:endParaRPr lang="en-US" sz="1200" dirty="0"/>
          </a:p>
        </p:txBody>
      </p:sp>
      <p:sp>
        <p:nvSpPr>
          <p:cNvPr id="9" name="Shape 6"/>
          <p:cNvSpPr/>
          <p:nvPr/>
        </p:nvSpPr>
        <p:spPr>
          <a:xfrm>
            <a:off x="3390824" y="1737360"/>
            <a:ext cx="2567864" cy="3566160"/>
          </a:xfrm>
          <a:prstGeom prst="roundRect">
            <a:avLst>
              <a:gd name="adj" fmla="val 4273"/>
            </a:avLst>
          </a:prstGeom>
          <a:solidFill>
            <a:srgbClr val="EEF3F9"/>
          </a:solidFill>
          <a:ln w="12700">
            <a:solidFill>
              <a:srgbClr val="EEF3F9"/>
            </a:solidFill>
            <a:prstDash val="solid"/>
          </a:ln>
        </p:spPr>
      </p:sp>
      <p:sp>
        <p:nvSpPr>
          <p:cNvPr id="10" name="Shape 7"/>
          <p:cNvSpPr/>
          <p:nvPr/>
        </p:nvSpPr>
        <p:spPr>
          <a:xfrm>
            <a:off x="3665144" y="2011680"/>
            <a:ext cx="731520" cy="731520"/>
          </a:xfrm>
          <a:prstGeom prst="ellipse">
            <a:avLst/>
          </a:prstGeom>
          <a:solidFill>
            <a:srgbClr val="F2A23A"/>
          </a:solidFill>
          <a:ln w="12700">
            <a:solidFill>
              <a:srgbClr val="F2A23A"/>
            </a:solidFill>
            <a:prstDash val="solid"/>
          </a:ln>
        </p:spPr>
      </p:sp>
      <p:pic>
        <p:nvPicPr>
          <p:cNvPr id="11" name="Image 1" descr="preencoded.png">    </p:cNvPr>
          <p:cNvPicPr>
            <a:picLocks noChangeAspect="1"/>
          </p:cNvPicPr>
          <p:nvPr/>
        </p:nvPicPr>
        <p:blipFill>
          <a:blip r:embed="rId2"/>
          <a:stretch>
            <a:fillRect/>
          </a:stretch>
        </p:blipFill>
        <p:spPr>
          <a:xfrm>
            <a:off x="3862654" y="2209190"/>
            <a:ext cx="336499" cy="336499"/>
          </a:xfrm>
          <a:prstGeom prst="rect">
            <a:avLst/>
          </a:prstGeom>
        </p:spPr>
      </p:pic>
      <p:sp>
        <p:nvSpPr>
          <p:cNvPr id="12" name="Text 8"/>
          <p:cNvSpPr txBox="1"/>
          <p:nvPr/>
        </p:nvSpPr>
        <p:spPr>
          <a:xfrm>
            <a:off x="3665144" y="2926080"/>
            <a:ext cx="2019224" cy="731520"/>
          </a:xfrm>
          <a:prstGeom prst="rect">
            <a:avLst/>
          </a:prstGeom>
          <a:noFill/>
          <a:ln/>
        </p:spPr>
        <p:txBody>
          <a:bodyPr wrap="square" lIns="0" tIns="0" rIns="0" bIns="0" rtlCol="0" anchor="t"/>
          <a:lstStyle/>
          <a:p>
            <a:pPr indent="0" marL="0">
              <a:buNone/>
            </a:pPr>
            <a:r>
              <a:rPr lang="en-US" sz="1600" b="1" dirty="0">
                <a:solidFill>
                  <a:srgbClr val="0F1E3C"/>
                </a:solidFill>
                <a:latin typeface="Malgun Gothic" pitchFamily="34" charset="0"/>
                <a:ea typeface="Malgun Gothic" pitchFamily="34" charset="-122"/>
                <a:cs typeface="Malgun Gothic" pitchFamily="34" charset="-120"/>
              </a:rPr>
              <a:t>실행이 브라우저에 매인다</a:t>
            </a:r>
            <a:endParaRPr lang="en-US" sz="1600" dirty="0"/>
          </a:p>
        </p:txBody>
      </p:sp>
      <p:sp>
        <p:nvSpPr>
          <p:cNvPr id="13" name="Text 9"/>
          <p:cNvSpPr txBox="1"/>
          <p:nvPr/>
        </p:nvSpPr>
        <p:spPr>
          <a:xfrm>
            <a:off x="3665144" y="3611880"/>
            <a:ext cx="2019224" cy="1554480"/>
          </a:xfrm>
          <a:prstGeom prst="rect">
            <a:avLst/>
          </a:prstGeom>
          <a:noFill/>
          <a:ln/>
        </p:spPr>
        <p:txBody>
          <a:bodyPr wrap="square" lIns="0" tIns="0" rIns="0" bIns="0" rtlCol="0" anchor="t"/>
          <a:lstStyle/>
          <a:p>
            <a:pPr indent="0" marL="0">
              <a:lnSpc>
                <a:spcPct val="125000"/>
              </a:lnSpc>
              <a:buNone/>
            </a:pPr>
            <a:r>
              <a:rPr lang="en-US" sz="1200" dirty="0">
                <a:solidFill>
                  <a:srgbClr val="1A2333"/>
                </a:solidFill>
                <a:latin typeface="Malgun Gothic" pitchFamily="34" charset="0"/>
                <a:ea typeface="Malgun Gothic" pitchFamily="34" charset="-122"/>
                <a:cs typeface="Malgun Gothic" pitchFamily="34" charset="-120"/>
              </a:rPr>
              <a:t>수십 건을 걸어 놓고 탭을 닫으면 거기서 멈춘다. 자리를 뜰 수 없고, 다른 사람은 진행을 볼 수 없다.</a:t>
            </a:r>
            <a:endParaRPr lang="en-US" sz="1200" dirty="0"/>
          </a:p>
        </p:txBody>
      </p:sp>
      <p:sp>
        <p:nvSpPr>
          <p:cNvPr id="14" name="Shape 10"/>
          <p:cNvSpPr/>
          <p:nvPr/>
        </p:nvSpPr>
        <p:spPr>
          <a:xfrm>
            <a:off x="6233008" y="1737360"/>
            <a:ext cx="2567864" cy="3566160"/>
          </a:xfrm>
          <a:prstGeom prst="roundRect">
            <a:avLst>
              <a:gd name="adj" fmla="val 4273"/>
            </a:avLst>
          </a:prstGeom>
          <a:solidFill>
            <a:srgbClr val="EEF3F9"/>
          </a:solidFill>
          <a:ln w="12700">
            <a:solidFill>
              <a:srgbClr val="EEF3F9"/>
            </a:solidFill>
            <a:prstDash val="solid"/>
          </a:ln>
        </p:spPr>
      </p:sp>
      <p:sp>
        <p:nvSpPr>
          <p:cNvPr id="15" name="Shape 11"/>
          <p:cNvSpPr/>
          <p:nvPr/>
        </p:nvSpPr>
        <p:spPr>
          <a:xfrm>
            <a:off x="6507328" y="2011680"/>
            <a:ext cx="731520" cy="731520"/>
          </a:xfrm>
          <a:prstGeom prst="ellipse">
            <a:avLst/>
          </a:prstGeom>
          <a:solidFill>
            <a:srgbClr val="5B6B8C"/>
          </a:solidFill>
          <a:ln w="12700">
            <a:solidFill>
              <a:srgbClr val="5B6B8C"/>
            </a:solidFill>
            <a:prstDash val="solid"/>
          </a:ln>
        </p:spPr>
      </p:sp>
      <p:pic>
        <p:nvPicPr>
          <p:cNvPr id="16" name="Image 2" descr="preencoded.png">    </p:cNvPr>
          <p:cNvPicPr>
            <a:picLocks noChangeAspect="1"/>
          </p:cNvPicPr>
          <p:nvPr/>
        </p:nvPicPr>
        <p:blipFill>
          <a:blip r:embed="rId3"/>
          <a:stretch>
            <a:fillRect/>
          </a:stretch>
        </p:blipFill>
        <p:spPr>
          <a:xfrm>
            <a:off x="6704838" y="2209190"/>
            <a:ext cx="336499" cy="336499"/>
          </a:xfrm>
          <a:prstGeom prst="rect">
            <a:avLst/>
          </a:prstGeom>
        </p:spPr>
      </p:pic>
      <p:sp>
        <p:nvSpPr>
          <p:cNvPr id="17" name="Text 12"/>
          <p:cNvSpPr txBox="1"/>
          <p:nvPr/>
        </p:nvSpPr>
        <p:spPr>
          <a:xfrm>
            <a:off x="6507328" y="2926080"/>
            <a:ext cx="2019224" cy="731520"/>
          </a:xfrm>
          <a:prstGeom prst="rect">
            <a:avLst/>
          </a:prstGeom>
          <a:noFill/>
          <a:ln/>
        </p:spPr>
        <p:txBody>
          <a:bodyPr wrap="square" lIns="0" tIns="0" rIns="0" bIns="0" rtlCol="0" anchor="t"/>
          <a:lstStyle/>
          <a:p>
            <a:pPr indent="0" marL="0">
              <a:buNone/>
            </a:pPr>
            <a:r>
              <a:rPr lang="en-US" sz="1600" b="1" dirty="0">
                <a:solidFill>
                  <a:srgbClr val="0F1E3C"/>
                </a:solidFill>
                <a:latin typeface="Malgun Gothic" pitchFamily="34" charset="0"/>
                <a:ea typeface="Malgun Gothic" pitchFamily="34" charset="-122"/>
                <a:cs typeface="Malgun Gothic" pitchFamily="34" charset="-120"/>
              </a:rPr>
              <a:t>자료가 흩어져 있다</a:t>
            </a:r>
            <a:endParaRPr lang="en-US" sz="1600" dirty="0"/>
          </a:p>
        </p:txBody>
      </p:sp>
      <p:sp>
        <p:nvSpPr>
          <p:cNvPr id="18" name="Text 13"/>
          <p:cNvSpPr txBox="1"/>
          <p:nvPr/>
        </p:nvSpPr>
        <p:spPr>
          <a:xfrm>
            <a:off x="6507328" y="3611880"/>
            <a:ext cx="2019224" cy="1554480"/>
          </a:xfrm>
          <a:prstGeom prst="rect">
            <a:avLst/>
          </a:prstGeom>
          <a:noFill/>
          <a:ln/>
        </p:spPr>
        <p:txBody>
          <a:bodyPr wrap="square" lIns="0" tIns="0" rIns="0" bIns="0" rtlCol="0" anchor="t"/>
          <a:lstStyle/>
          <a:p>
            <a:pPr indent="0" marL="0">
              <a:lnSpc>
                <a:spcPct val="125000"/>
              </a:lnSpc>
              <a:buNone/>
            </a:pPr>
            <a:r>
              <a:rPr lang="en-US" sz="1200" dirty="0">
                <a:solidFill>
                  <a:srgbClr val="1A2333"/>
                </a:solidFill>
                <a:latin typeface="Malgun Gothic" pitchFamily="34" charset="0"/>
                <a:ea typeface="Malgun Gothic" pitchFamily="34" charset="-122"/>
                <a:cs typeface="Malgun Gothic" pitchFamily="34" charset="-120"/>
              </a:rPr>
              <a:t>규격 문서, 요구사항, 시험 항목, 실행 결과, Jira 이슈가 각각 다른 곳에 있어 "이 요구사항은 어떤 시험이 덮나" 를 답하기 어렵다.</a:t>
            </a:r>
            <a:endParaRPr lang="en-US" sz="1200" dirty="0"/>
          </a:p>
        </p:txBody>
      </p:sp>
      <p:sp>
        <p:nvSpPr>
          <p:cNvPr id="19" name="Shape 14"/>
          <p:cNvSpPr/>
          <p:nvPr/>
        </p:nvSpPr>
        <p:spPr>
          <a:xfrm>
            <a:off x="9075191" y="1737360"/>
            <a:ext cx="2567864" cy="3566160"/>
          </a:xfrm>
          <a:prstGeom prst="roundRect">
            <a:avLst>
              <a:gd name="adj" fmla="val 4273"/>
            </a:avLst>
          </a:prstGeom>
          <a:solidFill>
            <a:srgbClr val="EEF3F9"/>
          </a:solidFill>
          <a:ln w="12700">
            <a:solidFill>
              <a:srgbClr val="EEF3F9"/>
            </a:solidFill>
            <a:prstDash val="solid"/>
          </a:ln>
        </p:spPr>
      </p:sp>
      <p:sp>
        <p:nvSpPr>
          <p:cNvPr id="20" name="Shape 15"/>
          <p:cNvSpPr/>
          <p:nvPr/>
        </p:nvSpPr>
        <p:spPr>
          <a:xfrm>
            <a:off x="9349511" y="2011680"/>
            <a:ext cx="731520" cy="731520"/>
          </a:xfrm>
          <a:prstGeom prst="ellipse">
            <a:avLst/>
          </a:prstGeom>
          <a:solidFill>
            <a:srgbClr val="12A594"/>
          </a:solidFill>
          <a:ln w="12700">
            <a:solidFill>
              <a:srgbClr val="12A594"/>
            </a:solidFill>
            <a:prstDash val="solid"/>
          </a:ln>
        </p:spPr>
      </p:sp>
      <p:pic>
        <p:nvPicPr>
          <p:cNvPr id="21" name="Image 3" descr="preencoded.png">    </p:cNvPr>
          <p:cNvPicPr>
            <a:picLocks noChangeAspect="1"/>
          </p:cNvPicPr>
          <p:nvPr/>
        </p:nvPicPr>
        <p:blipFill>
          <a:blip r:embed="rId4"/>
          <a:stretch>
            <a:fillRect/>
          </a:stretch>
        </p:blipFill>
        <p:spPr>
          <a:xfrm>
            <a:off x="9547022" y="2209190"/>
            <a:ext cx="336499" cy="336499"/>
          </a:xfrm>
          <a:prstGeom prst="rect">
            <a:avLst/>
          </a:prstGeom>
        </p:spPr>
      </p:pic>
      <p:sp>
        <p:nvSpPr>
          <p:cNvPr id="22" name="Text 16"/>
          <p:cNvSpPr txBox="1"/>
          <p:nvPr/>
        </p:nvSpPr>
        <p:spPr>
          <a:xfrm>
            <a:off x="9349511" y="2926080"/>
            <a:ext cx="2019224" cy="731520"/>
          </a:xfrm>
          <a:prstGeom prst="rect">
            <a:avLst/>
          </a:prstGeom>
          <a:noFill/>
          <a:ln/>
        </p:spPr>
        <p:txBody>
          <a:bodyPr wrap="square" lIns="0" tIns="0" rIns="0" bIns="0" rtlCol="0" anchor="t"/>
          <a:lstStyle/>
          <a:p>
            <a:pPr indent="0" marL="0">
              <a:buNone/>
            </a:pPr>
            <a:r>
              <a:rPr lang="en-US" sz="1600" b="1" dirty="0">
                <a:solidFill>
                  <a:srgbClr val="0F1E3C"/>
                </a:solidFill>
                <a:latin typeface="Malgun Gothic" pitchFamily="34" charset="0"/>
                <a:ea typeface="Malgun Gothic" pitchFamily="34" charset="-122"/>
                <a:cs typeface="Malgun Gothic" pitchFamily="34" charset="-120"/>
              </a:rPr>
              <a:t>장비·계측기를 따로 다룬다</a:t>
            </a:r>
            <a:endParaRPr lang="en-US" sz="1600" dirty="0"/>
          </a:p>
        </p:txBody>
      </p:sp>
      <p:sp>
        <p:nvSpPr>
          <p:cNvPr id="23" name="Text 17"/>
          <p:cNvSpPr txBox="1"/>
          <p:nvPr/>
        </p:nvSpPr>
        <p:spPr>
          <a:xfrm>
            <a:off x="9349511" y="3611880"/>
            <a:ext cx="2019224" cy="1554480"/>
          </a:xfrm>
          <a:prstGeom prst="rect">
            <a:avLst/>
          </a:prstGeom>
          <a:noFill/>
          <a:ln/>
        </p:spPr>
        <p:txBody>
          <a:bodyPr wrap="square" lIns="0" tIns="0" rIns="0" bIns="0" rtlCol="0" anchor="t"/>
          <a:lstStyle/>
          <a:p>
            <a:pPr indent="0" marL="0">
              <a:lnSpc>
                <a:spcPct val="125000"/>
              </a:lnSpc>
              <a:buNone/>
            </a:pPr>
            <a:r>
              <a:rPr lang="en-US" sz="1200" dirty="0">
                <a:solidFill>
                  <a:srgbClr val="1A2333"/>
                </a:solidFill>
                <a:latin typeface="Malgun Gothic" pitchFamily="34" charset="0"/>
                <a:ea typeface="Malgun Gothic" pitchFamily="34" charset="-122"/>
                <a:cs typeface="Malgun Gothic" pitchFamily="34" charset="-120"/>
              </a:rPr>
              <a:t>CLI(SSH/Telnet), SNMP, IXIA N2X, Spirent STC 를 각각의 도구로 조작하고 결과를 사람이 모은다.</a:t>
            </a:r>
            <a:endParaRPr lang="en-US" sz="1200" dirty="0"/>
          </a:p>
        </p:txBody>
      </p:sp>
      <p:sp>
        <p:nvSpPr>
          <p:cNvPr id="24" name="Text 18"/>
          <p:cNvSpPr txBox="1"/>
          <p:nvPr/>
        </p:nvSpPr>
        <p:spPr>
          <a:xfrm>
            <a:off x="548640" y="5623560"/>
            <a:ext cx="11094415" cy="457200"/>
          </a:xfrm>
          <a:prstGeom prst="rect">
            <a:avLst/>
          </a:prstGeom>
          <a:noFill/>
          <a:ln/>
        </p:spPr>
        <p:txBody>
          <a:bodyPr wrap="square" lIns="0" tIns="0" rIns="0" bIns="0" rtlCol="0" anchor="t"/>
          <a:lstStyle/>
          <a:p>
            <a:pPr algn="ctr" indent="0" marL="0">
              <a:buNone/>
            </a:pPr>
            <a:r>
              <a:rPr lang="en-US" sz="1800" b="1" dirty="0">
                <a:solidFill>
                  <a:srgbClr val="12A594"/>
                </a:solidFill>
                <a:latin typeface="Malgun Gothic" pitchFamily="34" charset="0"/>
                <a:ea typeface="Malgun Gothic" pitchFamily="34" charset="-122"/>
                <a:cs typeface="Malgun Gothic" pitchFamily="34" charset="-120"/>
              </a:rPr>
              <a:t>UTOP 은 이 네 가지를 한 화면 안에서 푼다</a:t>
            </a:r>
            <a:endParaRPr lang="en-US" sz="1800" dirty="0"/>
          </a:p>
        </p:txBody>
      </p:sp>
      <p:sp>
        <p:nvSpPr>
          <p:cNvPr id="25" name="Text 19"/>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A0ABBC"/>
                </a:solidFill>
                <a:latin typeface="Malgun Gothic" pitchFamily="34" charset="0"/>
                <a:ea typeface="Malgun Gothic" pitchFamily="34" charset="-122"/>
                <a:cs typeface="Malgun Gothic" pitchFamily="34" charset="-120"/>
              </a:rPr>
              <a:t>UTOP  ·  Ubiquoss Test Orchestration Platform</a:t>
            </a:r>
            <a:endParaRPr lang="en-US" sz="900" dirty="0"/>
          </a:p>
        </p:txBody>
      </p:sp>
      <p:sp>
        <p:nvSpPr>
          <p:cNvPr id="26" name="Text 20"/>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A0ABBC"/>
                </a:solidFill>
                <a:latin typeface="Malgun Gothic" pitchFamily="34" charset="0"/>
                <a:ea typeface="Malgun Gothic" pitchFamily="34" charset="-122"/>
                <a:cs typeface="Malgun Gothic"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t"/>
          <a:lstStyle/>
          <a:p>
            <a:pPr indent="0" marL="0">
              <a:buNone/>
            </a:pPr>
            <a:r>
              <a:rPr lang="en-US" sz="3000" b="1" dirty="0">
                <a:solidFill>
                  <a:srgbClr val="0F1E3C"/>
                </a:solidFill>
                <a:latin typeface="Malgun Gothic" pitchFamily="34" charset="0"/>
                <a:ea typeface="Malgun Gothic" pitchFamily="34" charset="-122"/>
                <a:cs typeface="Malgun Gothic" pitchFamily="34" charset="-120"/>
              </a:rPr>
              <a:t>UTOP 한눈에 — 일이 흘러가는 차례 그대로</a:t>
            </a:r>
            <a:endParaRPr lang="en-US" sz="3000" dirty="0"/>
          </a:p>
        </p:txBody>
      </p:sp>
      <p:sp>
        <p:nvSpPr>
          <p:cNvPr id="3" name="Text 1"/>
          <p:cNvSpPr txBox="1"/>
          <p:nvPr/>
        </p:nvSpPr>
        <p:spPr>
          <a:xfrm>
            <a:off x="548640" y="1024128"/>
            <a:ext cx="11094415" cy="365760"/>
          </a:xfrm>
          <a:prstGeom prst="rect">
            <a:avLst/>
          </a:prstGeom>
          <a:noFill/>
          <a:ln/>
        </p:spPr>
        <p:txBody>
          <a:bodyPr wrap="square" lIns="0" tIns="0" rIns="0" bIns="0" rtlCol="0" anchor="t"/>
          <a:lstStyle/>
          <a:p>
            <a:pPr indent="0" marL="0">
              <a:buNone/>
            </a:pPr>
            <a:r>
              <a:rPr lang="en-US" sz="1400" dirty="0">
                <a:solidFill>
                  <a:srgbClr val="6B7A90"/>
                </a:solidFill>
                <a:latin typeface="Malgun Gothic" pitchFamily="34" charset="0"/>
                <a:ea typeface="Malgun Gothic" pitchFamily="34" charset="-122"/>
                <a:cs typeface="Malgun Gothic" pitchFamily="34" charset="-120"/>
              </a:rPr>
              <a:t>적고 → 덮고 → 돌리고 → 낸다. 메뉴도 이 차례로 놓여 있다</a:t>
            </a:r>
            <a:endParaRPr lang="en-US" sz="1400" dirty="0"/>
          </a:p>
        </p:txBody>
      </p:sp>
      <p:sp>
        <p:nvSpPr>
          <p:cNvPr id="4" name="Shape 2"/>
          <p:cNvSpPr/>
          <p:nvPr/>
        </p:nvSpPr>
        <p:spPr>
          <a:xfrm>
            <a:off x="2560320" y="2514600"/>
            <a:ext cx="293294" cy="0"/>
          </a:xfrm>
          <a:prstGeom prst="line">
            <a:avLst/>
          </a:prstGeom>
          <a:noFill/>
          <a:ln w="25400">
            <a:solidFill>
              <a:srgbClr val="D5DDE8"/>
            </a:solidFill>
            <a:prstDash val="solid"/>
            <a:tailEnd type="triangle"/>
          </a:ln>
        </p:spPr>
      </p:sp>
      <p:sp>
        <p:nvSpPr>
          <p:cNvPr id="5" name="Shape 3"/>
          <p:cNvSpPr/>
          <p:nvPr/>
        </p:nvSpPr>
        <p:spPr>
          <a:xfrm>
            <a:off x="1074420" y="2011680"/>
            <a:ext cx="1005840" cy="1005840"/>
          </a:xfrm>
          <a:prstGeom prst="ellipse">
            <a:avLst/>
          </a:prstGeom>
          <a:solidFill>
            <a:srgbClr val="12A594"/>
          </a:solidFill>
          <a:ln w="12700">
            <a:solidFill>
              <a:srgbClr val="12A594"/>
            </a:solidFill>
            <a:prstDash val="solid"/>
          </a:ln>
        </p:spPr>
      </p:sp>
      <p:pic>
        <p:nvPicPr>
          <p:cNvPr id="6" name="Image 0" descr="preencoded.png">    </p:cNvPr>
          <p:cNvPicPr>
            <a:picLocks noChangeAspect="1"/>
          </p:cNvPicPr>
          <p:nvPr/>
        </p:nvPicPr>
        <p:blipFill>
          <a:blip r:embed="rId1"/>
          <a:stretch>
            <a:fillRect/>
          </a:stretch>
        </p:blipFill>
        <p:spPr>
          <a:xfrm>
            <a:off x="1345997" y="2283257"/>
            <a:ext cx="462686" cy="462686"/>
          </a:xfrm>
          <a:prstGeom prst="rect">
            <a:avLst/>
          </a:prstGeom>
        </p:spPr>
      </p:pic>
      <p:sp>
        <p:nvSpPr>
          <p:cNvPr id="7" name="Text 4"/>
          <p:cNvSpPr txBox="1"/>
          <p:nvPr/>
        </p:nvSpPr>
        <p:spPr>
          <a:xfrm>
            <a:off x="548640" y="3200400"/>
            <a:ext cx="2057400" cy="365760"/>
          </a:xfrm>
          <a:prstGeom prst="rect">
            <a:avLst/>
          </a:prstGeom>
          <a:noFill/>
          <a:ln/>
        </p:spPr>
        <p:txBody>
          <a:bodyPr wrap="square" lIns="0" tIns="0" rIns="0" bIns="0" rtlCol="0" anchor="t"/>
          <a:lstStyle/>
          <a:p>
            <a:pPr algn="ctr" indent="0" marL="0">
              <a:buNone/>
            </a:pPr>
            <a:r>
              <a:rPr lang="en-US" sz="1500" b="1" dirty="0">
                <a:solidFill>
                  <a:srgbClr val="0F1E3C"/>
                </a:solidFill>
                <a:latin typeface="Arial" pitchFamily="34" charset="0"/>
                <a:ea typeface="Arial" pitchFamily="34" charset="-122"/>
                <a:cs typeface="Arial" pitchFamily="34" charset="-120"/>
              </a:rPr>
              <a:t>WIKI</a:t>
            </a:r>
            <a:endParaRPr lang="en-US" sz="1500" dirty="0"/>
          </a:p>
        </p:txBody>
      </p:sp>
      <p:sp>
        <p:nvSpPr>
          <p:cNvPr id="8" name="Text 5"/>
          <p:cNvSpPr txBox="1"/>
          <p:nvPr/>
        </p:nvSpPr>
        <p:spPr>
          <a:xfrm>
            <a:off x="548640" y="3566160"/>
            <a:ext cx="2057400" cy="365760"/>
          </a:xfrm>
          <a:prstGeom prst="rect">
            <a:avLst/>
          </a:prstGeom>
          <a:noFill/>
          <a:ln/>
        </p:spPr>
        <p:txBody>
          <a:bodyPr wrap="square" lIns="0" tIns="0" rIns="0" bIns="0" rtlCol="0" anchor="t"/>
          <a:lstStyle/>
          <a:p>
            <a:pPr algn="ctr" indent="0" marL="0">
              <a:buNone/>
            </a:pPr>
            <a:r>
              <a:rPr lang="en-US" sz="1300" b="1" dirty="0">
                <a:solidFill>
                  <a:srgbClr val="1A2333"/>
                </a:solidFill>
                <a:latin typeface="Malgun Gothic" pitchFamily="34" charset="0"/>
                <a:ea typeface="Malgun Gothic" pitchFamily="34" charset="-122"/>
                <a:cs typeface="Malgun Gothic" pitchFamily="34" charset="-120"/>
              </a:rPr>
              <a:t>규격과 절차를 적는다</a:t>
            </a:r>
            <a:endParaRPr lang="en-US" sz="1300" dirty="0"/>
          </a:p>
        </p:txBody>
      </p:sp>
      <p:sp>
        <p:nvSpPr>
          <p:cNvPr id="9" name="Text 6"/>
          <p:cNvSpPr txBox="1"/>
          <p:nvPr/>
        </p:nvSpPr>
        <p:spPr>
          <a:xfrm>
            <a:off x="640080" y="4023360"/>
            <a:ext cx="1874520" cy="1097280"/>
          </a:xfrm>
          <a:prstGeom prst="rect">
            <a:avLst/>
          </a:prstGeom>
          <a:noFill/>
          <a:ln/>
        </p:spPr>
        <p:txBody>
          <a:bodyPr wrap="square" lIns="0" tIns="0" rIns="0" bIns="0" rtlCol="0" anchor="t"/>
          <a:lstStyle/>
          <a:p>
            <a:pPr algn="ctr" indent="0" marL="0">
              <a:lnSpc>
                <a:spcPct val="120000"/>
              </a:lnSpc>
              <a:buNone/>
            </a:pPr>
            <a:r>
              <a:rPr lang="en-US" sz="1100" dirty="0">
                <a:solidFill>
                  <a:srgbClr val="6B7A90"/>
                </a:solidFill>
                <a:latin typeface="Malgun Gothic" pitchFamily="34" charset="0"/>
                <a:ea typeface="Malgun Gothic" pitchFamily="34" charset="-122"/>
                <a:cs typeface="Malgun Gothic" pitchFamily="34" charset="-120"/>
              </a:rPr>
              <a:t>프로젝트별 문서 트리, 문서 안 표, 요구사항과 양방향 링크</a:t>
            </a:r>
            <a:endParaRPr lang="en-US" sz="1100" dirty="0"/>
          </a:p>
        </p:txBody>
      </p:sp>
      <p:sp>
        <p:nvSpPr>
          <p:cNvPr id="10" name="Shape 7"/>
          <p:cNvSpPr/>
          <p:nvPr/>
        </p:nvSpPr>
        <p:spPr>
          <a:xfrm>
            <a:off x="4819574" y="2514600"/>
            <a:ext cx="293294" cy="0"/>
          </a:xfrm>
          <a:prstGeom prst="line">
            <a:avLst/>
          </a:prstGeom>
          <a:noFill/>
          <a:ln w="25400">
            <a:solidFill>
              <a:srgbClr val="D5DDE8"/>
            </a:solidFill>
            <a:prstDash val="solid"/>
            <a:tailEnd type="triangle"/>
          </a:ln>
        </p:spPr>
      </p:sp>
      <p:sp>
        <p:nvSpPr>
          <p:cNvPr id="11" name="Shape 8"/>
          <p:cNvSpPr/>
          <p:nvPr/>
        </p:nvSpPr>
        <p:spPr>
          <a:xfrm>
            <a:off x="3333674" y="2011680"/>
            <a:ext cx="1005840" cy="1005840"/>
          </a:xfrm>
          <a:prstGeom prst="ellipse">
            <a:avLst/>
          </a:prstGeom>
          <a:solidFill>
            <a:srgbClr val="12A594"/>
          </a:solidFill>
          <a:ln w="12700">
            <a:solidFill>
              <a:srgbClr val="12A594"/>
            </a:solidFill>
            <a:prstDash val="solid"/>
          </a:ln>
        </p:spPr>
      </p:sp>
      <p:pic>
        <p:nvPicPr>
          <p:cNvPr id="12" name="Image 1" descr="preencoded.png">    </p:cNvPr>
          <p:cNvPicPr>
            <a:picLocks noChangeAspect="1"/>
          </p:cNvPicPr>
          <p:nvPr/>
        </p:nvPicPr>
        <p:blipFill>
          <a:blip r:embed="rId2"/>
          <a:stretch>
            <a:fillRect/>
          </a:stretch>
        </p:blipFill>
        <p:spPr>
          <a:xfrm>
            <a:off x="3605251" y="2283257"/>
            <a:ext cx="462686" cy="462686"/>
          </a:xfrm>
          <a:prstGeom prst="rect">
            <a:avLst/>
          </a:prstGeom>
        </p:spPr>
      </p:pic>
      <p:sp>
        <p:nvSpPr>
          <p:cNvPr id="13" name="Text 9"/>
          <p:cNvSpPr txBox="1"/>
          <p:nvPr/>
        </p:nvSpPr>
        <p:spPr>
          <a:xfrm>
            <a:off x="2807894" y="3200400"/>
            <a:ext cx="2057400" cy="365760"/>
          </a:xfrm>
          <a:prstGeom prst="rect">
            <a:avLst/>
          </a:prstGeom>
          <a:noFill/>
          <a:ln/>
        </p:spPr>
        <p:txBody>
          <a:bodyPr wrap="square" lIns="0" tIns="0" rIns="0" bIns="0" rtlCol="0" anchor="t"/>
          <a:lstStyle/>
          <a:p>
            <a:pPr algn="ctr" indent="0" marL="0">
              <a:buNone/>
            </a:pPr>
            <a:r>
              <a:rPr lang="en-US" sz="1500" b="1" dirty="0">
                <a:solidFill>
                  <a:srgbClr val="0F1E3C"/>
                </a:solidFill>
                <a:latin typeface="Arial" pitchFamily="34" charset="0"/>
                <a:ea typeface="Arial" pitchFamily="34" charset="-122"/>
                <a:cs typeface="Arial" pitchFamily="34" charset="-120"/>
              </a:rPr>
              <a:t>REQ-Coverage</a:t>
            </a:r>
            <a:endParaRPr lang="en-US" sz="1500" dirty="0"/>
          </a:p>
        </p:txBody>
      </p:sp>
      <p:sp>
        <p:nvSpPr>
          <p:cNvPr id="14" name="Text 10"/>
          <p:cNvSpPr txBox="1"/>
          <p:nvPr/>
        </p:nvSpPr>
        <p:spPr>
          <a:xfrm>
            <a:off x="2807894" y="3566160"/>
            <a:ext cx="2057400" cy="365760"/>
          </a:xfrm>
          <a:prstGeom prst="rect">
            <a:avLst/>
          </a:prstGeom>
          <a:noFill/>
          <a:ln/>
        </p:spPr>
        <p:txBody>
          <a:bodyPr wrap="square" lIns="0" tIns="0" rIns="0" bIns="0" rtlCol="0" anchor="t"/>
          <a:lstStyle/>
          <a:p>
            <a:pPr algn="ctr" indent="0" marL="0">
              <a:buNone/>
            </a:pPr>
            <a:r>
              <a:rPr lang="en-US" sz="1300" b="1" dirty="0">
                <a:solidFill>
                  <a:srgbClr val="1A2333"/>
                </a:solidFill>
                <a:latin typeface="Malgun Gothic" pitchFamily="34" charset="0"/>
                <a:ea typeface="Malgun Gothic" pitchFamily="34" charset="-122"/>
                <a:cs typeface="Malgun Gothic" pitchFamily="34" charset="-120"/>
              </a:rPr>
              <a:t>요구사항을 시험으로 덮는다</a:t>
            </a:r>
            <a:endParaRPr lang="en-US" sz="1300" dirty="0"/>
          </a:p>
        </p:txBody>
      </p:sp>
      <p:sp>
        <p:nvSpPr>
          <p:cNvPr id="15" name="Text 11"/>
          <p:cNvSpPr txBox="1"/>
          <p:nvPr/>
        </p:nvSpPr>
        <p:spPr>
          <a:xfrm>
            <a:off x="2899334" y="4023360"/>
            <a:ext cx="1874520" cy="1097280"/>
          </a:xfrm>
          <a:prstGeom prst="rect">
            <a:avLst/>
          </a:prstGeom>
          <a:noFill/>
          <a:ln/>
        </p:spPr>
        <p:txBody>
          <a:bodyPr wrap="square" lIns="0" tIns="0" rIns="0" bIns="0" rtlCol="0" anchor="t"/>
          <a:lstStyle/>
          <a:p>
            <a:pPr algn="ctr" indent="0" marL="0">
              <a:lnSpc>
                <a:spcPct val="120000"/>
              </a:lnSpc>
              <a:buNone/>
            </a:pPr>
            <a:r>
              <a:rPr lang="en-US" sz="1100" dirty="0">
                <a:solidFill>
                  <a:srgbClr val="6B7A90"/>
                </a:solidFill>
                <a:latin typeface="Malgun Gothic" pitchFamily="34" charset="0"/>
                <a:ea typeface="Malgun Gothic" pitchFamily="34" charset="-122"/>
                <a:cs typeface="Malgun Gothic" pitchFamily="34" charset="-120"/>
              </a:rPr>
              <a:t>요구사항 트리 · 시험 항목 · 매핑(Map) 을 한 화면에서</a:t>
            </a:r>
            <a:endParaRPr lang="en-US" sz="1100" dirty="0"/>
          </a:p>
        </p:txBody>
      </p:sp>
      <p:sp>
        <p:nvSpPr>
          <p:cNvPr id="16" name="Shape 12"/>
          <p:cNvSpPr/>
          <p:nvPr/>
        </p:nvSpPr>
        <p:spPr>
          <a:xfrm>
            <a:off x="7078828" y="2514600"/>
            <a:ext cx="293294" cy="0"/>
          </a:xfrm>
          <a:prstGeom prst="line">
            <a:avLst/>
          </a:prstGeom>
          <a:noFill/>
          <a:ln w="25400">
            <a:solidFill>
              <a:srgbClr val="D5DDE8"/>
            </a:solidFill>
            <a:prstDash val="solid"/>
            <a:tailEnd type="triangle"/>
          </a:ln>
        </p:spPr>
      </p:sp>
      <p:sp>
        <p:nvSpPr>
          <p:cNvPr id="17" name="Shape 13"/>
          <p:cNvSpPr/>
          <p:nvPr/>
        </p:nvSpPr>
        <p:spPr>
          <a:xfrm>
            <a:off x="5592928" y="2011680"/>
            <a:ext cx="1005840" cy="1005840"/>
          </a:xfrm>
          <a:prstGeom prst="ellipse">
            <a:avLst/>
          </a:prstGeom>
          <a:solidFill>
            <a:srgbClr val="12A594"/>
          </a:solidFill>
          <a:ln w="12700">
            <a:solidFill>
              <a:srgbClr val="12A594"/>
            </a:solidFill>
            <a:prstDash val="solid"/>
          </a:ln>
        </p:spPr>
      </p:sp>
      <p:pic>
        <p:nvPicPr>
          <p:cNvPr id="18" name="Image 2" descr="preencoded.png">    </p:cNvPr>
          <p:cNvPicPr>
            <a:picLocks noChangeAspect="1"/>
          </p:cNvPicPr>
          <p:nvPr/>
        </p:nvPicPr>
        <p:blipFill>
          <a:blip r:embed="rId3"/>
          <a:stretch>
            <a:fillRect/>
          </a:stretch>
        </p:blipFill>
        <p:spPr>
          <a:xfrm>
            <a:off x="5864504" y="2283257"/>
            <a:ext cx="462686" cy="462686"/>
          </a:xfrm>
          <a:prstGeom prst="rect">
            <a:avLst/>
          </a:prstGeom>
        </p:spPr>
      </p:pic>
      <p:sp>
        <p:nvSpPr>
          <p:cNvPr id="19" name="Text 14"/>
          <p:cNvSpPr txBox="1"/>
          <p:nvPr/>
        </p:nvSpPr>
        <p:spPr>
          <a:xfrm>
            <a:off x="5067148" y="3200400"/>
            <a:ext cx="2057400" cy="365760"/>
          </a:xfrm>
          <a:prstGeom prst="rect">
            <a:avLst/>
          </a:prstGeom>
          <a:noFill/>
          <a:ln/>
        </p:spPr>
        <p:txBody>
          <a:bodyPr wrap="square" lIns="0" tIns="0" rIns="0" bIns="0" rtlCol="0" anchor="t"/>
          <a:lstStyle/>
          <a:p>
            <a:pPr algn="ctr" indent="0" marL="0">
              <a:buNone/>
            </a:pPr>
            <a:r>
              <a:rPr lang="en-US" sz="1500" b="1" dirty="0">
                <a:solidFill>
                  <a:srgbClr val="0F1E3C"/>
                </a:solidFill>
                <a:latin typeface="Arial" pitchFamily="34" charset="0"/>
                <a:ea typeface="Arial" pitchFamily="34" charset="-122"/>
                <a:cs typeface="Arial" pitchFamily="34" charset="-120"/>
              </a:rPr>
              <a:t>Cycles</a:t>
            </a:r>
            <a:endParaRPr lang="en-US" sz="1500" dirty="0"/>
          </a:p>
        </p:txBody>
      </p:sp>
      <p:sp>
        <p:nvSpPr>
          <p:cNvPr id="20" name="Text 15"/>
          <p:cNvSpPr txBox="1"/>
          <p:nvPr/>
        </p:nvSpPr>
        <p:spPr>
          <a:xfrm>
            <a:off x="5067148" y="3566160"/>
            <a:ext cx="2057400" cy="365760"/>
          </a:xfrm>
          <a:prstGeom prst="rect">
            <a:avLst/>
          </a:prstGeom>
          <a:noFill/>
          <a:ln/>
        </p:spPr>
        <p:txBody>
          <a:bodyPr wrap="square" lIns="0" tIns="0" rIns="0" bIns="0" rtlCol="0" anchor="t"/>
          <a:lstStyle/>
          <a:p>
            <a:pPr algn="ctr" indent="0" marL="0">
              <a:buNone/>
            </a:pPr>
            <a:r>
              <a:rPr lang="en-US" sz="1300" b="1" dirty="0">
                <a:solidFill>
                  <a:srgbClr val="1A2333"/>
                </a:solidFill>
                <a:latin typeface="Malgun Gothic" pitchFamily="34" charset="0"/>
                <a:ea typeface="Malgun Gothic" pitchFamily="34" charset="-122"/>
                <a:cs typeface="Malgun Gothic" pitchFamily="34" charset="-120"/>
              </a:rPr>
              <a:t>버전 단위로 돌린다</a:t>
            </a:r>
            <a:endParaRPr lang="en-US" sz="1300" dirty="0"/>
          </a:p>
        </p:txBody>
      </p:sp>
      <p:sp>
        <p:nvSpPr>
          <p:cNvPr id="21" name="Text 16"/>
          <p:cNvSpPr txBox="1"/>
          <p:nvPr/>
        </p:nvSpPr>
        <p:spPr>
          <a:xfrm>
            <a:off x="5158588" y="4023360"/>
            <a:ext cx="1874520" cy="1097280"/>
          </a:xfrm>
          <a:prstGeom prst="rect">
            <a:avLst/>
          </a:prstGeom>
          <a:noFill/>
          <a:ln/>
        </p:spPr>
        <p:txBody>
          <a:bodyPr wrap="square" lIns="0" tIns="0" rIns="0" bIns="0" rtlCol="0" anchor="t"/>
          <a:lstStyle/>
          <a:p>
            <a:pPr algn="ctr" indent="0" marL="0">
              <a:lnSpc>
                <a:spcPct val="120000"/>
              </a:lnSpc>
              <a:buNone/>
            </a:pPr>
            <a:r>
              <a:rPr lang="en-US" sz="1100" dirty="0">
                <a:solidFill>
                  <a:srgbClr val="6B7A90"/>
                </a:solidFill>
                <a:latin typeface="Malgun Gothic" pitchFamily="34" charset="0"/>
                <a:ea typeface="Malgun Gothic" pitchFamily="34" charset="-122"/>
                <a:cs typeface="Malgun Gothic" pitchFamily="34" charset="-120"/>
              </a:rPr>
              <a:t>실행 서버가 대기줄을 집어 돌리고, 진행은 모두에게 실시간 중계</a:t>
            </a:r>
            <a:endParaRPr lang="en-US" sz="1100" dirty="0"/>
          </a:p>
        </p:txBody>
      </p:sp>
      <p:sp>
        <p:nvSpPr>
          <p:cNvPr id="22" name="Shape 17"/>
          <p:cNvSpPr/>
          <p:nvPr/>
        </p:nvSpPr>
        <p:spPr>
          <a:xfrm>
            <a:off x="9338081" y="2514600"/>
            <a:ext cx="293294" cy="0"/>
          </a:xfrm>
          <a:prstGeom prst="line">
            <a:avLst/>
          </a:prstGeom>
          <a:noFill/>
          <a:ln w="25400">
            <a:solidFill>
              <a:srgbClr val="D5DDE8"/>
            </a:solidFill>
            <a:prstDash val="solid"/>
            <a:tailEnd type="triangle"/>
          </a:ln>
        </p:spPr>
      </p:sp>
      <p:sp>
        <p:nvSpPr>
          <p:cNvPr id="23" name="Shape 18"/>
          <p:cNvSpPr/>
          <p:nvPr/>
        </p:nvSpPr>
        <p:spPr>
          <a:xfrm>
            <a:off x="7852181" y="2011680"/>
            <a:ext cx="1005840" cy="1005840"/>
          </a:xfrm>
          <a:prstGeom prst="ellipse">
            <a:avLst/>
          </a:prstGeom>
          <a:solidFill>
            <a:srgbClr val="F2A23A"/>
          </a:solidFill>
          <a:ln w="12700">
            <a:solidFill>
              <a:srgbClr val="F2A23A"/>
            </a:solidFill>
            <a:prstDash val="solid"/>
          </a:ln>
        </p:spPr>
      </p:sp>
      <p:pic>
        <p:nvPicPr>
          <p:cNvPr id="24" name="Image 3" descr="preencoded.png">    </p:cNvPr>
          <p:cNvPicPr>
            <a:picLocks noChangeAspect="1"/>
          </p:cNvPicPr>
          <p:nvPr/>
        </p:nvPicPr>
        <p:blipFill>
          <a:blip r:embed="rId4"/>
          <a:stretch>
            <a:fillRect/>
          </a:stretch>
        </p:blipFill>
        <p:spPr>
          <a:xfrm>
            <a:off x="8123758" y="2283257"/>
            <a:ext cx="462686" cy="462686"/>
          </a:xfrm>
          <a:prstGeom prst="rect">
            <a:avLst/>
          </a:prstGeom>
        </p:spPr>
      </p:pic>
      <p:sp>
        <p:nvSpPr>
          <p:cNvPr id="25" name="Text 19"/>
          <p:cNvSpPr txBox="1"/>
          <p:nvPr/>
        </p:nvSpPr>
        <p:spPr>
          <a:xfrm>
            <a:off x="7326401" y="3200400"/>
            <a:ext cx="2057400" cy="365760"/>
          </a:xfrm>
          <a:prstGeom prst="rect">
            <a:avLst/>
          </a:prstGeom>
          <a:noFill/>
          <a:ln/>
        </p:spPr>
        <p:txBody>
          <a:bodyPr wrap="square" lIns="0" tIns="0" rIns="0" bIns="0" rtlCol="0" anchor="t"/>
          <a:lstStyle/>
          <a:p>
            <a:pPr algn="ctr" indent="0" marL="0">
              <a:buNone/>
            </a:pPr>
            <a:r>
              <a:rPr lang="en-US" sz="1500" b="1" dirty="0">
                <a:solidFill>
                  <a:srgbClr val="0F1E3C"/>
                </a:solidFill>
                <a:latin typeface="Arial" pitchFamily="34" charset="0"/>
                <a:ea typeface="Arial" pitchFamily="34" charset="-122"/>
                <a:cs typeface="Arial" pitchFamily="34" charset="-120"/>
              </a:rPr>
              <a:t>결과서</a:t>
            </a:r>
            <a:endParaRPr lang="en-US" sz="1500" dirty="0"/>
          </a:p>
        </p:txBody>
      </p:sp>
      <p:sp>
        <p:nvSpPr>
          <p:cNvPr id="26" name="Text 20"/>
          <p:cNvSpPr txBox="1"/>
          <p:nvPr/>
        </p:nvSpPr>
        <p:spPr>
          <a:xfrm>
            <a:off x="7326401" y="3566160"/>
            <a:ext cx="2057400" cy="365760"/>
          </a:xfrm>
          <a:prstGeom prst="rect">
            <a:avLst/>
          </a:prstGeom>
          <a:noFill/>
          <a:ln/>
        </p:spPr>
        <p:txBody>
          <a:bodyPr wrap="square" lIns="0" tIns="0" rIns="0" bIns="0" rtlCol="0" anchor="t"/>
          <a:lstStyle/>
          <a:p>
            <a:pPr algn="ctr" indent="0" marL="0">
              <a:buNone/>
            </a:pPr>
            <a:r>
              <a:rPr lang="en-US" sz="1300" b="1" dirty="0">
                <a:solidFill>
                  <a:srgbClr val="1A2333"/>
                </a:solidFill>
                <a:latin typeface="Malgun Gothic" pitchFamily="34" charset="0"/>
                <a:ea typeface="Malgun Gothic" pitchFamily="34" charset="-122"/>
                <a:cs typeface="Malgun Gothic" pitchFamily="34" charset="-120"/>
              </a:rPr>
              <a:t>고객사 양식으로 낸다</a:t>
            </a:r>
            <a:endParaRPr lang="en-US" sz="1300" dirty="0"/>
          </a:p>
        </p:txBody>
      </p:sp>
      <p:sp>
        <p:nvSpPr>
          <p:cNvPr id="27" name="Text 21"/>
          <p:cNvSpPr txBox="1"/>
          <p:nvPr/>
        </p:nvSpPr>
        <p:spPr>
          <a:xfrm>
            <a:off x="7417841" y="4023360"/>
            <a:ext cx="1874520" cy="1097280"/>
          </a:xfrm>
          <a:prstGeom prst="rect">
            <a:avLst/>
          </a:prstGeom>
          <a:noFill/>
          <a:ln/>
        </p:spPr>
        <p:txBody>
          <a:bodyPr wrap="square" lIns="0" tIns="0" rIns="0" bIns="0" rtlCol="0" anchor="t"/>
          <a:lstStyle/>
          <a:p>
            <a:pPr algn="ctr" indent="0" marL="0">
              <a:lnSpc>
                <a:spcPct val="120000"/>
              </a:lnSpc>
              <a:buNone/>
            </a:pPr>
            <a:r>
              <a:rPr lang="en-US" sz="1100" dirty="0">
                <a:solidFill>
                  <a:srgbClr val="6B7A90"/>
                </a:solidFill>
                <a:latin typeface="Malgun Gothic" pitchFamily="34" charset="0"/>
                <a:ea typeface="Malgun Gothic" pitchFamily="34" charset="-122"/>
                <a:cs typeface="Malgun Gothic" pitchFamily="34" charset="-120"/>
              </a:rPr>
              <a:t>PPTX · PDF 결과서와 결과 메일을 사이클에서 바로</a:t>
            </a:r>
            <a:endParaRPr lang="en-US" sz="1100" dirty="0"/>
          </a:p>
        </p:txBody>
      </p:sp>
      <p:sp>
        <p:nvSpPr>
          <p:cNvPr id="28" name="Shape 22"/>
          <p:cNvSpPr/>
          <p:nvPr/>
        </p:nvSpPr>
        <p:spPr>
          <a:xfrm>
            <a:off x="10111435" y="2011680"/>
            <a:ext cx="1005840" cy="1005840"/>
          </a:xfrm>
          <a:prstGeom prst="ellipse">
            <a:avLst/>
          </a:prstGeom>
          <a:solidFill>
            <a:srgbClr val="12A594"/>
          </a:solidFill>
          <a:ln w="12700">
            <a:solidFill>
              <a:srgbClr val="12A594"/>
            </a:solidFill>
            <a:prstDash val="solid"/>
          </a:ln>
        </p:spPr>
      </p:sp>
      <p:pic>
        <p:nvPicPr>
          <p:cNvPr id="29" name="Image 4" descr="preencoded.png">    </p:cNvPr>
          <p:cNvPicPr>
            <a:picLocks noChangeAspect="1"/>
          </p:cNvPicPr>
          <p:nvPr/>
        </p:nvPicPr>
        <p:blipFill>
          <a:blip r:embed="rId5"/>
          <a:stretch>
            <a:fillRect/>
          </a:stretch>
        </p:blipFill>
        <p:spPr>
          <a:xfrm>
            <a:off x="10383012" y="2283257"/>
            <a:ext cx="462686" cy="462686"/>
          </a:xfrm>
          <a:prstGeom prst="rect">
            <a:avLst/>
          </a:prstGeom>
        </p:spPr>
      </p:pic>
      <p:sp>
        <p:nvSpPr>
          <p:cNvPr id="30" name="Text 23"/>
          <p:cNvSpPr txBox="1"/>
          <p:nvPr/>
        </p:nvSpPr>
        <p:spPr>
          <a:xfrm>
            <a:off x="9585655" y="3200400"/>
            <a:ext cx="2057400" cy="365760"/>
          </a:xfrm>
          <a:prstGeom prst="rect">
            <a:avLst/>
          </a:prstGeom>
          <a:noFill/>
          <a:ln/>
        </p:spPr>
        <p:txBody>
          <a:bodyPr wrap="square" lIns="0" tIns="0" rIns="0" bIns="0" rtlCol="0" anchor="t"/>
          <a:lstStyle/>
          <a:p>
            <a:pPr algn="ctr" indent="0" marL="0">
              <a:buNone/>
            </a:pPr>
            <a:r>
              <a:rPr lang="en-US" sz="1500" b="1" dirty="0">
                <a:solidFill>
                  <a:srgbClr val="0F1E3C"/>
                </a:solidFill>
                <a:latin typeface="Arial" pitchFamily="34" charset="0"/>
                <a:ea typeface="Arial" pitchFamily="34" charset="-122"/>
                <a:cs typeface="Arial" pitchFamily="34" charset="-120"/>
              </a:rPr>
              <a:t>Defects · Jira</a:t>
            </a:r>
            <a:endParaRPr lang="en-US" sz="1500" dirty="0"/>
          </a:p>
        </p:txBody>
      </p:sp>
      <p:sp>
        <p:nvSpPr>
          <p:cNvPr id="31" name="Text 24"/>
          <p:cNvSpPr txBox="1"/>
          <p:nvPr/>
        </p:nvSpPr>
        <p:spPr>
          <a:xfrm>
            <a:off x="9585655" y="3566160"/>
            <a:ext cx="2057400" cy="365760"/>
          </a:xfrm>
          <a:prstGeom prst="rect">
            <a:avLst/>
          </a:prstGeom>
          <a:noFill/>
          <a:ln/>
        </p:spPr>
        <p:txBody>
          <a:bodyPr wrap="square" lIns="0" tIns="0" rIns="0" bIns="0" rtlCol="0" anchor="t"/>
          <a:lstStyle/>
          <a:p>
            <a:pPr algn="ctr" indent="0" marL="0">
              <a:buNone/>
            </a:pPr>
            <a:r>
              <a:rPr lang="en-US" sz="1300" b="1" dirty="0">
                <a:solidFill>
                  <a:srgbClr val="1A2333"/>
                </a:solidFill>
                <a:latin typeface="Malgun Gothic" pitchFamily="34" charset="0"/>
                <a:ea typeface="Malgun Gothic" pitchFamily="34" charset="-122"/>
                <a:cs typeface="Malgun Gothic" pitchFamily="34" charset="-120"/>
              </a:rPr>
              <a:t>결함을 남기고 릴리즈를 본다</a:t>
            </a:r>
            <a:endParaRPr lang="en-US" sz="1300" dirty="0"/>
          </a:p>
        </p:txBody>
      </p:sp>
      <p:sp>
        <p:nvSpPr>
          <p:cNvPr id="32" name="Text 25"/>
          <p:cNvSpPr txBox="1"/>
          <p:nvPr/>
        </p:nvSpPr>
        <p:spPr>
          <a:xfrm>
            <a:off x="9677095" y="4023360"/>
            <a:ext cx="1874520" cy="1097280"/>
          </a:xfrm>
          <a:prstGeom prst="rect">
            <a:avLst/>
          </a:prstGeom>
          <a:noFill/>
          <a:ln/>
        </p:spPr>
        <p:txBody>
          <a:bodyPr wrap="square" lIns="0" tIns="0" rIns="0" bIns="0" rtlCol="0" anchor="t"/>
          <a:lstStyle/>
          <a:p>
            <a:pPr algn="ctr" indent="0" marL="0">
              <a:lnSpc>
                <a:spcPct val="120000"/>
              </a:lnSpc>
              <a:buNone/>
            </a:pPr>
            <a:r>
              <a:rPr lang="en-US" sz="1100" dirty="0">
                <a:solidFill>
                  <a:srgbClr val="6B7A90"/>
                </a:solidFill>
                <a:latin typeface="Malgun Gothic" pitchFamily="34" charset="0"/>
                <a:ea typeface="Malgun Gothic" pitchFamily="34" charset="-122"/>
                <a:cs typeface="Malgun Gothic" pitchFamily="34" charset="-120"/>
              </a:rPr>
              <a:t>실행 항목에서 결함 등록 → Jira 이슈, 버전별 검증 현황</a:t>
            </a:r>
            <a:endParaRPr lang="en-US" sz="1100" dirty="0"/>
          </a:p>
        </p:txBody>
      </p:sp>
      <p:sp>
        <p:nvSpPr>
          <p:cNvPr id="33" name="Shape 26"/>
          <p:cNvSpPr/>
          <p:nvPr/>
        </p:nvSpPr>
        <p:spPr>
          <a:xfrm>
            <a:off x="548640" y="5349240"/>
            <a:ext cx="11094415" cy="777240"/>
          </a:xfrm>
          <a:prstGeom prst="roundRect">
            <a:avLst>
              <a:gd name="adj" fmla="val 14118"/>
            </a:avLst>
          </a:prstGeom>
          <a:solidFill>
            <a:srgbClr val="DDF4F0"/>
          </a:solidFill>
          <a:ln w="12700">
            <a:solidFill>
              <a:srgbClr val="DDF4F0"/>
            </a:solidFill>
            <a:prstDash val="solid"/>
          </a:ln>
        </p:spPr>
      </p:sp>
      <p:sp>
        <p:nvSpPr>
          <p:cNvPr id="34" name="Text 27"/>
          <p:cNvSpPr txBox="1"/>
          <p:nvPr/>
        </p:nvSpPr>
        <p:spPr>
          <a:xfrm>
            <a:off x="822960" y="5349240"/>
            <a:ext cx="10545775" cy="777240"/>
          </a:xfrm>
          <a:prstGeom prst="rect">
            <a:avLst/>
          </a:prstGeom>
          <a:noFill/>
          <a:ln/>
        </p:spPr>
        <p:txBody>
          <a:bodyPr wrap="square" lIns="0" tIns="0" rIns="0" bIns="0" rtlCol="0" anchor="ctr"/>
          <a:lstStyle/>
          <a:p>
            <a:pPr indent="0" marL="0">
              <a:buNone/>
            </a:pPr>
            <a:r>
              <a:rPr lang="en-US" sz="1300" dirty="0">
                <a:solidFill>
                  <a:srgbClr val="0F1E3C"/>
                </a:solidFill>
                <a:latin typeface="Malgun Gothic" pitchFamily="34" charset="0"/>
                <a:ea typeface="Malgun Gothic" pitchFamily="34" charset="-122"/>
                <a:cs typeface="Malgun Gothic" pitchFamily="34" charset="-120"/>
              </a:rPr>
              <a:t>같은 저장소, 같은 계정, 같은 링크 — 문서에서 요구사항을 짚고, 요구사항에서 시험을, 시험에서 실행 결과와 결함까지 끊기지 않고 따라간다.</a:t>
            </a:r>
            <a:endParaRPr lang="en-US" sz="1300" dirty="0"/>
          </a:p>
        </p:txBody>
      </p:sp>
      <p:sp>
        <p:nvSpPr>
          <p:cNvPr id="35" name="Text 28"/>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A0ABBC"/>
                </a:solidFill>
                <a:latin typeface="Malgun Gothic" pitchFamily="34" charset="0"/>
                <a:ea typeface="Malgun Gothic" pitchFamily="34" charset="-122"/>
                <a:cs typeface="Malgun Gothic" pitchFamily="34" charset="-120"/>
              </a:rPr>
              <a:t>UTOP  ·  Ubiquoss Test Orchestration Platform</a:t>
            </a:r>
            <a:endParaRPr lang="en-US" sz="900" dirty="0"/>
          </a:p>
        </p:txBody>
      </p:sp>
      <p:sp>
        <p:nvSpPr>
          <p:cNvPr id="36" name="Text 29"/>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A0ABBC"/>
                </a:solidFill>
                <a:latin typeface="Malgun Gothic" pitchFamily="34" charset="0"/>
                <a:ea typeface="Malgun Gothic" pitchFamily="34" charset="-122"/>
                <a:cs typeface="Malgun Gothic"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t"/>
          <a:lstStyle/>
          <a:p>
            <a:pPr indent="0" marL="0">
              <a:buNone/>
            </a:pPr>
            <a:r>
              <a:rPr lang="en-US" sz="3000" b="1" dirty="0">
                <a:solidFill>
                  <a:srgbClr val="0F1E3C"/>
                </a:solidFill>
                <a:latin typeface="Malgun Gothic" pitchFamily="34" charset="0"/>
                <a:ea typeface="Malgun Gothic" pitchFamily="34" charset="-122"/>
                <a:cs typeface="Malgun Gothic" pitchFamily="34" charset="-120"/>
              </a:rPr>
              <a:t>시스템 구성</a:t>
            </a:r>
            <a:endParaRPr lang="en-US" sz="3000" dirty="0"/>
          </a:p>
        </p:txBody>
      </p:sp>
      <p:sp>
        <p:nvSpPr>
          <p:cNvPr id="3" name="Text 1"/>
          <p:cNvSpPr txBox="1"/>
          <p:nvPr/>
        </p:nvSpPr>
        <p:spPr>
          <a:xfrm>
            <a:off x="548640" y="1024128"/>
            <a:ext cx="11094415" cy="365760"/>
          </a:xfrm>
          <a:prstGeom prst="rect">
            <a:avLst/>
          </a:prstGeom>
          <a:noFill/>
          <a:ln/>
        </p:spPr>
        <p:txBody>
          <a:bodyPr wrap="square" lIns="0" tIns="0" rIns="0" bIns="0" rtlCol="0" anchor="t"/>
          <a:lstStyle/>
          <a:p>
            <a:pPr indent="0" marL="0">
              <a:buNone/>
            </a:pPr>
            <a:r>
              <a:rPr lang="en-US" sz="1400" dirty="0">
                <a:solidFill>
                  <a:srgbClr val="6B7A90"/>
                </a:solidFill>
                <a:latin typeface="Malgun Gothic" pitchFamily="34" charset="0"/>
                <a:ea typeface="Malgun Gothic" pitchFamily="34" charset="-122"/>
                <a:cs typeface="Malgun Gothic" pitchFamily="34" charset="-120"/>
              </a:rPr>
              <a:t>Docker 로 한 번에 뜨는 3 개 컨테이너 + 실행기. 장비·계측기·외부 시스템은 API 가 대신 붙는다</a:t>
            </a:r>
            <a:endParaRPr lang="en-US" sz="1400" dirty="0"/>
          </a:p>
        </p:txBody>
      </p:sp>
      <p:sp>
        <p:nvSpPr>
          <p:cNvPr id="4" name="Shape 2"/>
          <p:cNvSpPr/>
          <p:nvPr/>
        </p:nvSpPr>
        <p:spPr>
          <a:xfrm>
            <a:off x="548640" y="2103120"/>
            <a:ext cx="1828800" cy="1005840"/>
          </a:xfrm>
          <a:prstGeom prst="roundRect">
            <a:avLst>
              <a:gd name="adj" fmla="val 9091"/>
            </a:avLst>
          </a:prstGeom>
          <a:solidFill>
            <a:srgbClr val="EEF3F9"/>
          </a:solidFill>
          <a:ln w="12700">
            <a:solidFill>
              <a:srgbClr val="EEF3F9"/>
            </a:solidFill>
            <a:prstDash val="solid"/>
          </a:ln>
        </p:spPr>
      </p:sp>
      <p:sp>
        <p:nvSpPr>
          <p:cNvPr id="5" name="Text 3"/>
          <p:cNvSpPr txBox="1"/>
          <p:nvPr/>
        </p:nvSpPr>
        <p:spPr>
          <a:xfrm>
            <a:off x="658368" y="2194560"/>
            <a:ext cx="1609344" cy="320040"/>
          </a:xfrm>
          <a:prstGeom prst="rect">
            <a:avLst/>
          </a:prstGeom>
          <a:noFill/>
          <a:ln/>
        </p:spPr>
        <p:txBody>
          <a:bodyPr wrap="square" lIns="0" tIns="0" rIns="0" bIns="0" rtlCol="0" anchor="t"/>
          <a:lstStyle/>
          <a:p>
            <a:pPr indent="0" marL="0">
              <a:buNone/>
            </a:pPr>
            <a:r>
              <a:rPr lang="en-US" sz="1300" b="1" dirty="0">
                <a:solidFill>
                  <a:srgbClr val="0F1E3C"/>
                </a:solidFill>
                <a:latin typeface="Malgun Gothic" pitchFamily="34" charset="0"/>
                <a:ea typeface="Malgun Gothic" pitchFamily="34" charset="-122"/>
                <a:cs typeface="Malgun Gothic" pitchFamily="34" charset="-120"/>
              </a:rPr>
              <a:t>브라우저</a:t>
            </a:r>
            <a:endParaRPr lang="en-US" sz="1300" dirty="0"/>
          </a:p>
        </p:txBody>
      </p:sp>
      <p:sp>
        <p:nvSpPr>
          <p:cNvPr id="6" name="Text 4"/>
          <p:cNvSpPr txBox="1"/>
          <p:nvPr/>
        </p:nvSpPr>
        <p:spPr>
          <a:xfrm>
            <a:off x="658368" y="2514600"/>
            <a:ext cx="1609344" cy="548640"/>
          </a:xfrm>
          <a:prstGeom prst="rect">
            <a:avLst/>
          </a:prstGeom>
          <a:noFill/>
          <a:ln/>
        </p:spPr>
        <p:txBody>
          <a:bodyPr wrap="square" lIns="0" tIns="0" rIns="0" bIns="0" rtlCol="0" anchor="t"/>
          <a:lstStyle/>
          <a:p>
            <a:pPr indent="0" marL="0">
              <a:lnSpc>
                <a:spcPct val="115000"/>
              </a:lnSpc>
              <a:buNone/>
            </a:pPr>
            <a:r>
              <a:rPr lang="en-US" sz="1000" dirty="0">
                <a:solidFill>
                  <a:srgbClr val="0F1E3C"/>
                </a:solidFill>
                <a:latin typeface="Malgun Gothic" pitchFamily="34" charset="0"/>
                <a:ea typeface="Malgun Gothic" pitchFamily="34" charset="-122"/>
                <a:cs typeface="Malgun Gothic" pitchFamily="34" charset="-120"/>
              </a:rPr>
              <a:t>React + TypeScript</a:t>
            </a:r>
            <a:endParaRPr lang="en-US" sz="1000" dirty="0"/>
          </a:p>
          <a:p>
            <a:pPr indent="0" marL="0">
              <a:lnSpc>
                <a:spcPct val="115000"/>
              </a:lnSpc>
              <a:buNone/>
            </a:pPr>
            <a:r>
              <a:rPr lang="en-US" sz="1000" dirty="0">
                <a:solidFill>
                  <a:srgbClr val="0F1E3C"/>
                </a:solidFill>
                <a:latin typeface="Malgun Gothic" pitchFamily="34" charset="0"/>
                <a:ea typeface="Malgun Gothic" pitchFamily="34" charset="-122"/>
                <a:cs typeface="Malgun Gothic" pitchFamily="34" charset="-120"/>
              </a:rPr>
              <a:t>실시간 진행 · 동시 접속 표시</a:t>
            </a:r>
            <a:endParaRPr lang="en-US" sz="1000" dirty="0"/>
          </a:p>
        </p:txBody>
      </p:sp>
      <p:sp>
        <p:nvSpPr>
          <p:cNvPr id="7" name="Shape 5"/>
          <p:cNvSpPr/>
          <p:nvPr/>
        </p:nvSpPr>
        <p:spPr>
          <a:xfrm>
            <a:off x="548640" y="3931920"/>
            <a:ext cx="1828800" cy="1005840"/>
          </a:xfrm>
          <a:prstGeom prst="roundRect">
            <a:avLst>
              <a:gd name="adj" fmla="val 9091"/>
            </a:avLst>
          </a:prstGeom>
          <a:solidFill>
            <a:srgbClr val="EEF3F9"/>
          </a:solidFill>
          <a:ln w="12700">
            <a:solidFill>
              <a:srgbClr val="EEF3F9"/>
            </a:solidFill>
            <a:prstDash val="solid"/>
          </a:ln>
        </p:spPr>
      </p:sp>
      <p:sp>
        <p:nvSpPr>
          <p:cNvPr id="8" name="Text 6"/>
          <p:cNvSpPr txBox="1"/>
          <p:nvPr/>
        </p:nvSpPr>
        <p:spPr>
          <a:xfrm>
            <a:off x="658368" y="4023360"/>
            <a:ext cx="1609344" cy="320040"/>
          </a:xfrm>
          <a:prstGeom prst="rect">
            <a:avLst/>
          </a:prstGeom>
          <a:noFill/>
          <a:ln/>
        </p:spPr>
        <p:txBody>
          <a:bodyPr wrap="square" lIns="0" tIns="0" rIns="0" bIns="0" rtlCol="0" anchor="t"/>
          <a:lstStyle/>
          <a:p>
            <a:pPr indent="0" marL="0">
              <a:buNone/>
            </a:pPr>
            <a:r>
              <a:rPr lang="en-US" sz="1300" b="1" dirty="0">
                <a:solidFill>
                  <a:srgbClr val="0F1E3C"/>
                </a:solidFill>
                <a:latin typeface="Malgun Gothic" pitchFamily="34" charset="0"/>
                <a:ea typeface="Malgun Gothic" pitchFamily="34" charset="-122"/>
                <a:cs typeface="Malgun Gothic" pitchFamily="34" charset="-120"/>
              </a:rPr>
              <a:t>실행기 (runner)</a:t>
            </a:r>
            <a:endParaRPr lang="en-US" sz="1300" dirty="0"/>
          </a:p>
        </p:txBody>
      </p:sp>
      <p:sp>
        <p:nvSpPr>
          <p:cNvPr id="9" name="Text 7"/>
          <p:cNvSpPr txBox="1"/>
          <p:nvPr/>
        </p:nvSpPr>
        <p:spPr>
          <a:xfrm>
            <a:off x="658368" y="4343400"/>
            <a:ext cx="1609344" cy="548640"/>
          </a:xfrm>
          <a:prstGeom prst="rect">
            <a:avLst/>
          </a:prstGeom>
          <a:noFill/>
          <a:ln/>
        </p:spPr>
        <p:txBody>
          <a:bodyPr wrap="square" lIns="0" tIns="0" rIns="0" bIns="0" rtlCol="0" anchor="t"/>
          <a:lstStyle/>
          <a:p>
            <a:pPr indent="0" marL="0">
              <a:lnSpc>
                <a:spcPct val="115000"/>
              </a:lnSpc>
              <a:buNone/>
            </a:pPr>
            <a:r>
              <a:rPr lang="en-US" sz="1000" dirty="0">
                <a:solidFill>
                  <a:srgbClr val="0F1E3C"/>
                </a:solidFill>
                <a:latin typeface="Malgun Gothic" pitchFamily="34" charset="0"/>
                <a:ea typeface="Malgun Gothic" pitchFamily="34" charset="-122"/>
                <a:cs typeface="Malgun Gothic" pitchFamily="34" charset="-120"/>
              </a:rPr>
              <a:t>Node · 대기줄에서 일감을 집어 실행</a:t>
            </a:r>
            <a:endParaRPr lang="en-US" sz="1000" dirty="0"/>
          </a:p>
          <a:p>
            <a:pPr indent="0" marL="0">
              <a:lnSpc>
                <a:spcPct val="115000"/>
              </a:lnSpc>
              <a:buNone/>
            </a:pPr>
            <a:r>
              <a:rPr lang="en-US" sz="1000" dirty="0">
                <a:solidFill>
                  <a:srgbClr val="0F1E3C"/>
                </a:solidFill>
                <a:latin typeface="Malgun Gothic" pitchFamily="34" charset="0"/>
                <a:ea typeface="Malgun Gothic" pitchFamily="34" charset="-122"/>
                <a:cs typeface="Malgun Gothic" pitchFamily="34" charset="-120"/>
              </a:rPr>
              <a:t>여러 대로 늘릴 수 있음</a:t>
            </a:r>
            <a:endParaRPr lang="en-US" sz="1000" dirty="0"/>
          </a:p>
        </p:txBody>
      </p:sp>
      <p:sp>
        <p:nvSpPr>
          <p:cNvPr id="10" name="Shape 8"/>
          <p:cNvSpPr/>
          <p:nvPr/>
        </p:nvSpPr>
        <p:spPr>
          <a:xfrm>
            <a:off x="3017520" y="1691640"/>
            <a:ext cx="3108960" cy="3703320"/>
          </a:xfrm>
          <a:prstGeom prst="roundRect">
            <a:avLst>
              <a:gd name="adj" fmla="val 3529"/>
            </a:avLst>
          </a:prstGeom>
          <a:solidFill>
            <a:srgbClr val="F7F9FC"/>
          </a:solidFill>
          <a:ln w="12700">
            <a:solidFill>
              <a:srgbClr val="D5DDE8"/>
            </a:solidFill>
            <a:prstDash val="dash"/>
          </a:ln>
        </p:spPr>
      </p:sp>
      <p:sp>
        <p:nvSpPr>
          <p:cNvPr id="11" name="Text 9"/>
          <p:cNvSpPr txBox="1"/>
          <p:nvPr/>
        </p:nvSpPr>
        <p:spPr>
          <a:xfrm>
            <a:off x="3154680" y="1783080"/>
            <a:ext cx="2834640" cy="274320"/>
          </a:xfrm>
          <a:prstGeom prst="rect">
            <a:avLst/>
          </a:prstGeom>
          <a:noFill/>
          <a:ln/>
        </p:spPr>
        <p:txBody>
          <a:bodyPr wrap="square" lIns="0" tIns="0" rIns="0" bIns="0" rtlCol="0" anchor="t"/>
          <a:lstStyle/>
          <a:p>
            <a:pPr indent="0" marL="0">
              <a:buNone/>
            </a:pPr>
            <a:r>
              <a:rPr lang="en-US" sz="1000" b="1" dirty="0">
                <a:solidFill>
                  <a:srgbClr val="6B7A90"/>
                </a:solidFill>
                <a:latin typeface="Malgun Gothic" pitchFamily="34" charset="0"/>
                <a:ea typeface="Malgun Gothic" pitchFamily="34" charset="-122"/>
                <a:cs typeface="Malgun Gothic" pitchFamily="34" charset="-120"/>
              </a:rPr>
              <a:t>UTOP 서버 (Docker Compose)</a:t>
            </a:r>
            <a:endParaRPr lang="en-US" sz="1000" dirty="0"/>
          </a:p>
        </p:txBody>
      </p:sp>
      <p:sp>
        <p:nvSpPr>
          <p:cNvPr id="12" name="Shape 10"/>
          <p:cNvSpPr/>
          <p:nvPr/>
        </p:nvSpPr>
        <p:spPr>
          <a:xfrm>
            <a:off x="3200400" y="2148840"/>
            <a:ext cx="2743200" cy="822960"/>
          </a:xfrm>
          <a:prstGeom prst="roundRect">
            <a:avLst>
              <a:gd name="adj" fmla="val 11111"/>
            </a:avLst>
          </a:prstGeom>
          <a:solidFill>
            <a:srgbClr val="0F1E3C"/>
          </a:solidFill>
          <a:ln w="12700">
            <a:solidFill>
              <a:srgbClr val="0F1E3C"/>
            </a:solidFill>
            <a:prstDash val="solid"/>
          </a:ln>
        </p:spPr>
      </p:sp>
      <p:sp>
        <p:nvSpPr>
          <p:cNvPr id="13" name="Text 11"/>
          <p:cNvSpPr txBox="1"/>
          <p:nvPr/>
        </p:nvSpPr>
        <p:spPr>
          <a:xfrm>
            <a:off x="3310128" y="2240280"/>
            <a:ext cx="2523744" cy="320040"/>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web  ·  nginx</a:t>
            </a:r>
            <a:endParaRPr lang="en-US" sz="1300" dirty="0"/>
          </a:p>
        </p:txBody>
      </p:sp>
      <p:sp>
        <p:nvSpPr>
          <p:cNvPr id="14" name="Text 12"/>
          <p:cNvSpPr txBox="1"/>
          <p:nvPr/>
        </p:nvSpPr>
        <p:spPr>
          <a:xfrm>
            <a:off x="3310128" y="2560320"/>
            <a:ext cx="2523744" cy="365760"/>
          </a:xfrm>
          <a:prstGeom prst="rect">
            <a:avLst/>
          </a:prstGeom>
          <a:noFill/>
          <a:ln/>
        </p:spPr>
        <p:txBody>
          <a:bodyPr wrap="square" lIns="0" tIns="0" rIns="0" bIns="0" rtlCol="0" anchor="t"/>
          <a:lstStyle/>
          <a:p>
            <a:pPr indent="0" marL="0">
              <a:lnSpc>
                <a:spcPct val="115000"/>
              </a:lnSpc>
              <a:buNone/>
            </a:pPr>
            <a:r>
              <a:rPr lang="en-US" sz="1000" dirty="0">
                <a:solidFill>
                  <a:srgbClr val="FFFFFF"/>
                </a:solidFill>
                <a:latin typeface="Malgun Gothic" pitchFamily="34" charset="0"/>
                <a:ea typeface="Malgun Gothic" pitchFamily="34" charset="-122"/>
                <a:cs typeface="Malgun Gothic" pitchFamily="34" charset="-120"/>
              </a:rPr>
              <a:t>화면 정적 파일 · /api /ws 를 백엔드로 넘김</a:t>
            </a:r>
            <a:endParaRPr lang="en-US" sz="1000" dirty="0"/>
          </a:p>
        </p:txBody>
      </p:sp>
      <p:sp>
        <p:nvSpPr>
          <p:cNvPr id="15" name="Shape 13"/>
          <p:cNvSpPr/>
          <p:nvPr/>
        </p:nvSpPr>
        <p:spPr>
          <a:xfrm>
            <a:off x="3200400" y="3108960"/>
            <a:ext cx="2743200" cy="1005840"/>
          </a:xfrm>
          <a:prstGeom prst="roundRect">
            <a:avLst>
              <a:gd name="adj" fmla="val 9091"/>
            </a:avLst>
          </a:prstGeom>
          <a:solidFill>
            <a:srgbClr val="1B2F5C"/>
          </a:solidFill>
          <a:ln w="12700">
            <a:solidFill>
              <a:srgbClr val="1B2F5C"/>
            </a:solidFill>
            <a:prstDash val="solid"/>
          </a:ln>
        </p:spPr>
      </p:sp>
      <p:sp>
        <p:nvSpPr>
          <p:cNvPr id="16" name="Text 14"/>
          <p:cNvSpPr txBox="1"/>
          <p:nvPr/>
        </p:nvSpPr>
        <p:spPr>
          <a:xfrm>
            <a:off x="3310128" y="3200400"/>
            <a:ext cx="2523744" cy="320040"/>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api  ·  FastAPI</a:t>
            </a:r>
            <a:endParaRPr lang="en-US" sz="1300" dirty="0"/>
          </a:p>
        </p:txBody>
      </p:sp>
      <p:sp>
        <p:nvSpPr>
          <p:cNvPr id="17" name="Text 15"/>
          <p:cNvSpPr txBox="1"/>
          <p:nvPr/>
        </p:nvSpPr>
        <p:spPr>
          <a:xfrm>
            <a:off x="3310128" y="3520440"/>
            <a:ext cx="2523744" cy="548640"/>
          </a:xfrm>
          <a:prstGeom prst="rect">
            <a:avLst/>
          </a:prstGeom>
          <a:noFill/>
          <a:ln/>
        </p:spPr>
        <p:txBody>
          <a:bodyPr wrap="square" lIns="0" tIns="0" rIns="0" bIns="0" rtlCol="0" anchor="t"/>
          <a:lstStyle/>
          <a:p>
            <a:pPr indent="0" marL="0">
              <a:lnSpc>
                <a:spcPct val="115000"/>
              </a:lnSpc>
              <a:buNone/>
            </a:pPr>
            <a:r>
              <a:rPr lang="en-US" sz="1000" dirty="0">
                <a:solidFill>
                  <a:srgbClr val="FFFFFF"/>
                </a:solidFill>
                <a:latin typeface="Malgun Gothic" pitchFamily="34" charset="0"/>
                <a:ea typeface="Malgun Gothic" pitchFamily="34" charset="-122"/>
                <a:cs typeface="Malgun Gothic" pitchFamily="34" charset="-120"/>
              </a:rPr>
              <a:t>430+ 라우트 · WebSocket 중계</a:t>
            </a:r>
            <a:endParaRPr lang="en-US" sz="1000" dirty="0"/>
          </a:p>
          <a:p>
            <a:pPr indent="0" marL="0">
              <a:lnSpc>
                <a:spcPct val="115000"/>
              </a:lnSpc>
              <a:buNone/>
            </a:pPr>
            <a:r>
              <a:rPr lang="en-US" sz="1000" dirty="0">
                <a:solidFill>
                  <a:srgbClr val="FFFFFF"/>
                </a:solidFill>
                <a:latin typeface="Malgun Gothic" pitchFamily="34" charset="0"/>
                <a:ea typeface="Malgun Gothic" pitchFamily="34" charset="-122"/>
                <a:cs typeface="Malgun Gothic" pitchFamily="34" charset="-120"/>
              </a:rPr>
              <a:t>장비 제어 · 판정 · 결과서 · AI</a:t>
            </a:r>
            <a:endParaRPr lang="en-US" sz="1000" dirty="0"/>
          </a:p>
        </p:txBody>
      </p:sp>
      <p:sp>
        <p:nvSpPr>
          <p:cNvPr id="18" name="Shape 16"/>
          <p:cNvSpPr/>
          <p:nvPr/>
        </p:nvSpPr>
        <p:spPr>
          <a:xfrm>
            <a:off x="3200400" y="4251960"/>
            <a:ext cx="2743200" cy="914400"/>
          </a:xfrm>
          <a:prstGeom prst="roundRect">
            <a:avLst>
              <a:gd name="adj" fmla="val 10000"/>
            </a:avLst>
          </a:prstGeom>
          <a:solidFill>
            <a:srgbClr val="12A594"/>
          </a:solidFill>
          <a:ln w="12700">
            <a:solidFill>
              <a:srgbClr val="12A594"/>
            </a:solidFill>
            <a:prstDash val="solid"/>
          </a:ln>
        </p:spPr>
      </p:sp>
      <p:sp>
        <p:nvSpPr>
          <p:cNvPr id="19" name="Text 17"/>
          <p:cNvSpPr txBox="1"/>
          <p:nvPr/>
        </p:nvSpPr>
        <p:spPr>
          <a:xfrm>
            <a:off x="3310128" y="4343400"/>
            <a:ext cx="2523744" cy="320040"/>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db  ·  PostgreSQL 17</a:t>
            </a:r>
            <a:endParaRPr lang="en-US" sz="1300" dirty="0"/>
          </a:p>
        </p:txBody>
      </p:sp>
      <p:sp>
        <p:nvSpPr>
          <p:cNvPr id="20" name="Text 18"/>
          <p:cNvSpPr txBox="1"/>
          <p:nvPr/>
        </p:nvSpPr>
        <p:spPr>
          <a:xfrm>
            <a:off x="3310128" y="4663440"/>
            <a:ext cx="2523744" cy="457200"/>
          </a:xfrm>
          <a:prstGeom prst="rect">
            <a:avLst/>
          </a:prstGeom>
          <a:noFill/>
          <a:ln/>
        </p:spPr>
        <p:txBody>
          <a:bodyPr wrap="square" lIns="0" tIns="0" rIns="0" bIns="0" rtlCol="0" anchor="t"/>
          <a:lstStyle/>
          <a:p>
            <a:pPr indent="0" marL="0">
              <a:lnSpc>
                <a:spcPct val="115000"/>
              </a:lnSpc>
              <a:buNone/>
            </a:pPr>
            <a:r>
              <a:rPr lang="en-US" sz="1000" dirty="0">
                <a:solidFill>
                  <a:srgbClr val="FFFFFF"/>
                </a:solidFill>
                <a:latin typeface="Malgun Gothic" pitchFamily="34" charset="0"/>
                <a:ea typeface="Malgun Gothic" pitchFamily="34" charset="-122"/>
                <a:cs typeface="Malgun Gothic" pitchFamily="34" charset="-120"/>
              </a:rPr>
              <a:t>요구사항 · 시험 · 사이클 · 결함 · 위키</a:t>
            </a:r>
            <a:endParaRPr lang="en-US" sz="1000" dirty="0"/>
          </a:p>
          <a:p>
            <a:pPr indent="0" marL="0">
              <a:lnSpc>
                <a:spcPct val="115000"/>
              </a:lnSpc>
              <a:buNone/>
            </a:pPr>
            <a:r>
              <a:rPr lang="en-US" sz="1000" dirty="0">
                <a:solidFill>
                  <a:srgbClr val="FFFFFF"/>
                </a:solidFill>
                <a:latin typeface="Malgun Gothic" pitchFamily="34" charset="0"/>
                <a:ea typeface="Malgun Gothic" pitchFamily="34" charset="-122"/>
                <a:cs typeface="Malgun Gothic" pitchFamily="34" charset="-120"/>
              </a:rPr>
              <a:t>30+ 테이블, JSONB + 검색 컬럼</a:t>
            </a:r>
            <a:endParaRPr lang="en-US" sz="1000" dirty="0"/>
          </a:p>
        </p:txBody>
      </p:sp>
      <p:sp>
        <p:nvSpPr>
          <p:cNvPr id="21" name="Shape 19"/>
          <p:cNvSpPr/>
          <p:nvPr/>
        </p:nvSpPr>
        <p:spPr>
          <a:xfrm>
            <a:off x="7223760" y="1691640"/>
            <a:ext cx="2103120" cy="822960"/>
          </a:xfrm>
          <a:prstGeom prst="roundRect">
            <a:avLst>
              <a:gd name="adj" fmla="val 11111"/>
            </a:avLst>
          </a:prstGeom>
          <a:solidFill>
            <a:srgbClr val="FDEFD9"/>
          </a:solidFill>
          <a:ln w="12700">
            <a:solidFill>
              <a:srgbClr val="FDEFD9"/>
            </a:solidFill>
            <a:prstDash val="solid"/>
          </a:ln>
        </p:spPr>
      </p:sp>
      <p:sp>
        <p:nvSpPr>
          <p:cNvPr id="22" name="Text 20"/>
          <p:cNvSpPr txBox="1"/>
          <p:nvPr/>
        </p:nvSpPr>
        <p:spPr>
          <a:xfrm>
            <a:off x="7333488" y="1783080"/>
            <a:ext cx="1883664" cy="320040"/>
          </a:xfrm>
          <a:prstGeom prst="rect">
            <a:avLst/>
          </a:prstGeom>
          <a:noFill/>
          <a:ln/>
        </p:spPr>
        <p:txBody>
          <a:bodyPr wrap="square" lIns="0" tIns="0" rIns="0" bIns="0" rtlCol="0" anchor="t"/>
          <a:lstStyle/>
          <a:p>
            <a:pPr indent="0" marL="0">
              <a:buNone/>
            </a:pPr>
            <a:r>
              <a:rPr lang="en-US" sz="1300" b="1" dirty="0">
                <a:solidFill>
                  <a:srgbClr val="0F1E3C"/>
                </a:solidFill>
                <a:latin typeface="Malgun Gothic" pitchFamily="34" charset="0"/>
                <a:ea typeface="Malgun Gothic" pitchFamily="34" charset="-122"/>
                <a:cs typeface="Malgun Gothic" pitchFamily="34" charset="-120"/>
              </a:rPr>
              <a:t>네트워크 장비</a:t>
            </a:r>
            <a:endParaRPr lang="en-US" sz="1300" dirty="0"/>
          </a:p>
        </p:txBody>
      </p:sp>
      <p:sp>
        <p:nvSpPr>
          <p:cNvPr id="23" name="Text 21"/>
          <p:cNvSpPr txBox="1"/>
          <p:nvPr/>
        </p:nvSpPr>
        <p:spPr>
          <a:xfrm>
            <a:off x="7333488" y="2103120"/>
            <a:ext cx="1883664" cy="365760"/>
          </a:xfrm>
          <a:prstGeom prst="rect">
            <a:avLst/>
          </a:prstGeom>
          <a:noFill/>
          <a:ln/>
        </p:spPr>
        <p:txBody>
          <a:bodyPr wrap="square" lIns="0" tIns="0" rIns="0" bIns="0" rtlCol="0" anchor="t"/>
          <a:lstStyle/>
          <a:p>
            <a:pPr indent="0" marL="0">
              <a:lnSpc>
                <a:spcPct val="115000"/>
              </a:lnSpc>
              <a:buNone/>
            </a:pPr>
            <a:r>
              <a:rPr lang="en-US" sz="1000" dirty="0">
                <a:solidFill>
                  <a:srgbClr val="0F1E3C"/>
                </a:solidFill>
                <a:latin typeface="Malgun Gothic" pitchFamily="34" charset="0"/>
                <a:ea typeface="Malgun Gothic" pitchFamily="34" charset="-122"/>
                <a:cs typeface="Malgun Gothic" pitchFamily="34" charset="-120"/>
              </a:rPr>
              <a:t>SSH / Telnet CLI (netmiko)</a:t>
            </a:r>
            <a:endParaRPr lang="en-US" sz="1000" dirty="0"/>
          </a:p>
          <a:p>
            <a:pPr indent="0" marL="0">
              <a:lnSpc>
                <a:spcPct val="115000"/>
              </a:lnSpc>
              <a:buNone/>
            </a:pPr>
            <a:r>
              <a:rPr lang="en-US" sz="1000" dirty="0">
                <a:solidFill>
                  <a:srgbClr val="0F1E3C"/>
                </a:solidFill>
                <a:latin typeface="Malgun Gothic" pitchFamily="34" charset="0"/>
                <a:ea typeface="Malgun Gothic" pitchFamily="34" charset="-122"/>
                <a:cs typeface="Malgun Gothic" pitchFamily="34" charset="-120"/>
              </a:rPr>
              <a:t>SNMP get · set · trap</a:t>
            </a:r>
            <a:endParaRPr lang="en-US" sz="1000" dirty="0"/>
          </a:p>
        </p:txBody>
      </p:sp>
      <p:sp>
        <p:nvSpPr>
          <p:cNvPr id="24" name="Shape 22"/>
          <p:cNvSpPr/>
          <p:nvPr/>
        </p:nvSpPr>
        <p:spPr>
          <a:xfrm>
            <a:off x="7223760" y="2697480"/>
            <a:ext cx="2103120" cy="822960"/>
          </a:xfrm>
          <a:prstGeom prst="roundRect">
            <a:avLst>
              <a:gd name="adj" fmla="val 11111"/>
            </a:avLst>
          </a:prstGeom>
          <a:solidFill>
            <a:srgbClr val="FDEFD9"/>
          </a:solidFill>
          <a:ln w="12700">
            <a:solidFill>
              <a:srgbClr val="FDEFD9"/>
            </a:solidFill>
            <a:prstDash val="solid"/>
          </a:ln>
        </p:spPr>
      </p:sp>
      <p:sp>
        <p:nvSpPr>
          <p:cNvPr id="25" name="Text 23"/>
          <p:cNvSpPr txBox="1"/>
          <p:nvPr/>
        </p:nvSpPr>
        <p:spPr>
          <a:xfrm>
            <a:off x="7333488" y="2788920"/>
            <a:ext cx="1883664" cy="320040"/>
          </a:xfrm>
          <a:prstGeom prst="rect">
            <a:avLst/>
          </a:prstGeom>
          <a:noFill/>
          <a:ln/>
        </p:spPr>
        <p:txBody>
          <a:bodyPr wrap="square" lIns="0" tIns="0" rIns="0" bIns="0" rtlCol="0" anchor="t"/>
          <a:lstStyle/>
          <a:p>
            <a:pPr indent="0" marL="0">
              <a:buNone/>
            </a:pPr>
            <a:r>
              <a:rPr lang="en-US" sz="1300" b="1" dirty="0">
                <a:solidFill>
                  <a:srgbClr val="0F1E3C"/>
                </a:solidFill>
                <a:latin typeface="Malgun Gothic" pitchFamily="34" charset="0"/>
                <a:ea typeface="Malgun Gothic" pitchFamily="34" charset="-122"/>
                <a:cs typeface="Malgun Gothic" pitchFamily="34" charset="-120"/>
              </a:rPr>
              <a:t>IXIA N2X</a:t>
            </a:r>
            <a:endParaRPr lang="en-US" sz="1300" dirty="0"/>
          </a:p>
        </p:txBody>
      </p:sp>
      <p:sp>
        <p:nvSpPr>
          <p:cNvPr id="26" name="Text 24"/>
          <p:cNvSpPr txBox="1"/>
          <p:nvPr/>
        </p:nvSpPr>
        <p:spPr>
          <a:xfrm>
            <a:off x="7333488" y="3108960"/>
            <a:ext cx="1883664" cy="365760"/>
          </a:xfrm>
          <a:prstGeom prst="rect">
            <a:avLst/>
          </a:prstGeom>
          <a:noFill/>
          <a:ln/>
        </p:spPr>
        <p:txBody>
          <a:bodyPr wrap="square" lIns="0" tIns="0" rIns="0" bIns="0" rtlCol="0" anchor="t"/>
          <a:lstStyle/>
          <a:p>
            <a:pPr indent="0" marL="0">
              <a:lnSpc>
                <a:spcPct val="115000"/>
              </a:lnSpc>
              <a:buNone/>
            </a:pPr>
            <a:r>
              <a:rPr lang="en-US" sz="1000" dirty="0">
                <a:solidFill>
                  <a:srgbClr val="0F1E3C"/>
                </a:solidFill>
                <a:latin typeface="Malgun Gothic" pitchFamily="34" charset="0"/>
                <a:ea typeface="Malgun Gothic" pitchFamily="34" charset="-122"/>
                <a:cs typeface="Malgun Gothic" pitchFamily="34" charset="-120"/>
              </a:rPr>
              <a:t>Tcl API · 윈도우 중계(relay)</a:t>
            </a:r>
            <a:endParaRPr lang="en-US" sz="1000" dirty="0"/>
          </a:p>
          <a:p>
            <a:pPr indent="0" marL="0">
              <a:lnSpc>
                <a:spcPct val="115000"/>
              </a:lnSpc>
              <a:buNone/>
            </a:pPr>
            <a:r>
              <a:rPr lang="en-US" sz="1000" dirty="0">
                <a:solidFill>
                  <a:srgbClr val="0F1E3C"/>
                </a:solidFill>
                <a:latin typeface="Malgun Gothic" pitchFamily="34" charset="0"/>
                <a:ea typeface="Malgun Gothic" pitchFamily="34" charset="-122"/>
                <a:cs typeface="Malgun Gothic" pitchFamily="34" charset="-120"/>
              </a:rPr>
              <a:t>포트 예약 · 트래픽 · 통계</a:t>
            </a:r>
            <a:endParaRPr lang="en-US" sz="1000" dirty="0"/>
          </a:p>
        </p:txBody>
      </p:sp>
      <p:sp>
        <p:nvSpPr>
          <p:cNvPr id="27" name="Shape 25"/>
          <p:cNvSpPr/>
          <p:nvPr/>
        </p:nvSpPr>
        <p:spPr>
          <a:xfrm>
            <a:off x="7223760" y="3703320"/>
            <a:ext cx="2103120" cy="822960"/>
          </a:xfrm>
          <a:prstGeom prst="roundRect">
            <a:avLst>
              <a:gd name="adj" fmla="val 11111"/>
            </a:avLst>
          </a:prstGeom>
          <a:solidFill>
            <a:srgbClr val="FDEFD9"/>
          </a:solidFill>
          <a:ln w="12700">
            <a:solidFill>
              <a:srgbClr val="FDEFD9"/>
            </a:solidFill>
            <a:prstDash val="solid"/>
          </a:ln>
        </p:spPr>
      </p:sp>
      <p:sp>
        <p:nvSpPr>
          <p:cNvPr id="28" name="Text 26"/>
          <p:cNvSpPr txBox="1"/>
          <p:nvPr/>
        </p:nvSpPr>
        <p:spPr>
          <a:xfrm>
            <a:off x="7333488" y="3794760"/>
            <a:ext cx="1883664" cy="320040"/>
          </a:xfrm>
          <a:prstGeom prst="rect">
            <a:avLst/>
          </a:prstGeom>
          <a:noFill/>
          <a:ln/>
        </p:spPr>
        <p:txBody>
          <a:bodyPr wrap="square" lIns="0" tIns="0" rIns="0" bIns="0" rtlCol="0" anchor="t"/>
          <a:lstStyle/>
          <a:p>
            <a:pPr indent="0" marL="0">
              <a:buNone/>
            </a:pPr>
            <a:r>
              <a:rPr lang="en-US" sz="1300" b="1" dirty="0">
                <a:solidFill>
                  <a:srgbClr val="0F1E3C"/>
                </a:solidFill>
                <a:latin typeface="Malgun Gothic" pitchFamily="34" charset="0"/>
                <a:ea typeface="Malgun Gothic" pitchFamily="34" charset="-122"/>
                <a:cs typeface="Malgun Gothic" pitchFamily="34" charset="-120"/>
              </a:rPr>
              <a:t>Spirent TestCenter</a:t>
            </a:r>
            <a:endParaRPr lang="en-US" sz="1300" dirty="0"/>
          </a:p>
        </p:txBody>
      </p:sp>
      <p:sp>
        <p:nvSpPr>
          <p:cNvPr id="29" name="Text 27"/>
          <p:cNvSpPr txBox="1"/>
          <p:nvPr/>
        </p:nvSpPr>
        <p:spPr>
          <a:xfrm>
            <a:off x="7333488" y="4114800"/>
            <a:ext cx="1883664" cy="365760"/>
          </a:xfrm>
          <a:prstGeom prst="rect">
            <a:avLst/>
          </a:prstGeom>
          <a:noFill/>
          <a:ln/>
        </p:spPr>
        <p:txBody>
          <a:bodyPr wrap="square" lIns="0" tIns="0" rIns="0" bIns="0" rtlCol="0" anchor="t"/>
          <a:lstStyle/>
          <a:p>
            <a:pPr indent="0" marL="0">
              <a:lnSpc>
                <a:spcPct val="115000"/>
              </a:lnSpc>
              <a:buNone/>
            </a:pPr>
            <a:r>
              <a:rPr lang="en-US" sz="1000" dirty="0">
                <a:solidFill>
                  <a:srgbClr val="0F1E3C"/>
                </a:solidFill>
                <a:latin typeface="Malgun Gothic" pitchFamily="34" charset="0"/>
                <a:ea typeface="Malgun Gothic" pitchFamily="34" charset="-122"/>
                <a:cs typeface="Malgun Gothic" pitchFamily="34" charset="-120"/>
              </a:rPr>
              <a:t>REST · 예약 레지스트리</a:t>
            </a:r>
            <a:endParaRPr lang="en-US" sz="1000" dirty="0"/>
          </a:p>
          <a:p>
            <a:pPr indent="0" marL="0">
              <a:lnSpc>
                <a:spcPct val="115000"/>
              </a:lnSpc>
              <a:buNone/>
            </a:pPr>
            <a:r>
              <a:rPr lang="en-US" sz="1000" dirty="0">
                <a:solidFill>
                  <a:srgbClr val="0F1E3C"/>
                </a:solidFill>
                <a:latin typeface="Malgun Gothic" pitchFamily="34" charset="0"/>
                <a:ea typeface="Malgun Gothic" pitchFamily="34" charset="-122"/>
                <a:cs typeface="Malgun Gothic" pitchFamily="34" charset="-120"/>
              </a:rPr>
              <a:t>세션 · 미터</a:t>
            </a:r>
            <a:endParaRPr lang="en-US" sz="1000" dirty="0"/>
          </a:p>
        </p:txBody>
      </p:sp>
      <p:sp>
        <p:nvSpPr>
          <p:cNvPr id="30" name="Shape 28"/>
          <p:cNvSpPr/>
          <p:nvPr/>
        </p:nvSpPr>
        <p:spPr>
          <a:xfrm>
            <a:off x="9966960" y="1691640"/>
            <a:ext cx="1691640" cy="640080"/>
          </a:xfrm>
          <a:prstGeom prst="roundRect">
            <a:avLst>
              <a:gd name="adj" fmla="val 14286"/>
            </a:avLst>
          </a:prstGeom>
          <a:solidFill>
            <a:srgbClr val="EEF3F9"/>
          </a:solidFill>
          <a:ln w="12700">
            <a:solidFill>
              <a:srgbClr val="EEF3F9"/>
            </a:solidFill>
            <a:prstDash val="solid"/>
          </a:ln>
        </p:spPr>
      </p:sp>
      <p:sp>
        <p:nvSpPr>
          <p:cNvPr id="31" name="Text 29"/>
          <p:cNvSpPr txBox="1"/>
          <p:nvPr/>
        </p:nvSpPr>
        <p:spPr>
          <a:xfrm>
            <a:off x="10076688" y="1783080"/>
            <a:ext cx="1472184" cy="320040"/>
          </a:xfrm>
          <a:prstGeom prst="rect">
            <a:avLst/>
          </a:prstGeom>
          <a:noFill/>
          <a:ln/>
        </p:spPr>
        <p:txBody>
          <a:bodyPr wrap="square" lIns="0" tIns="0" rIns="0" bIns="0" rtlCol="0" anchor="t"/>
          <a:lstStyle/>
          <a:p>
            <a:pPr indent="0" marL="0">
              <a:buNone/>
            </a:pPr>
            <a:r>
              <a:rPr lang="en-US" sz="1200" b="1" dirty="0">
                <a:solidFill>
                  <a:srgbClr val="0F1E3C"/>
                </a:solidFill>
                <a:latin typeface="Malgun Gothic" pitchFamily="34" charset="0"/>
                <a:ea typeface="Malgun Gothic" pitchFamily="34" charset="-122"/>
                <a:cs typeface="Malgun Gothic" pitchFamily="34" charset="-120"/>
              </a:rPr>
              <a:t>Jira · Confluence</a:t>
            </a:r>
            <a:endParaRPr lang="en-US" sz="1200" dirty="0"/>
          </a:p>
        </p:txBody>
      </p:sp>
      <p:sp>
        <p:nvSpPr>
          <p:cNvPr id="32" name="Text 30"/>
          <p:cNvSpPr txBox="1"/>
          <p:nvPr/>
        </p:nvSpPr>
        <p:spPr>
          <a:xfrm>
            <a:off x="10076688" y="2103120"/>
            <a:ext cx="1472184" cy="182880"/>
          </a:xfrm>
          <a:prstGeom prst="rect">
            <a:avLst/>
          </a:prstGeom>
          <a:noFill/>
          <a:ln/>
        </p:spPr>
        <p:txBody>
          <a:bodyPr wrap="square" lIns="0" tIns="0" rIns="0" bIns="0" rtlCol="0" anchor="t"/>
          <a:lstStyle/>
          <a:p>
            <a:pPr indent="0" marL="0">
              <a:lnSpc>
                <a:spcPct val="115000"/>
              </a:lnSpc>
              <a:buNone/>
            </a:pPr>
            <a:r>
              <a:rPr lang="en-US" sz="1000" dirty="0">
                <a:solidFill>
                  <a:srgbClr val="0F1E3C"/>
                </a:solidFill>
                <a:latin typeface="Malgun Gothic" pitchFamily="34" charset="0"/>
                <a:ea typeface="Malgun Gothic" pitchFamily="34" charset="-122"/>
                <a:cs typeface="Malgun Gothic" pitchFamily="34" charset="-120"/>
              </a:rPr>
              <a:t>이슈 · 릴리즈 · 문서</a:t>
            </a:r>
            <a:endParaRPr lang="en-US" sz="1000" dirty="0"/>
          </a:p>
        </p:txBody>
      </p:sp>
      <p:sp>
        <p:nvSpPr>
          <p:cNvPr id="33" name="Shape 31"/>
          <p:cNvSpPr/>
          <p:nvPr/>
        </p:nvSpPr>
        <p:spPr>
          <a:xfrm>
            <a:off x="9966960" y="2514600"/>
            <a:ext cx="1691640" cy="640080"/>
          </a:xfrm>
          <a:prstGeom prst="roundRect">
            <a:avLst>
              <a:gd name="adj" fmla="val 14286"/>
            </a:avLst>
          </a:prstGeom>
          <a:solidFill>
            <a:srgbClr val="EEF3F9"/>
          </a:solidFill>
          <a:ln w="12700">
            <a:solidFill>
              <a:srgbClr val="EEF3F9"/>
            </a:solidFill>
            <a:prstDash val="solid"/>
          </a:ln>
        </p:spPr>
      </p:sp>
      <p:sp>
        <p:nvSpPr>
          <p:cNvPr id="34" name="Text 32"/>
          <p:cNvSpPr txBox="1"/>
          <p:nvPr/>
        </p:nvSpPr>
        <p:spPr>
          <a:xfrm>
            <a:off x="10076688" y="2606040"/>
            <a:ext cx="1472184" cy="320040"/>
          </a:xfrm>
          <a:prstGeom prst="rect">
            <a:avLst/>
          </a:prstGeom>
          <a:noFill/>
          <a:ln/>
        </p:spPr>
        <p:txBody>
          <a:bodyPr wrap="square" lIns="0" tIns="0" rIns="0" bIns="0" rtlCol="0" anchor="t"/>
          <a:lstStyle/>
          <a:p>
            <a:pPr indent="0" marL="0">
              <a:buNone/>
            </a:pPr>
            <a:r>
              <a:rPr lang="en-US" sz="1200" b="1" dirty="0">
                <a:solidFill>
                  <a:srgbClr val="0F1E3C"/>
                </a:solidFill>
                <a:latin typeface="Malgun Gothic" pitchFamily="34" charset="0"/>
                <a:ea typeface="Malgun Gothic" pitchFamily="34" charset="-122"/>
                <a:cs typeface="Malgun Gothic" pitchFamily="34" charset="-120"/>
              </a:rPr>
              <a:t>SMTP 메일</a:t>
            </a:r>
            <a:endParaRPr lang="en-US" sz="1200" dirty="0"/>
          </a:p>
        </p:txBody>
      </p:sp>
      <p:sp>
        <p:nvSpPr>
          <p:cNvPr id="35" name="Text 33"/>
          <p:cNvSpPr txBox="1"/>
          <p:nvPr/>
        </p:nvSpPr>
        <p:spPr>
          <a:xfrm>
            <a:off x="10076688" y="2926080"/>
            <a:ext cx="1472184" cy="182880"/>
          </a:xfrm>
          <a:prstGeom prst="rect">
            <a:avLst/>
          </a:prstGeom>
          <a:noFill/>
          <a:ln/>
        </p:spPr>
        <p:txBody>
          <a:bodyPr wrap="square" lIns="0" tIns="0" rIns="0" bIns="0" rtlCol="0" anchor="t"/>
          <a:lstStyle/>
          <a:p>
            <a:pPr indent="0" marL="0">
              <a:lnSpc>
                <a:spcPct val="115000"/>
              </a:lnSpc>
              <a:buNone/>
            </a:pPr>
            <a:r>
              <a:rPr lang="en-US" sz="1000" dirty="0">
                <a:solidFill>
                  <a:srgbClr val="0F1E3C"/>
                </a:solidFill>
                <a:latin typeface="Malgun Gothic" pitchFamily="34" charset="0"/>
                <a:ea typeface="Malgun Gothic" pitchFamily="34" charset="-122"/>
                <a:cs typeface="Malgun Gothic" pitchFamily="34" charset="-120"/>
              </a:rPr>
              <a:t>결과 메일 · 승인 메일</a:t>
            </a:r>
            <a:endParaRPr lang="en-US" sz="1000" dirty="0"/>
          </a:p>
        </p:txBody>
      </p:sp>
      <p:sp>
        <p:nvSpPr>
          <p:cNvPr id="36" name="Shape 34"/>
          <p:cNvSpPr/>
          <p:nvPr/>
        </p:nvSpPr>
        <p:spPr>
          <a:xfrm>
            <a:off x="9966960" y="3337560"/>
            <a:ext cx="1691640" cy="640080"/>
          </a:xfrm>
          <a:prstGeom prst="roundRect">
            <a:avLst>
              <a:gd name="adj" fmla="val 14286"/>
            </a:avLst>
          </a:prstGeom>
          <a:solidFill>
            <a:srgbClr val="EEF3F9"/>
          </a:solidFill>
          <a:ln w="12700">
            <a:solidFill>
              <a:srgbClr val="EEF3F9"/>
            </a:solidFill>
            <a:prstDash val="solid"/>
          </a:ln>
        </p:spPr>
      </p:sp>
      <p:sp>
        <p:nvSpPr>
          <p:cNvPr id="37" name="Text 35"/>
          <p:cNvSpPr txBox="1"/>
          <p:nvPr/>
        </p:nvSpPr>
        <p:spPr>
          <a:xfrm>
            <a:off x="10076688" y="3429000"/>
            <a:ext cx="1472184" cy="320040"/>
          </a:xfrm>
          <a:prstGeom prst="rect">
            <a:avLst/>
          </a:prstGeom>
          <a:noFill/>
          <a:ln/>
        </p:spPr>
        <p:txBody>
          <a:bodyPr wrap="square" lIns="0" tIns="0" rIns="0" bIns="0" rtlCol="0" anchor="t"/>
          <a:lstStyle/>
          <a:p>
            <a:pPr indent="0" marL="0">
              <a:buNone/>
            </a:pPr>
            <a:r>
              <a:rPr lang="en-US" sz="1200" b="1" dirty="0">
                <a:solidFill>
                  <a:srgbClr val="0F1E3C"/>
                </a:solidFill>
                <a:latin typeface="Malgun Gothic" pitchFamily="34" charset="0"/>
                <a:ea typeface="Malgun Gothic" pitchFamily="34" charset="-122"/>
                <a:cs typeface="Malgun Gothic" pitchFamily="34" charset="-120"/>
              </a:rPr>
              <a:t>LLM</a:t>
            </a:r>
            <a:endParaRPr lang="en-US" sz="1200" dirty="0"/>
          </a:p>
        </p:txBody>
      </p:sp>
      <p:sp>
        <p:nvSpPr>
          <p:cNvPr id="38" name="Text 36"/>
          <p:cNvSpPr txBox="1"/>
          <p:nvPr/>
        </p:nvSpPr>
        <p:spPr>
          <a:xfrm>
            <a:off x="10076688" y="3749040"/>
            <a:ext cx="1472184" cy="182880"/>
          </a:xfrm>
          <a:prstGeom prst="rect">
            <a:avLst/>
          </a:prstGeom>
          <a:noFill/>
          <a:ln/>
        </p:spPr>
        <p:txBody>
          <a:bodyPr wrap="square" lIns="0" tIns="0" rIns="0" bIns="0" rtlCol="0" anchor="t"/>
          <a:lstStyle/>
          <a:p>
            <a:pPr indent="0" marL="0">
              <a:lnSpc>
                <a:spcPct val="115000"/>
              </a:lnSpc>
              <a:buNone/>
            </a:pPr>
            <a:r>
              <a:rPr lang="en-US" sz="1000" dirty="0">
                <a:solidFill>
                  <a:srgbClr val="0F1E3C"/>
                </a:solidFill>
                <a:latin typeface="Malgun Gothic" pitchFamily="34" charset="0"/>
                <a:ea typeface="Malgun Gothic" pitchFamily="34" charset="-122"/>
                <a:cs typeface="Malgun Gothic" pitchFamily="34" charset="-120"/>
              </a:rPr>
              <a:t>Claude API · 로컬 LLM · Dify</a:t>
            </a:r>
            <a:endParaRPr lang="en-US" sz="1000" dirty="0"/>
          </a:p>
        </p:txBody>
      </p:sp>
      <p:sp>
        <p:nvSpPr>
          <p:cNvPr id="39" name="Shape 37"/>
          <p:cNvSpPr/>
          <p:nvPr/>
        </p:nvSpPr>
        <p:spPr>
          <a:xfrm>
            <a:off x="2377440" y="2606040"/>
            <a:ext cx="822960" cy="0"/>
          </a:xfrm>
          <a:prstGeom prst="line">
            <a:avLst/>
          </a:prstGeom>
          <a:noFill/>
          <a:ln w="19050">
            <a:solidFill>
              <a:srgbClr val="6B7A90"/>
            </a:solidFill>
            <a:prstDash val="solid"/>
            <a:tailEnd type="triangle"/>
          </a:ln>
        </p:spPr>
      </p:sp>
      <p:sp>
        <p:nvSpPr>
          <p:cNvPr id="40" name="Shape 38"/>
          <p:cNvSpPr/>
          <p:nvPr/>
        </p:nvSpPr>
        <p:spPr>
          <a:xfrm flipV="1">
            <a:off x="2377440" y="3749040"/>
            <a:ext cx="822960" cy="685800"/>
          </a:xfrm>
          <a:prstGeom prst="line">
            <a:avLst/>
          </a:prstGeom>
          <a:noFill/>
          <a:ln w="19050">
            <a:solidFill>
              <a:srgbClr val="6B7A90"/>
            </a:solidFill>
            <a:prstDash val="solid"/>
            <a:tailEnd type="triangle"/>
          </a:ln>
        </p:spPr>
      </p:sp>
      <p:sp>
        <p:nvSpPr>
          <p:cNvPr id="41" name="Shape 39"/>
          <p:cNvSpPr/>
          <p:nvPr/>
        </p:nvSpPr>
        <p:spPr>
          <a:xfrm flipV="1">
            <a:off x="5943600" y="2103120"/>
            <a:ext cx="1280160" cy="1508760"/>
          </a:xfrm>
          <a:prstGeom prst="line">
            <a:avLst/>
          </a:prstGeom>
          <a:noFill/>
          <a:ln w="19050">
            <a:solidFill>
              <a:srgbClr val="6B7A90"/>
            </a:solidFill>
            <a:prstDash val="solid"/>
            <a:tailEnd type="triangle"/>
          </a:ln>
        </p:spPr>
      </p:sp>
      <p:sp>
        <p:nvSpPr>
          <p:cNvPr id="42" name="Shape 40"/>
          <p:cNvSpPr/>
          <p:nvPr/>
        </p:nvSpPr>
        <p:spPr>
          <a:xfrm flipV="1">
            <a:off x="5943600" y="3108960"/>
            <a:ext cx="1280160" cy="502920"/>
          </a:xfrm>
          <a:prstGeom prst="line">
            <a:avLst/>
          </a:prstGeom>
          <a:noFill/>
          <a:ln w="19050">
            <a:solidFill>
              <a:srgbClr val="6B7A90"/>
            </a:solidFill>
            <a:prstDash val="solid"/>
            <a:tailEnd type="triangle"/>
          </a:ln>
        </p:spPr>
      </p:sp>
      <p:sp>
        <p:nvSpPr>
          <p:cNvPr id="43" name="Shape 41"/>
          <p:cNvSpPr/>
          <p:nvPr/>
        </p:nvSpPr>
        <p:spPr>
          <a:xfrm>
            <a:off x="5943600" y="3611880"/>
            <a:ext cx="1280160" cy="502920"/>
          </a:xfrm>
          <a:prstGeom prst="line">
            <a:avLst/>
          </a:prstGeom>
          <a:noFill/>
          <a:ln w="19050">
            <a:solidFill>
              <a:srgbClr val="6B7A90"/>
            </a:solidFill>
            <a:prstDash val="solid"/>
            <a:tailEnd type="triangle"/>
          </a:ln>
        </p:spPr>
      </p:sp>
      <p:sp>
        <p:nvSpPr>
          <p:cNvPr id="44" name="Shape 42"/>
          <p:cNvSpPr/>
          <p:nvPr/>
        </p:nvSpPr>
        <p:spPr>
          <a:xfrm flipV="1">
            <a:off x="5943600" y="2011680"/>
            <a:ext cx="4023360" cy="1280160"/>
          </a:xfrm>
          <a:prstGeom prst="line">
            <a:avLst/>
          </a:prstGeom>
          <a:noFill/>
          <a:ln w="15875">
            <a:solidFill>
              <a:srgbClr val="D5DDE8"/>
            </a:solidFill>
            <a:prstDash val="solid"/>
            <a:tailEnd type="triangle"/>
          </a:ln>
        </p:spPr>
      </p:sp>
      <p:sp>
        <p:nvSpPr>
          <p:cNvPr id="45" name="Shape 43"/>
          <p:cNvSpPr/>
          <p:nvPr/>
        </p:nvSpPr>
        <p:spPr>
          <a:xfrm flipV="1">
            <a:off x="5943600" y="2834640"/>
            <a:ext cx="4023360" cy="548640"/>
          </a:xfrm>
          <a:prstGeom prst="line">
            <a:avLst/>
          </a:prstGeom>
          <a:noFill/>
          <a:ln w="15875">
            <a:solidFill>
              <a:srgbClr val="D5DDE8"/>
            </a:solidFill>
            <a:prstDash val="solid"/>
            <a:tailEnd type="triangle"/>
          </a:ln>
        </p:spPr>
      </p:sp>
      <p:sp>
        <p:nvSpPr>
          <p:cNvPr id="46" name="Shape 44"/>
          <p:cNvSpPr/>
          <p:nvPr/>
        </p:nvSpPr>
        <p:spPr>
          <a:xfrm>
            <a:off x="5943600" y="3474720"/>
            <a:ext cx="4023360" cy="182880"/>
          </a:xfrm>
          <a:prstGeom prst="line">
            <a:avLst/>
          </a:prstGeom>
          <a:noFill/>
          <a:ln w="15875">
            <a:solidFill>
              <a:srgbClr val="D5DDE8"/>
            </a:solidFill>
            <a:prstDash val="solid"/>
            <a:tailEnd type="triangle"/>
          </a:ln>
        </p:spPr>
      </p:sp>
      <p:sp>
        <p:nvSpPr>
          <p:cNvPr id="47" name="Text 45"/>
          <p:cNvSpPr txBox="1"/>
          <p:nvPr/>
        </p:nvSpPr>
        <p:spPr>
          <a:xfrm>
            <a:off x="7223760" y="1371600"/>
            <a:ext cx="2103120" cy="274320"/>
          </a:xfrm>
          <a:prstGeom prst="rect">
            <a:avLst/>
          </a:prstGeom>
          <a:noFill/>
          <a:ln/>
        </p:spPr>
        <p:txBody>
          <a:bodyPr wrap="square" lIns="0" tIns="0" rIns="0" bIns="0" rtlCol="0" anchor="t"/>
          <a:lstStyle/>
          <a:p>
            <a:pPr indent="0" marL="0">
              <a:buNone/>
            </a:pPr>
            <a:r>
              <a:rPr lang="en-US" sz="1000" b="1" dirty="0">
                <a:solidFill>
                  <a:srgbClr val="6B7A90"/>
                </a:solidFill>
                <a:latin typeface="Malgun Gothic" pitchFamily="34" charset="0"/>
                <a:ea typeface="Malgun Gothic" pitchFamily="34" charset="-122"/>
                <a:cs typeface="Malgun Gothic" pitchFamily="34" charset="-120"/>
              </a:rPr>
              <a:t>장비 · 계측기</a:t>
            </a:r>
            <a:endParaRPr lang="en-US" sz="1000" dirty="0"/>
          </a:p>
        </p:txBody>
      </p:sp>
      <p:sp>
        <p:nvSpPr>
          <p:cNvPr id="48" name="Text 46"/>
          <p:cNvSpPr txBox="1"/>
          <p:nvPr/>
        </p:nvSpPr>
        <p:spPr>
          <a:xfrm>
            <a:off x="9966960" y="1371600"/>
            <a:ext cx="1691640" cy="274320"/>
          </a:xfrm>
          <a:prstGeom prst="rect">
            <a:avLst/>
          </a:prstGeom>
          <a:noFill/>
          <a:ln/>
        </p:spPr>
        <p:txBody>
          <a:bodyPr wrap="square" lIns="0" tIns="0" rIns="0" bIns="0" rtlCol="0" anchor="t"/>
          <a:lstStyle/>
          <a:p>
            <a:pPr indent="0" marL="0">
              <a:buNone/>
            </a:pPr>
            <a:r>
              <a:rPr lang="en-US" sz="1000" b="1" dirty="0">
                <a:solidFill>
                  <a:srgbClr val="6B7A90"/>
                </a:solidFill>
                <a:latin typeface="Malgun Gothic" pitchFamily="34" charset="0"/>
                <a:ea typeface="Malgun Gothic" pitchFamily="34" charset="-122"/>
                <a:cs typeface="Malgun Gothic" pitchFamily="34" charset="-120"/>
              </a:rPr>
              <a:t>외부 시스템</a:t>
            </a:r>
            <a:endParaRPr lang="en-US" sz="1000" dirty="0"/>
          </a:p>
        </p:txBody>
      </p:sp>
      <p:sp>
        <p:nvSpPr>
          <p:cNvPr id="49" name="Shape 47"/>
          <p:cNvSpPr/>
          <p:nvPr/>
        </p:nvSpPr>
        <p:spPr>
          <a:xfrm>
            <a:off x="548640" y="5623560"/>
            <a:ext cx="457200" cy="457200"/>
          </a:xfrm>
          <a:prstGeom prst="ellipse">
            <a:avLst/>
          </a:prstGeom>
          <a:solidFill>
            <a:srgbClr val="EEF3F9"/>
          </a:solidFill>
          <a:ln w="12700">
            <a:solidFill>
              <a:srgbClr val="EEF3F9"/>
            </a:solidFill>
            <a:prstDash val="solid"/>
          </a:ln>
        </p:spPr>
      </p:sp>
      <p:pic>
        <p:nvPicPr>
          <p:cNvPr id="50" name="Image 0" descr="preencoded.png">    </p:cNvPr>
          <p:cNvPicPr>
            <a:picLocks noChangeAspect="1"/>
          </p:cNvPicPr>
          <p:nvPr/>
        </p:nvPicPr>
        <p:blipFill>
          <a:blip r:embed="rId1"/>
          <a:stretch>
            <a:fillRect/>
          </a:stretch>
        </p:blipFill>
        <p:spPr>
          <a:xfrm>
            <a:off x="672084" y="5747004"/>
            <a:ext cx="210312" cy="210312"/>
          </a:xfrm>
          <a:prstGeom prst="rect">
            <a:avLst/>
          </a:prstGeom>
        </p:spPr>
      </p:pic>
      <p:sp>
        <p:nvSpPr>
          <p:cNvPr id="51" name="Text 48"/>
          <p:cNvSpPr txBox="1"/>
          <p:nvPr/>
        </p:nvSpPr>
        <p:spPr>
          <a:xfrm>
            <a:off x="1143000" y="5596128"/>
            <a:ext cx="3017520" cy="274320"/>
          </a:xfrm>
          <a:prstGeom prst="rect">
            <a:avLst/>
          </a:prstGeom>
          <a:noFill/>
          <a:ln/>
        </p:spPr>
        <p:txBody>
          <a:bodyPr wrap="square" lIns="0" tIns="0" rIns="0" bIns="0" rtlCol="0" anchor="t"/>
          <a:lstStyle/>
          <a:p>
            <a:pPr indent="0" marL="0">
              <a:buNone/>
            </a:pPr>
            <a:r>
              <a:rPr lang="en-US" sz="1200" b="1" dirty="0">
                <a:solidFill>
                  <a:srgbClr val="0F1E3C"/>
                </a:solidFill>
                <a:latin typeface="Malgun Gothic" pitchFamily="34" charset="0"/>
                <a:ea typeface="Malgun Gothic" pitchFamily="34" charset="-122"/>
                <a:cs typeface="Malgun Gothic" pitchFamily="34" charset="-120"/>
              </a:rPr>
              <a:t>설치는 Docker 하나</a:t>
            </a:r>
            <a:endParaRPr lang="en-US" sz="1200" dirty="0"/>
          </a:p>
        </p:txBody>
      </p:sp>
      <p:sp>
        <p:nvSpPr>
          <p:cNvPr id="52" name="Text 49"/>
          <p:cNvSpPr txBox="1"/>
          <p:nvPr/>
        </p:nvSpPr>
        <p:spPr>
          <a:xfrm>
            <a:off x="1143000" y="5852160"/>
            <a:ext cx="3017520" cy="411480"/>
          </a:xfrm>
          <a:prstGeom prst="rect">
            <a:avLst/>
          </a:prstGeom>
          <a:noFill/>
          <a:ln/>
        </p:spPr>
        <p:txBody>
          <a:bodyPr wrap="square" lIns="0" tIns="0" rIns="0" bIns="0" rtlCol="0" anchor="t"/>
          <a:lstStyle/>
          <a:p>
            <a:pPr indent="0" marL="0">
              <a:buNone/>
            </a:pPr>
            <a:r>
              <a:rPr lang="en-US" sz="1000" dirty="0">
                <a:solidFill>
                  <a:srgbClr val="6B7A90"/>
                </a:solidFill>
                <a:latin typeface="Malgun Gothic" pitchFamily="34" charset="0"/>
                <a:ea typeface="Malgun Gothic" pitchFamily="34" charset="-122"/>
                <a:cs typeface="Malgun Gothic" pitchFamily="34" charset="-120"/>
              </a:rPr>
              <a:t>start 스크립트 한 번으로 최신 소스 → 빌드 → 기동 → 브라우저</a:t>
            </a:r>
            <a:endParaRPr lang="en-US" sz="1000" dirty="0"/>
          </a:p>
        </p:txBody>
      </p:sp>
      <p:sp>
        <p:nvSpPr>
          <p:cNvPr id="53" name="Shape 50"/>
          <p:cNvSpPr/>
          <p:nvPr/>
        </p:nvSpPr>
        <p:spPr>
          <a:xfrm>
            <a:off x="4297680" y="5623560"/>
            <a:ext cx="457200" cy="457200"/>
          </a:xfrm>
          <a:prstGeom prst="ellipse">
            <a:avLst/>
          </a:prstGeom>
          <a:solidFill>
            <a:srgbClr val="EEF3F9"/>
          </a:solidFill>
          <a:ln w="12700">
            <a:solidFill>
              <a:srgbClr val="EEF3F9"/>
            </a:solidFill>
            <a:prstDash val="solid"/>
          </a:ln>
        </p:spPr>
      </p:sp>
      <p:pic>
        <p:nvPicPr>
          <p:cNvPr id="54" name="Image 1" descr="preencoded.png">    </p:cNvPr>
          <p:cNvPicPr>
            <a:picLocks noChangeAspect="1"/>
          </p:cNvPicPr>
          <p:nvPr/>
        </p:nvPicPr>
        <p:blipFill>
          <a:blip r:embed="rId2"/>
          <a:stretch>
            <a:fillRect/>
          </a:stretch>
        </p:blipFill>
        <p:spPr>
          <a:xfrm>
            <a:off x="4421124" y="5747004"/>
            <a:ext cx="210312" cy="210312"/>
          </a:xfrm>
          <a:prstGeom prst="rect">
            <a:avLst/>
          </a:prstGeom>
        </p:spPr>
      </p:pic>
      <p:sp>
        <p:nvSpPr>
          <p:cNvPr id="55" name="Text 51"/>
          <p:cNvSpPr txBox="1"/>
          <p:nvPr/>
        </p:nvSpPr>
        <p:spPr>
          <a:xfrm>
            <a:off x="4892040" y="5596128"/>
            <a:ext cx="3017520" cy="274320"/>
          </a:xfrm>
          <a:prstGeom prst="rect">
            <a:avLst/>
          </a:prstGeom>
          <a:noFill/>
          <a:ln/>
        </p:spPr>
        <p:txBody>
          <a:bodyPr wrap="square" lIns="0" tIns="0" rIns="0" bIns="0" rtlCol="0" anchor="t"/>
          <a:lstStyle/>
          <a:p>
            <a:pPr indent="0" marL="0">
              <a:buNone/>
            </a:pPr>
            <a:r>
              <a:rPr lang="en-US" sz="1200" b="1" dirty="0">
                <a:solidFill>
                  <a:srgbClr val="0F1E3C"/>
                </a:solidFill>
                <a:latin typeface="Malgun Gothic" pitchFamily="34" charset="0"/>
                <a:ea typeface="Malgun Gothic" pitchFamily="34" charset="-122"/>
                <a:cs typeface="Malgun Gothic" pitchFamily="34" charset="-120"/>
              </a:rPr>
              <a:t>데이터는 볼륨에</a:t>
            </a:r>
            <a:endParaRPr lang="en-US" sz="1200" dirty="0"/>
          </a:p>
        </p:txBody>
      </p:sp>
      <p:sp>
        <p:nvSpPr>
          <p:cNvPr id="56" name="Text 52"/>
          <p:cNvSpPr txBox="1"/>
          <p:nvPr/>
        </p:nvSpPr>
        <p:spPr>
          <a:xfrm>
            <a:off x="4892040" y="5852160"/>
            <a:ext cx="3017520" cy="411480"/>
          </a:xfrm>
          <a:prstGeom prst="rect">
            <a:avLst/>
          </a:prstGeom>
          <a:noFill/>
          <a:ln/>
        </p:spPr>
        <p:txBody>
          <a:bodyPr wrap="square" lIns="0" tIns="0" rIns="0" bIns="0" rtlCol="0" anchor="t"/>
          <a:lstStyle/>
          <a:p>
            <a:pPr indent="0" marL="0">
              <a:buNone/>
            </a:pPr>
            <a:r>
              <a:rPr lang="en-US" sz="1000" dirty="0">
                <a:solidFill>
                  <a:srgbClr val="6B7A90"/>
                </a:solidFill>
                <a:latin typeface="Malgun Gothic" pitchFamily="34" charset="0"/>
                <a:ea typeface="Malgun Gothic" pitchFamily="34" charset="-122"/>
                <a:cs typeface="Malgun Gothic" pitchFamily="34" charset="-120"/>
              </a:rPr>
              <a:t>소스 트리에 운영 데이터가 없다. 백업은 볼륨 두 개만</a:t>
            </a:r>
            <a:endParaRPr lang="en-US" sz="1000" dirty="0"/>
          </a:p>
        </p:txBody>
      </p:sp>
      <p:sp>
        <p:nvSpPr>
          <p:cNvPr id="57" name="Shape 53"/>
          <p:cNvSpPr/>
          <p:nvPr/>
        </p:nvSpPr>
        <p:spPr>
          <a:xfrm>
            <a:off x="8046720" y="5623560"/>
            <a:ext cx="457200" cy="457200"/>
          </a:xfrm>
          <a:prstGeom prst="ellipse">
            <a:avLst/>
          </a:prstGeom>
          <a:solidFill>
            <a:srgbClr val="EEF3F9"/>
          </a:solidFill>
          <a:ln w="12700">
            <a:solidFill>
              <a:srgbClr val="EEF3F9"/>
            </a:solidFill>
            <a:prstDash val="solid"/>
          </a:ln>
        </p:spPr>
      </p:sp>
      <p:pic>
        <p:nvPicPr>
          <p:cNvPr id="58" name="Image 2" descr="preencoded.png">    </p:cNvPr>
          <p:cNvPicPr>
            <a:picLocks noChangeAspect="1"/>
          </p:cNvPicPr>
          <p:nvPr/>
        </p:nvPicPr>
        <p:blipFill>
          <a:blip r:embed="rId3"/>
          <a:stretch>
            <a:fillRect/>
          </a:stretch>
        </p:blipFill>
        <p:spPr>
          <a:xfrm>
            <a:off x="8170164" y="5747004"/>
            <a:ext cx="210312" cy="210312"/>
          </a:xfrm>
          <a:prstGeom prst="rect">
            <a:avLst/>
          </a:prstGeom>
        </p:spPr>
      </p:pic>
      <p:sp>
        <p:nvSpPr>
          <p:cNvPr id="59" name="Text 54"/>
          <p:cNvSpPr txBox="1"/>
          <p:nvPr/>
        </p:nvSpPr>
        <p:spPr>
          <a:xfrm>
            <a:off x="8641080" y="5596128"/>
            <a:ext cx="3017520" cy="274320"/>
          </a:xfrm>
          <a:prstGeom prst="rect">
            <a:avLst/>
          </a:prstGeom>
          <a:noFill/>
          <a:ln/>
        </p:spPr>
        <p:txBody>
          <a:bodyPr wrap="square" lIns="0" tIns="0" rIns="0" bIns="0" rtlCol="0" anchor="t"/>
          <a:lstStyle/>
          <a:p>
            <a:pPr indent="0" marL="0">
              <a:buNone/>
            </a:pPr>
            <a:r>
              <a:rPr lang="en-US" sz="1200" b="1" dirty="0">
                <a:solidFill>
                  <a:srgbClr val="0F1E3C"/>
                </a:solidFill>
                <a:latin typeface="Malgun Gothic" pitchFamily="34" charset="0"/>
                <a:ea typeface="Malgun Gothic" pitchFamily="34" charset="-122"/>
                <a:cs typeface="Malgun Gothic" pitchFamily="34" charset="-120"/>
              </a:rPr>
              <a:t>백엔드는 밖에 안 연다</a:t>
            </a:r>
            <a:endParaRPr lang="en-US" sz="1200" dirty="0"/>
          </a:p>
        </p:txBody>
      </p:sp>
      <p:sp>
        <p:nvSpPr>
          <p:cNvPr id="60" name="Text 55"/>
          <p:cNvSpPr txBox="1"/>
          <p:nvPr/>
        </p:nvSpPr>
        <p:spPr>
          <a:xfrm>
            <a:off x="8641080" y="5852160"/>
            <a:ext cx="3017520" cy="411480"/>
          </a:xfrm>
          <a:prstGeom prst="rect">
            <a:avLst/>
          </a:prstGeom>
          <a:noFill/>
          <a:ln/>
        </p:spPr>
        <p:txBody>
          <a:bodyPr wrap="square" lIns="0" tIns="0" rIns="0" bIns="0" rtlCol="0" anchor="t"/>
          <a:lstStyle/>
          <a:p>
            <a:pPr indent="0" marL="0">
              <a:buNone/>
            </a:pPr>
            <a:r>
              <a:rPr lang="en-US" sz="1000" dirty="0">
                <a:solidFill>
                  <a:srgbClr val="6B7A90"/>
                </a:solidFill>
                <a:latin typeface="Malgun Gothic" pitchFamily="34" charset="0"/>
                <a:ea typeface="Malgun Gothic" pitchFamily="34" charset="-122"/>
                <a:cs typeface="Malgun Gothic" pitchFamily="34" charset="-120"/>
              </a:rPr>
              <a:t>사용자는 web 포트 하나로만 들어오고 API 는 내부망에서만</a:t>
            </a:r>
            <a:endParaRPr lang="en-US" sz="1000" dirty="0"/>
          </a:p>
        </p:txBody>
      </p:sp>
      <p:sp>
        <p:nvSpPr>
          <p:cNvPr id="61" name="Text 56"/>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A0ABBC"/>
                </a:solidFill>
                <a:latin typeface="Malgun Gothic" pitchFamily="34" charset="0"/>
                <a:ea typeface="Malgun Gothic" pitchFamily="34" charset="-122"/>
                <a:cs typeface="Malgun Gothic" pitchFamily="34" charset="-120"/>
              </a:rPr>
              <a:t>UTOP  ·  Ubiquoss Test Orchestration Platform</a:t>
            </a:r>
            <a:endParaRPr lang="en-US" sz="900" dirty="0"/>
          </a:p>
        </p:txBody>
      </p:sp>
      <p:sp>
        <p:nvSpPr>
          <p:cNvPr id="62" name="Text 57"/>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A0ABBC"/>
                </a:solidFill>
                <a:latin typeface="Malgun Gothic" pitchFamily="34" charset="0"/>
                <a:ea typeface="Malgun Gothic" pitchFamily="34" charset="-122"/>
                <a:cs typeface="Malgun Gothic"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t"/>
          <a:lstStyle/>
          <a:p>
            <a:pPr indent="0" marL="0">
              <a:buNone/>
            </a:pPr>
            <a:r>
              <a:rPr lang="en-US" sz="3000" b="1" dirty="0">
                <a:solidFill>
                  <a:srgbClr val="0F1E3C"/>
                </a:solidFill>
                <a:latin typeface="Malgun Gothic" pitchFamily="34" charset="0"/>
                <a:ea typeface="Malgun Gothic" pitchFamily="34" charset="-122"/>
                <a:cs typeface="Malgun Gothic" pitchFamily="34" charset="-120"/>
              </a:rPr>
              <a:t>화면 구성</a:t>
            </a:r>
            <a:endParaRPr lang="en-US" sz="3000" dirty="0"/>
          </a:p>
        </p:txBody>
      </p:sp>
      <p:sp>
        <p:nvSpPr>
          <p:cNvPr id="3" name="Text 1"/>
          <p:cNvSpPr txBox="1"/>
          <p:nvPr/>
        </p:nvSpPr>
        <p:spPr>
          <a:xfrm>
            <a:off x="548640" y="1024128"/>
            <a:ext cx="11094415" cy="365760"/>
          </a:xfrm>
          <a:prstGeom prst="rect">
            <a:avLst/>
          </a:prstGeom>
          <a:noFill/>
          <a:ln/>
        </p:spPr>
        <p:txBody>
          <a:bodyPr wrap="square" lIns="0" tIns="0" rIns="0" bIns="0" rtlCol="0" anchor="t"/>
          <a:lstStyle/>
          <a:p>
            <a:pPr indent="0" marL="0">
              <a:buNone/>
            </a:pPr>
            <a:r>
              <a:rPr lang="en-US" sz="1400" dirty="0">
                <a:solidFill>
                  <a:srgbClr val="6B7A90"/>
                </a:solidFill>
                <a:latin typeface="Malgun Gothic" pitchFamily="34" charset="0"/>
                <a:ea typeface="Malgun Gothic" pitchFamily="34" charset="-122"/>
                <a:cs typeface="Malgun Gothic" pitchFamily="34" charset="-120"/>
              </a:rPr>
              <a:t>왼쪽 메뉴 다섯 묶음. 같은 일을 하는 자리는 하나만 둔다</a:t>
            </a:r>
            <a:endParaRPr lang="en-US" sz="1400" dirty="0"/>
          </a:p>
        </p:txBody>
      </p:sp>
      <p:sp>
        <p:nvSpPr>
          <p:cNvPr id="4" name="Shape 2"/>
          <p:cNvSpPr/>
          <p:nvPr/>
        </p:nvSpPr>
        <p:spPr>
          <a:xfrm>
            <a:off x="548640" y="1691640"/>
            <a:ext cx="2036003" cy="4343400"/>
          </a:xfrm>
          <a:prstGeom prst="roundRect">
            <a:avLst>
              <a:gd name="adj" fmla="val 5389"/>
            </a:avLst>
          </a:prstGeom>
          <a:solidFill>
            <a:srgbClr val="EEF3F9"/>
          </a:solidFill>
          <a:ln w="12700">
            <a:solidFill>
              <a:srgbClr val="EEF3F9"/>
            </a:solidFill>
            <a:prstDash val="solid"/>
          </a:ln>
        </p:spPr>
      </p:sp>
      <p:sp>
        <p:nvSpPr>
          <p:cNvPr id="5" name="Shape 3"/>
          <p:cNvSpPr/>
          <p:nvPr/>
        </p:nvSpPr>
        <p:spPr>
          <a:xfrm>
            <a:off x="731520" y="1874520"/>
            <a:ext cx="1670243" cy="384048"/>
          </a:xfrm>
          <a:prstGeom prst="roundRect">
            <a:avLst>
              <a:gd name="adj" fmla="val 19048"/>
            </a:avLst>
          </a:prstGeom>
          <a:solidFill>
            <a:srgbClr val="12A594"/>
          </a:solidFill>
          <a:ln w="12700">
            <a:solidFill>
              <a:srgbClr val="12A594"/>
            </a:solidFill>
            <a:prstDash val="solid"/>
          </a:ln>
        </p:spPr>
      </p:sp>
      <p:sp>
        <p:nvSpPr>
          <p:cNvPr id="6" name="Text 4"/>
          <p:cNvSpPr txBox="1"/>
          <p:nvPr/>
        </p:nvSpPr>
        <p:spPr>
          <a:xfrm>
            <a:off x="731520" y="1874520"/>
            <a:ext cx="1670243"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QUALITY</a:t>
            </a:r>
            <a:endParaRPr lang="en-US" sz="1200" dirty="0"/>
          </a:p>
        </p:txBody>
      </p:sp>
      <p:sp>
        <p:nvSpPr>
          <p:cNvPr id="7" name="Shape 5"/>
          <p:cNvSpPr/>
          <p:nvPr/>
        </p:nvSpPr>
        <p:spPr>
          <a:xfrm>
            <a:off x="731520" y="2514600"/>
            <a:ext cx="411480" cy="411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842620" y="2625700"/>
            <a:ext cx="189281" cy="189281"/>
          </a:xfrm>
          <a:prstGeom prst="rect">
            <a:avLst/>
          </a:prstGeom>
        </p:spPr>
      </p:pic>
      <p:sp>
        <p:nvSpPr>
          <p:cNvPr id="9" name="Text 6"/>
          <p:cNvSpPr txBox="1"/>
          <p:nvPr/>
        </p:nvSpPr>
        <p:spPr>
          <a:xfrm>
            <a:off x="1207008" y="2496312"/>
            <a:ext cx="1258763" cy="274320"/>
          </a:xfrm>
          <a:prstGeom prst="rect">
            <a:avLst/>
          </a:prstGeom>
          <a:noFill/>
          <a:ln/>
        </p:spPr>
        <p:txBody>
          <a:bodyPr wrap="square" lIns="0" tIns="0" rIns="0" bIns="0" rtlCol="0" anchor="t"/>
          <a:lstStyle/>
          <a:p>
            <a:pPr indent="0" marL="0">
              <a:buNone/>
            </a:pPr>
            <a:r>
              <a:rPr lang="en-US" sz="1150" b="1" dirty="0">
                <a:solidFill>
                  <a:srgbClr val="0F1E3C"/>
                </a:solidFill>
                <a:latin typeface="Malgun Gothic" pitchFamily="34" charset="0"/>
                <a:ea typeface="Malgun Gothic" pitchFamily="34" charset="-122"/>
                <a:cs typeface="Malgun Gothic" pitchFamily="34" charset="-120"/>
              </a:rPr>
              <a:t>WIKI</a:t>
            </a:r>
            <a:endParaRPr lang="en-US" sz="1150" dirty="0"/>
          </a:p>
        </p:txBody>
      </p:sp>
      <p:sp>
        <p:nvSpPr>
          <p:cNvPr id="10" name="Text 7"/>
          <p:cNvSpPr txBox="1"/>
          <p:nvPr/>
        </p:nvSpPr>
        <p:spPr>
          <a:xfrm>
            <a:off x="1207008" y="2761488"/>
            <a:ext cx="1258763" cy="640080"/>
          </a:xfrm>
          <a:prstGeom prst="rect">
            <a:avLst/>
          </a:prstGeom>
          <a:noFill/>
          <a:ln/>
        </p:spPr>
        <p:txBody>
          <a:bodyPr wrap="square" lIns="0" tIns="0" rIns="0" bIns="0" rtlCol="0" anchor="t"/>
          <a:lstStyle/>
          <a:p>
            <a:pPr indent="0" marL="0">
              <a:lnSpc>
                <a:spcPct val="115000"/>
              </a:lnSpc>
              <a:buNone/>
            </a:pPr>
            <a:r>
              <a:rPr lang="en-US" sz="1000" dirty="0">
                <a:solidFill>
                  <a:srgbClr val="6B7A90"/>
                </a:solidFill>
                <a:latin typeface="Malgun Gothic" pitchFamily="34" charset="0"/>
                <a:ea typeface="Malgun Gothic" pitchFamily="34" charset="-122"/>
                <a:cs typeface="Malgun Gothic" pitchFamily="34" charset="-120"/>
              </a:rPr>
              <a:t>규격 · 절차 문서</a:t>
            </a:r>
            <a:endParaRPr lang="en-US" sz="1000" dirty="0"/>
          </a:p>
        </p:txBody>
      </p:sp>
      <p:sp>
        <p:nvSpPr>
          <p:cNvPr id="11" name="Shape 8"/>
          <p:cNvSpPr/>
          <p:nvPr/>
        </p:nvSpPr>
        <p:spPr>
          <a:xfrm>
            <a:off x="731520" y="3657600"/>
            <a:ext cx="411480" cy="41148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842620" y="3768700"/>
            <a:ext cx="189281" cy="189281"/>
          </a:xfrm>
          <a:prstGeom prst="rect">
            <a:avLst/>
          </a:prstGeom>
        </p:spPr>
      </p:pic>
      <p:sp>
        <p:nvSpPr>
          <p:cNvPr id="13" name="Text 9"/>
          <p:cNvSpPr txBox="1"/>
          <p:nvPr/>
        </p:nvSpPr>
        <p:spPr>
          <a:xfrm>
            <a:off x="1207008" y="3639312"/>
            <a:ext cx="1258763" cy="274320"/>
          </a:xfrm>
          <a:prstGeom prst="rect">
            <a:avLst/>
          </a:prstGeom>
          <a:noFill/>
          <a:ln/>
        </p:spPr>
        <p:txBody>
          <a:bodyPr wrap="square" lIns="0" tIns="0" rIns="0" bIns="0" rtlCol="0" anchor="t"/>
          <a:lstStyle/>
          <a:p>
            <a:pPr indent="0" marL="0">
              <a:buNone/>
            </a:pPr>
            <a:r>
              <a:rPr lang="en-US" sz="1150" b="1" dirty="0">
                <a:solidFill>
                  <a:srgbClr val="0F1E3C"/>
                </a:solidFill>
                <a:latin typeface="Malgun Gothic" pitchFamily="34" charset="0"/>
                <a:ea typeface="Malgun Gothic" pitchFamily="34" charset="-122"/>
                <a:cs typeface="Malgun Gothic" pitchFamily="34" charset="-120"/>
              </a:rPr>
              <a:t>REQ-Coverage</a:t>
            </a:r>
            <a:endParaRPr lang="en-US" sz="1150" dirty="0"/>
          </a:p>
        </p:txBody>
      </p:sp>
      <p:sp>
        <p:nvSpPr>
          <p:cNvPr id="14" name="Text 10"/>
          <p:cNvSpPr txBox="1"/>
          <p:nvPr/>
        </p:nvSpPr>
        <p:spPr>
          <a:xfrm>
            <a:off x="1207008" y="3904488"/>
            <a:ext cx="1258763" cy="640080"/>
          </a:xfrm>
          <a:prstGeom prst="rect">
            <a:avLst/>
          </a:prstGeom>
          <a:noFill/>
          <a:ln/>
        </p:spPr>
        <p:txBody>
          <a:bodyPr wrap="square" lIns="0" tIns="0" rIns="0" bIns="0" rtlCol="0" anchor="t"/>
          <a:lstStyle/>
          <a:p>
            <a:pPr indent="0" marL="0">
              <a:lnSpc>
                <a:spcPct val="115000"/>
              </a:lnSpc>
              <a:buNone/>
            </a:pPr>
            <a:r>
              <a:rPr lang="en-US" sz="1000" dirty="0">
                <a:solidFill>
                  <a:srgbClr val="6B7A90"/>
                </a:solidFill>
                <a:latin typeface="Malgun Gothic" pitchFamily="34" charset="0"/>
                <a:ea typeface="Malgun Gothic" pitchFamily="34" charset="-122"/>
                <a:cs typeface="Malgun Gothic" pitchFamily="34" charset="-120"/>
              </a:rPr>
              <a:t>요구사항 ↔ 시험 항목</a:t>
            </a:r>
            <a:endParaRPr lang="en-US" sz="1000" dirty="0"/>
          </a:p>
        </p:txBody>
      </p:sp>
      <p:sp>
        <p:nvSpPr>
          <p:cNvPr id="15" name="Shape 11"/>
          <p:cNvSpPr/>
          <p:nvPr/>
        </p:nvSpPr>
        <p:spPr>
          <a:xfrm>
            <a:off x="731520" y="4800600"/>
            <a:ext cx="411480" cy="411480"/>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842620" y="4911700"/>
            <a:ext cx="189281" cy="189281"/>
          </a:xfrm>
          <a:prstGeom prst="rect">
            <a:avLst/>
          </a:prstGeom>
        </p:spPr>
      </p:pic>
      <p:sp>
        <p:nvSpPr>
          <p:cNvPr id="17" name="Text 12"/>
          <p:cNvSpPr txBox="1"/>
          <p:nvPr/>
        </p:nvSpPr>
        <p:spPr>
          <a:xfrm>
            <a:off x="1207008" y="4782312"/>
            <a:ext cx="1258763" cy="274320"/>
          </a:xfrm>
          <a:prstGeom prst="rect">
            <a:avLst/>
          </a:prstGeom>
          <a:noFill/>
          <a:ln/>
        </p:spPr>
        <p:txBody>
          <a:bodyPr wrap="square" lIns="0" tIns="0" rIns="0" bIns="0" rtlCol="0" anchor="t"/>
          <a:lstStyle/>
          <a:p>
            <a:pPr indent="0" marL="0">
              <a:buNone/>
            </a:pPr>
            <a:r>
              <a:rPr lang="en-US" sz="1150" b="1" dirty="0">
                <a:solidFill>
                  <a:srgbClr val="0F1E3C"/>
                </a:solidFill>
                <a:latin typeface="Malgun Gothic" pitchFamily="34" charset="0"/>
                <a:ea typeface="Malgun Gothic" pitchFamily="34" charset="-122"/>
                <a:cs typeface="Malgun Gothic" pitchFamily="34" charset="-120"/>
              </a:rPr>
              <a:t>Cycles</a:t>
            </a:r>
            <a:endParaRPr lang="en-US" sz="1150" dirty="0"/>
          </a:p>
        </p:txBody>
      </p:sp>
      <p:sp>
        <p:nvSpPr>
          <p:cNvPr id="18" name="Text 13"/>
          <p:cNvSpPr txBox="1"/>
          <p:nvPr/>
        </p:nvSpPr>
        <p:spPr>
          <a:xfrm>
            <a:off x="1207008" y="5047488"/>
            <a:ext cx="1258763" cy="640080"/>
          </a:xfrm>
          <a:prstGeom prst="rect">
            <a:avLst/>
          </a:prstGeom>
          <a:noFill/>
          <a:ln/>
        </p:spPr>
        <p:txBody>
          <a:bodyPr wrap="square" lIns="0" tIns="0" rIns="0" bIns="0" rtlCol="0" anchor="t"/>
          <a:lstStyle/>
          <a:p>
            <a:pPr indent="0" marL="0">
              <a:lnSpc>
                <a:spcPct val="115000"/>
              </a:lnSpc>
              <a:buNone/>
            </a:pPr>
            <a:r>
              <a:rPr lang="en-US" sz="1000" dirty="0">
                <a:solidFill>
                  <a:srgbClr val="6B7A90"/>
                </a:solidFill>
                <a:latin typeface="Malgun Gothic" pitchFamily="34" charset="0"/>
                <a:ea typeface="Malgun Gothic" pitchFamily="34" charset="-122"/>
                <a:cs typeface="Malgun Gothic" pitchFamily="34" charset="-120"/>
              </a:rPr>
              <a:t>플랜 · 실행 · 결과서</a:t>
            </a:r>
            <a:endParaRPr lang="en-US" sz="1000" dirty="0"/>
          </a:p>
        </p:txBody>
      </p:sp>
      <p:sp>
        <p:nvSpPr>
          <p:cNvPr id="19" name="Shape 14"/>
          <p:cNvSpPr/>
          <p:nvPr/>
        </p:nvSpPr>
        <p:spPr>
          <a:xfrm>
            <a:off x="2813243" y="1691640"/>
            <a:ext cx="2036003" cy="4343400"/>
          </a:xfrm>
          <a:prstGeom prst="roundRect">
            <a:avLst>
              <a:gd name="adj" fmla="val 5389"/>
            </a:avLst>
          </a:prstGeom>
          <a:solidFill>
            <a:srgbClr val="EEF3F9"/>
          </a:solidFill>
          <a:ln w="12700">
            <a:solidFill>
              <a:srgbClr val="EEF3F9"/>
            </a:solidFill>
            <a:prstDash val="solid"/>
          </a:ln>
        </p:spPr>
      </p:sp>
      <p:sp>
        <p:nvSpPr>
          <p:cNvPr id="20" name="Shape 15"/>
          <p:cNvSpPr/>
          <p:nvPr/>
        </p:nvSpPr>
        <p:spPr>
          <a:xfrm>
            <a:off x="2996123" y="1874520"/>
            <a:ext cx="1670243" cy="384048"/>
          </a:xfrm>
          <a:prstGeom prst="roundRect">
            <a:avLst>
              <a:gd name="adj" fmla="val 19048"/>
            </a:avLst>
          </a:prstGeom>
          <a:solidFill>
            <a:srgbClr val="1B2F5C"/>
          </a:solidFill>
          <a:ln w="12700">
            <a:solidFill>
              <a:srgbClr val="1B2F5C"/>
            </a:solidFill>
            <a:prstDash val="solid"/>
          </a:ln>
        </p:spPr>
      </p:sp>
      <p:sp>
        <p:nvSpPr>
          <p:cNvPr id="21" name="Text 16"/>
          <p:cNvSpPr txBox="1"/>
          <p:nvPr/>
        </p:nvSpPr>
        <p:spPr>
          <a:xfrm>
            <a:off x="2996123" y="1874520"/>
            <a:ext cx="1670243"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RESOURCES</a:t>
            </a:r>
            <a:endParaRPr lang="en-US" sz="1200" dirty="0"/>
          </a:p>
        </p:txBody>
      </p:sp>
      <p:sp>
        <p:nvSpPr>
          <p:cNvPr id="22" name="Shape 17"/>
          <p:cNvSpPr/>
          <p:nvPr/>
        </p:nvSpPr>
        <p:spPr>
          <a:xfrm>
            <a:off x="2996123" y="2514600"/>
            <a:ext cx="411480" cy="411480"/>
          </a:xfrm>
          <a:prstGeom prst="ellipse">
            <a:avLst/>
          </a:prstGeom>
          <a:solidFill>
            <a:srgbClr val="FFFFFF"/>
          </a:solidFill>
          <a:ln w="12700">
            <a:solidFill>
              <a:srgbClr val="FFFFFF"/>
            </a:solidFill>
            <a:prstDash val="solid"/>
          </a:ln>
        </p:spPr>
      </p:sp>
      <p:pic>
        <p:nvPicPr>
          <p:cNvPr id="23" name="Image 3" descr="preencoded.png">    </p:cNvPr>
          <p:cNvPicPr>
            <a:picLocks noChangeAspect="1"/>
          </p:cNvPicPr>
          <p:nvPr/>
        </p:nvPicPr>
        <p:blipFill>
          <a:blip r:embed="rId4"/>
          <a:stretch>
            <a:fillRect/>
          </a:stretch>
        </p:blipFill>
        <p:spPr>
          <a:xfrm>
            <a:off x="3107223" y="2625700"/>
            <a:ext cx="189281" cy="189281"/>
          </a:xfrm>
          <a:prstGeom prst="rect">
            <a:avLst/>
          </a:prstGeom>
        </p:spPr>
      </p:pic>
      <p:sp>
        <p:nvSpPr>
          <p:cNvPr id="24" name="Text 18"/>
          <p:cNvSpPr txBox="1"/>
          <p:nvPr/>
        </p:nvSpPr>
        <p:spPr>
          <a:xfrm>
            <a:off x="3471611" y="2496312"/>
            <a:ext cx="1258763" cy="274320"/>
          </a:xfrm>
          <a:prstGeom prst="rect">
            <a:avLst/>
          </a:prstGeom>
          <a:noFill/>
          <a:ln/>
        </p:spPr>
        <p:txBody>
          <a:bodyPr wrap="square" lIns="0" tIns="0" rIns="0" bIns="0" rtlCol="0" anchor="t"/>
          <a:lstStyle/>
          <a:p>
            <a:pPr indent="0" marL="0">
              <a:buNone/>
            </a:pPr>
            <a:r>
              <a:rPr lang="en-US" sz="1150" b="1" dirty="0">
                <a:solidFill>
                  <a:srgbClr val="0F1E3C"/>
                </a:solidFill>
                <a:latin typeface="Malgun Gothic" pitchFamily="34" charset="0"/>
                <a:ea typeface="Malgun Gothic" pitchFamily="34" charset="-122"/>
                <a:cs typeface="Malgun Gothic" pitchFamily="34" charset="-120"/>
              </a:rPr>
              <a:t>Devices</a:t>
            </a:r>
            <a:endParaRPr lang="en-US" sz="1150" dirty="0"/>
          </a:p>
        </p:txBody>
      </p:sp>
      <p:sp>
        <p:nvSpPr>
          <p:cNvPr id="25" name="Text 19"/>
          <p:cNvSpPr txBox="1"/>
          <p:nvPr/>
        </p:nvSpPr>
        <p:spPr>
          <a:xfrm>
            <a:off x="3471611" y="2761488"/>
            <a:ext cx="1258763" cy="640080"/>
          </a:xfrm>
          <a:prstGeom prst="rect">
            <a:avLst/>
          </a:prstGeom>
          <a:noFill/>
          <a:ln/>
        </p:spPr>
        <p:txBody>
          <a:bodyPr wrap="square" lIns="0" tIns="0" rIns="0" bIns="0" rtlCol="0" anchor="t"/>
          <a:lstStyle/>
          <a:p>
            <a:pPr indent="0" marL="0">
              <a:lnSpc>
                <a:spcPct val="115000"/>
              </a:lnSpc>
              <a:buNone/>
            </a:pPr>
            <a:r>
              <a:rPr lang="en-US" sz="1000" dirty="0">
                <a:solidFill>
                  <a:srgbClr val="6B7A90"/>
                </a:solidFill>
                <a:latin typeface="Malgun Gothic" pitchFamily="34" charset="0"/>
                <a:ea typeface="Malgun Gothic" pitchFamily="34" charset="-122"/>
                <a:cs typeface="Malgun Gothic" pitchFamily="34" charset="-120"/>
              </a:rPr>
              <a:t>장비 등록 · 접속 · 카탈로그</a:t>
            </a:r>
            <a:endParaRPr lang="en-US" sz="1000" dirty="0"/>
          </a:p>
        </p:txBody>
      </p:sp>
      <p:sp>
        <p:nvSpPr>
          <p:cNvPr id="26" name="Shape 20"/>
          <p:cNvSpPr/>
          <p:nvPr/>
        </p:nvSpPr>
        <p:spPr>
          <a:xfrm>
            <a:off x="2996123" y="3657600"/>
            <a:ext cx="411480" cy="411480"/>
          </a:xfrm>
          <a:prstGeom prst="ellipse">
            <a:avLst/>
          </a:prstGeom>
          <a:solidFill>
            <a:srgbClr val="FFFFFF"/>
          </a:solidFill>
          <a:ln w="12700">
            <a:solidFill>
              <a:srgbClr val="FFFFFF"/>
            </a:solidFill>
            <a:prstDash val="solid"/>
          </a:ln>
        </p:spPr>
      </p:sp>
      <p:pic>
        <p:nvPicPr>
          <p:cNvPr id="27" name="Image 4" descr="preencoded.png">    </p:cNvPr>
          <p:cNvPicPr>
            <a:picLocks noChangeAspect="1"/>
          </p:cNvPicPr>
          <p:nvPr/>
        </p:nvPicPr>
        <p:blipFill>
          <a:blip r:embed="rId5"/>
          <a:stretch>
            <a:fillRect/>
          </a:stretch>
        </p:blipFill>
        <p:spPr>
          <a:xfrm>
            <a:off x="3107223" y="3768700"/>
            <a:ext cx="189281" cy="189281"/>
          </a:xfrm>
          <a:prstGeom prst="rect">
            <a:avLst/>
          </a:prstGeom>
        </p:spPr>
      </p:pic>
      <p:sp>
        <p:nvSpPr>
          <p:cNvPr id="28" name="Text 21"/>
          <p:cNvSpPr txBox="1"/>
          <p:nvPr/>
        </p:nvSpPr>
        <p:spPr>
          <a:xfrm>
            <a:off x="3471611" y="3639312"/>
            <a:ext cx="1258763" cy="274320"/>
          </a:xfrm>
          <a:prstGeom prst="rect">
            <a:avLst/>
          </a:prstGeom>
          <a:noFill/>
          <a:ln/>
        </p:spPr>
        <p:txBody>
          <a:bodyPr wrap="square" lIns="0" tIns="0" rIns="0" bIns="0" rtlCol="0" anchor="t"/>
          <a:lstStyle/>
          <a:p>
            <a:pPr indent="0" marL="0">
              <a:buNone/>
            </a:pPr>
            <a:r>
              <a:rPr lang="en-US" sz="1150" b="1" dirty="0">
                <a:solidFill>
                  <a:srgbClr val="0F1E3C"/>
                </a:solidFill>
                <a:latin typeface="Malgun Gothic" pitchFamily="34" charset="0"/>
                <a:ea typeface="Malgun Gothic" pitchFamily="34" charset="-122"/>
                <a:cs typeface="Malgun Gothic" pitchFamily="34" charset="-120"/>
              </a:rPr>
              <a:t>Traffic Gen</a:t>
            </a:r>
            <a:endParaRPr lang="en-US" sz="1150" dirty="0"/>
          </a:p>
        </p:txBody>
      </p:sp>
      <p:sp>
        <p:nvSpPr>
          <p:cNvPr id="29" name="Text 22"/>
          <p:cNvSpPr txBox="1"/>
          <p:nvPr/>
        </p:nvSpPr>
        <p:spPr>
          <a:xfrm>
            <a:off x="3471611" y="3904488"/>
            <a:ext cx="1258763" cy="640080"/>
          </a:xfrm>
          <a:prstGeom prst="rect">
            <a:avLst/>
          </a:prstGeom>
          <a:noFill/>
          <a:ln/>
        </p:spPr>
        <p:txBody>
          <a:bodyPr wrap="square" lIns="0" tIns="0" rIns="0" bIns="0" rtlCol="0" anchor="t"/>
          <a:lstStyle/>
          <a:p>
            <a:pPr indent="0" marL="0">
              <a:lnSpc>
                <a:spcPct val="115000"/>
              </a:lnSpc>
              <a:buNone/>
            </a:pPr>
            <a:r>
              <a:rPr lang="en-US" sz="1000" dirty="0">
                <a:solidFill>
                  <a:srgbClr val="6B7A90"/>
                </a:solidFill>
                <a:latin typeface="Malgun Gothic" pitchFamily="34" charset="0"/>
                <a:ea typeface="Malgun Gothic" pitchFamily="34" charset="-122"/>
                <a:cs typeface="Malgun Gothic" pitchFamily="34" charset="-120"/>
              </a:rPr>
              <a:t>N2X · STC 포트 현황</a:t>
            </a:r>
            <a:endParaRPr lang="en-US" sz="1000" dirty="0"/>
          </a:p>
        </p:txBody>
      </p:sp>
      <p:sp>
        <p:nvSpPr>
          <p:cNvPr id="30" name="Shape 23"/>
          <p:cNvSpPr/>
          <p:nvPr/>
        </p:nvSpPr>
        <p:spPr>
          <a:xfrm>
            <a:off x="2996123" y="4800600"/>
            <a:ext cx="411480" cy="411480"/>
          </a:xfrm>
          <a:prstGeom prst="ellipse">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3107223" y="4911700"/>
            <a:ext cx="189281" cy="189281"/>
          </a:xfrm>
          <a:prstGeom prst="rect">
            <a:avLst/>
          </a:prstGeom>
        </p:spPr>
      </p:pic>
      <p:sp>
        <p:nvSpPr>
          <p:cNvPr id="32" name="Text 24"/>
          <p:cNvSpPr txBox="1"/>
          <p:nvPr/>
        </p:nvSpPr>
        <p:spPr>
          <a:xfrm>
            <a:off x="3471611" y="4782312"/>
            <a:ext cx="1258763" cy="274320"/>
          </a:xfrm>
          <a:prstGeom prst="rect">
            <a:avLst/>
          </a:prstGeom>
          <a:noFill/>
          <a:ln/>
        </p:spPr>
        <p:txBody>
          <a:bodyPr wrap="square" lIns="0" tIns="0" rIns="0" bIns="0" rtlCol="0" anchor="t"/>
          <a:lstStyle/>
          <a:p>
            <a:pPr indent="0" marL="0">
              <a:buNone/>
            </a:pPr>
            <a:r>
              <a:rPr lang="en-US" sz="1150" b="1" dirty="0">
                <a:solidFill>
                  <a:srgbClr val="0F1E3C"/>
                </a:solidFill>
                <a:latin typeface="Malgun Gothic" pitchFamily="34" charset="0"/>
                <a:ea typeface="Malgun Gothic" pitchFamily="34" charset="-122"/>
                <a:cs typeface="Malgun Gothic" pitchFamily="34" charset="-120"/>
              </a:rPr>
              <a:t>Rack View</a:t>
            </a:r>
            <a:endParaRPr lang="en-US" sz="1150" dirty="0"/>
          </a:p>
        </p:txBody>
      </p:sp>
      <p:sp>
        <p:nvSpPr>
          <p:cNvPr id="33" name="Text 25"/>
          <p:cNvSpPr txBox="1"/>
          <p:nvPr/>
        </p:nvSpPr>
        <p:spPr>
          <a:xfrm>
            <a:off x="3471611" y="5047488"/>
            <a:ext cx="1258763" cy="640080"/>
          </a:xfrm>
          <a:prstGeom prst="rect">
            <a:avLst/>
          </a:prstGeom>
          <a:noFill/>
          <a:ln/>
        </p:spPr>
        <p:txBody>
          <a:bodyPr wrap="square" lIns="0" tIns="0" rIns="0" bIns="0" rtlCol="0" anchor="t"/>
          <a:lstStyle/>
          <a:p>
            <a:pPr indent="0" marL="0">
              <a:lnSpc>
                <a:spcPct val="115000"/>
              </a:lnSpc>
              <a:buNone/>
            </a:pPr>
            <a:r>
              <a:rPr lang="en-US" sz="1000" dirty="0">
                <a:solidFill>
                  <a:srgbClr val="6B7A90"/>
                </a:solidFill>
                <a:latin typeface="Malgun Gothic" pitchFamily="34" charset="0"/>
                <a:ea typeface="Malgun Gothic" pitchFamily="34" charset="-122"/>
                <a:cs typeface="Malgun Gothic" pitchFamily="34" charset="-120"/>
              </a:rPr>
              <a:t>랙 실장도 · 접속 LED</a:t>
            </a:r>
            <a:endParaRPr lang="en-US" sz="1000" dirty="0"/>
          </a:p>
        </p:txBody>
      </p:sp>
      <p:sp>
        <p:nvSpPr>
          <p:cNvPr id="34" name="Shape 26"/>
          <p:cNvSpPr/>
          <p:nvPr/>
        </p:nvSpPr>
        <p:spPr>
          <a:xfrm>
            <a:off x="5077846" y="1691640"/>
            <a:ext cx="2036003" cy="4343400"/>
          </a:xfrm>
          <a:prstGeom prst="roundRect">
            <a:avLst>
              <a:gd name="adj" fmla="val 5389"/>
            </a:avLst>
          </a:prstGeom>
          <a:solidFill>
            <a:srgbClr val="EEF3F9"/>
          </a:solidFill>
          <a:ln w="12700">
            <a:solidFill>
              <a:srgbClr val="EEF3F9"/>
            </a:solidFill>
            <a:prstDash val="solid"/>
          </a:ln>
        </p:spPr>
      </p:sp>
      <p:sp>
        <p:nvSpPr>
          <p:cNvPr id="35" name="Shape 27"/>
          <p:cNvSpPr/>
          <p:nvPr/>
        </p:nvSpPr>
        <p:spPr>
          <a:xfrm>
            <a:off x="5260726" y="1874520"/>
            <a:ext cx="1670243" cy="384048"/>
          </a:xfrm>
          <a:prstGeom prst="roundRect">
            <a:avLst>
              <a:gd name="adj" fmla="val 19048"/>
            </a:avLst>
          </a:prstGeom>
          <a:solidFill>
            <a:srgbClr val="F2A23A"/>
          </a:solidFill>
          <a:ln w="12700">
            <a:solidFill>
              <a:srgbClr val="F2A23A"/>
            </a:solidFill>
            <a:prstDash val="solid"/>
          </a:ln>
        </p:spPr>
      </p:sp>
      <p:sp>
        <p:nvSpPr>
          <p:cNvPr id="36" name="Text 28"/>
          <p:cNvSpPr txBox="1"/>
          <p:nvPr/>
        </p:nvSpPr>
        <p:spPr>
          <a:xfrm>
            <a:off x="5260726" y="1874520"/>
            <a:ext cx="1670243"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INTEGRATION</a:t>
            </a:r>
            <a:endParaRPr lang="en-US" sz="1200" dirty="0"/>
          </a:p>
        </p:txBody>
      </p:sp>
      <p:sp>
        <p:nvSpPr>
          <p:cNvPr id="37" name="Shape 29"/>
          <p:cNvSpPr/>
          <p:nvPr/>
        </p:nvSpPr>
        <p:spPr>
          <a:xfrm>
            <a:off x="5260726" y="2514600"/>
            <a:ext cx="411480" cy="411480"/>
          </a:xfrm>
          <a:prstGeom prst="ellipse">
            <a:avLst/>
          </a:prstGeom>
          <a:solidFill>
            <a:srgbClr val="FFFFFF"/>
          </a:solidFill>
          <a:ln w="12700">
            <a:solidFill>
              <a:srgbClr val="FFFFFF"/>
            </a:solidFill>
            <a:prstDash val="solid"/>
          </a:ln>
        </p:spPr>
      </p:sp>
      <p:pic>
        <p:nvPicPr>
          <p:cNvPr id="38" name="Image 6" descr="preencoded.png">    </p:cNvPr>
          <p:cNvPicPr>
            <a:picLocks noChangeAspect="1"/>
          </p:cNvPicPr>
          <p:nvPr/>
        </p:nvPicPr>
        <p:blipFill>
          <a:blip r:embed="rId7"/>
          <a:stretch>
            <a:fillRect/>
          </a:stretch>
        </p:blipFill>
        <p:spPr>
          <a:xfrm>
            <a:off x="5371826" y="2625700"/>
            <a:ext cx="189281" cy="189281"/>
          </a:xfrm>
          <a:prstGeom prst="rect">
            <a:avLst/>
          </a:prstGeom>
        </p:spPr>
      </p:pic>
      <p:sp>
        <p:nvSpPr>
          <p:cNvPr id="39" name="Text 30"/>
          <p:cNvSpPr txBox="1"/>
          <p:nvPr/>
        </p:nvSpPr>
        <p:spPr>
          <a:xfrm>
            <a:off x="5736214" y="2496312"/>
            <a:ext cx="1258763" cy="274320"/>
          </a:xfrm>
          <a:prstGeom prst="rect">
            <a:avLst/>
          </a:prstGeom>
          <a:noFill/>
          <a:ln/>
        </p:spPr>
        <p:txBody>
          <a:bodyPr wrap="square" lIns="0" tIns="0" rIns="0" bIns="0" rtlCol="0" anchor="t"/>
          <a:lstStyle/>
          <a:p>
            <a:pPr indent="0" marL="0">
              <a:buNone/>
            </a:pPr>
            <a:r>
              <a:rPr lang="en-US" sz="1150" b="1" dirty="0">
                <a:solidFill>
                  <a:srgbClr val="0F1E3C"/>
                </a:solidFill>
                <a:latin typeface="Malgun Gothic" pitchFamily="34" charset="0"/>
                <a:ea typeface="Malgun Gothic" pitchFamily="34" charset="-122"/>
                <a:cs typeface="Malgun Gothic" pitchFamily="34" charset="-120"/>
              </a:rPr>
              <a:t>Defects</a:t>
            </a:r>
            <a:endParaRPr lang="en-US" sz="1150" dirty="0"/>
          </a:p>
        </p:txBody>
      </p:sp>
      <p:sp>
        <p:nvSpPr>
          <p:cNvPr id="40" name="Text 31"/>
          <p:cNvSpPr txBox="1"/>
          <p:nvPr/>
        </p:nvSpPr>
        <p:spPr>
          <a:xfrm>
            <a:off x="5736214" y="2761488"/>
            <a:ext cx="1258763" cy="640080"/>
          </a:xfrm>
          <a:prstGeom prst="rect">
            <a:avLst/>
          </a:prstGeom>
          <a:noFill/>
          <a:ln/>
        </p:spPr>
        <p:txBody>
          <a:bodyPr wrap="square" lIns="0" tIns="0" rIns="0" bIns="0" rtlCol="0" anchor="t"/>
          <a:lstStyle/>
          <a:p>
            <a:pPr indent="0" marL="0">
              <a:lnSpc>
                <a:spcPct val="115000"/>
              </a:lnSpc>
              <a:buNone/>
            </a:pPr>
            <a:r>
              <a:rPr lang="en-US" sz="1000" dirty="0">
                <a:solidFill>
                  <a:srgbClr val="6B7A90"/>
                </a:solidFill>
                <a:latin typeface="Malgun Gothic" pitchFamily="34" charset="0"/>
                <a:ea typeface="Malgun Gothic" pitchFamily="34" charset="-122"/>
                <a:cs typeface="Malgun Gothic" pitchFamily="34" charset="-120"/>
              </a:rPr>
              <a:t>결함 → Jira 등록</a:t>
            </a:r>
            <a:endParaRPr lang="en-US" sz="1000" dirty="0"/>
          </a:p>
        </p:txBody>
      </p:sp>
      <p:sp>
        <p:nvSpPr>
          <p:cNvPr id="41" name="Shape 32"/>
          <p:cNvSpPr/>
          <p:nvPr/>
        </p:nvSpPr>
        <p:spPr>
          <a:xfrm>
            <a:off x="5260726" y="3657600"/>
            <a:ext cx="411480" cy="411480"/>
          </a:xfrm>
          <a:prstGeom prst="ellipse">
            <a:avLst/>
          </a:prstGeom>
          <a:solidFill>
            <a:srgbClr val="FFFFFF"/>
          </a:solidFill>
          <a:ln w="12700">
            <a:solidFill>
              <a:srgbClr val="FFFFFF"/>
            </a:solidFill>
            <a:prstDash val="solid"/>
          </a:ln>
        </p:spPr>
      </p:sp>
      <p:pic>
        <p:nvPicPr>
          <p:cNvPr id="42" name="Image 7" descr="preencoded.png">    </p:cNvPr>
          <p:cNvPicPr>
            <a:picLocks noChangeAspect="1"/>
          </p:cNvPicPr>
          <p:nvPr/>
        </p:nvPicPr>
        <p:blipFill>
          <a:blip r:embed="rId8"/>
          <a:stretch>
            <a:fillRect/>
          </a:stretch>
        </p:blipFill>
        <p:spPr>
          <a:xfrm>
            <a:off x="5371826" y="3768700"/>
            <a:ext cx="189281" cy="189281"/>
          </a:xfrm>
          <a:prstGeom prst="rect">
            <a:avLst/>
          </a:prstGeom>
        </p:spPr>
      </p:pic>
      <p:sp>
        <p:nvSpPr>
          <p:cNvPr id="43" name="Text 33"/>
          <p:cNvSpPr txBox="1"/>
          <p:nvPr/>
        </p:nvSpPr>
        <p:spPr>
          <a:xfrm>
            <a:off x="5736214" y="3639312"/>
            <a:ext cx="1258763" cy="274320"/>
          </a:xfrm>
          <a:prstGeom prst="rect">
            <a:avLst/>
          </a:prstGeom>
          <a:noFill/>
          <a:ln/>
        </p:spPr>
        <p:txBody>
          <a:bodyPr wrap="square" lIns="0" tIns="0" rIns="0" bIns="0" rtlCol="0" anchor="t"/>
          <a:lstStyle/>
          <a:p>
            <a:pPr indent="0" marL="0">
              <a:buNone/>
            </a:pPr>
            <a:r>
              <a:rPr lang="en-US" sz="1150" b="1" dirty="0">
                <a:solidFill>
                  <a:srgbClr val="0F1E3C"/>
                </a:solidFill>
                <a:latin typeface="Malgun Gothic" pitchFamily="34" charset="0"/>
                <a:ea typeface="Malgun Gothic" pitchFamily="34" charset="-122"/>
                <a:cs typeface="Malgun Gothic" pitchFamily="34" charset="-120"/>
              </a:rPr>
              <a:t>Jira Issue</a:t>
            </a:r>
            <a:endParaRPr lang="en-US" sz="1150" dirty="0"/>
          </a:p>
        </p:txBody>
      </p:sp>
      <p:sp>
        <p:nvSpPr>
          <p:cNvPr id="44" name="Text 34"/>
          <p:cNvSpPr txBox="1"/>
          <p:nvPr/>
        </p:nvSpPr>
        <p:spPr>
          <a:xfrm>
            <a:off x="5736214" y="3904488"/>
            <a:ext cx="1258763" cy="640080"/>
          </a:xfrm>
          <a:prstGeom prst="rect">
            <a:avLst/>
          </a:prstGeom>
          <a:noFill/>
          <a:ln/>
        </p:spPr>
        <p:txBody>
          <a:bodyPr wrap="square" lIns="0" tIns="0" rIns="0" bIns="0" rtlCol="0" anchor="t"/>
          <a:lstStyle/>
          <a:p>
            <a:pPr indent="0" marL="0">
              <a:lnSpc>
                <a:spcPct val="115000"/>
              </a:lnSpc>
              <a:buNone/>
            </a:pPr>
            <a:r>
              <a:rPr lang="en-US" sz="1000" dirty="0">
                <a:solidFill>
                  <a:srgbClr val="6B7A90"/>
                </a:solidFill>
                <a:latin typeface="Malgun Gothic" pitchFamily="34" charset="0"/>
                <a:ea typeface="Malgun Gothic" pitchFamily="34" charset="-122"/>
                <a:cs typeface="Malgun Gothic" pitchFamily="34" charset="-120"/>
              </a:rPr>
              <a:t>프로젝트별 증분 동기화</a:t>
            </a:r>
            <a:endParaRPr lang="en-US" sz="1000" dirty="0"/>
          </a:p>
        </p:txBody>
      </p:sp>
      <p:sp>
        <p:nvSpPr>
          <p:cNvPr id="45" name="Shape 35"/>
          <p:cNvSpPr/>
          <p:nvPr/>
        </p:nvSpPr>
        <p:spPr>
          <a:xfrm>
            <a:off x="5260726" y="4800600"/>
            <a:ext cx="411480" cy="411480"/>
          </a:xfrm>
          <a:prstGeom prst="ellipse">
            <a:avLst/>
          </a:prstGeom>
          <a:solidFill>
            <a:srgbClr val="FFFFFF"/>
          </a:solidFill>
          <a:ln w="12700">
            <a:solidFill>
              <a:srgbClr val="FFFFFF"/>
            </a:solidFill>
            <a:prstDash val="solid"/>
          </a:ln>
        </p:spPr>
      </p:sp>
      <p:pic>
        <p:nvPicPr>
          <p:cNvPr id="46" name="Image 8" descr="preencoded.png">    </p:cNvPr>
          <p:cNvPicPr>
            <a:picLocks noChangeAspect="1"/>
          </p:cNvPicPr>
          <p:nvPr/>
        </p:nvPicPr>
        <p:blipFill>
          <a:blip r:embed="rId9"/>
          <a:stretch>
            <a:fillRect/>
          </a:stretch>
        </p:blipFill>
        <p:spPr>
          <a:xfrm>
            <a:off x="5371826" y="4911700"/>
            <a:ext cx="189281" cy="189281"/>
          </a:xfrm>
          <a:prstGeom prst="rect">
            <a:avLst/>
          </a:prstGeom>
        </p:spPr>
      </p:pic>
      <p:sp>
        <p:nvSpPr>
          <p:cNvPr id="47" name="Text 36"/>
          <p:cNvSpPr txBox="1"/>
          <p:nvPr/>
        </p:nvSpPr>
        <p:spPr>
          <a:xfrm>
            <a:off x="5736214" y="4782312"/>
            <a:ext cx="1258763" cy="274320"/>
          </a:xfrm>
          <a:prstGeom prst="rect">
            <a:avLst/>
          </a:prstGeom>
          <a:noFill/>
          <a:ln/>
        </p:spPr>
        <p:txBody>
          <a:bodyPr wrap="square" lIns="0" tIns="0" rIns="0" bIns="0" rtlCol="0" anchor="t"/>
          <a:lstStyle/>
          <a:p>
            <a:pPr indent="0" marL="0">
              <a:buNone/>
            </a:pPr>
            <a:r>
              <a:rPr lang="en-US" sz="1150" b="1" dirty="0">
                <a:solidFill>
                  <a:srgbClr val="0F1E3C"/>
                </a:solidFill>
                <a:latin typeface="Malgun Gothic" pitchFamily="34" charset="0"/>
                <a:ea typeface="Malgun Gothic" pitchFamily="34" charset="-122"/>
                <a:cs typeface="Malgun Gothic" pitchFamily="34" charset="-120"/>
              </a:rPr>
              <a:t>Releases</a:t>
            </a:r>
            <a:endParaRPr lang="en-US" sz="1150" dirty="0"/>
          </a:p>
        </p:txBody>
      </p:sp>
      <p:sp>
        <p:nvSpPr>
          <p:cNvPr id="48" name="Text 37"/>
          <p:cNvSpPr txBox="1"/>
          <p:nvPr/>
        </p:nvSpPr>
        <p:spPr>
          <a:xfrm>
            <a:off x="5736214" y="5047488"/>
            <a:ext cx="1258763" cy="640080"/>
          </a:xfrm>
          <a:prstGeom prst="rect">
            <a:avLst/>
          </a:prstGeom>
          <a:noFill/>
          <a:ln/>
        </p:spPr>
        <p:txBody>
          <a:bodyPr wrap="square" lIns="0" tIns="0" rIns="0" bIns="0" rtlCol="0" anchor="t"/>
          <a:lstStyle/>
          <a:p>
            <a:pPr indent="0" marL="0">
              <a:lnSpc>
                <a:spcPct val="115000"/>
              </a:lnSpc>
              <a:buNone/>
            </a:pPr>
            <a:r>
              <a:rPr lang="en-US" sz="1000" dirty="0">
                <a:solidFill>
                  <a:srgbClr val="6B7A90"/>
                </a:solidFill>
                <a:latin typeface="Malgun Gothic" pitchFamily="34" charset="0"/>
                <a:ea typeface="Malgun Gothic" pitchFamily="34" charset="-122"/>
                <a:cs typeface="Malgun Gothic" pitchFamily="34" charset="-120"/>
              </a:rPr>
              <a:t>버전별 이슈 × 덮는 시험</a:t>
            </a:r>
            <a:endParaRPr lang="en-US" sz="1000" dirty="0"/>
          </a:p>
        </p:txBody>
      </p:sp>
      <p:sp>
        <p:nvSpPr>
          <p:cNvPr id="49" name="Shape 38"/>
          <p:cNvSpPr/>
          <p:nvPr/>
        </p:nvSpPr>
        <p:spPr>
          <a:xfrm>
            <a:off x="7342449" y="1691640"/>
            <a:ext cx="2036003" cy="4343400"/>
          </a:xfrm>
          <a:prstGeom prst="roundRect">
            <a:avLst>
              <a:gd name="adj" fmla="val 5389"/>
            </a:avLst>
          </a:prstGeom>
          <a:solidFill>
            <a:srgbClr val="EEF3F9"/>
          </a:solidFill>
          <a:ln w="12700">
            <a:solidFill>
              <a:srgbClr val="EEF3F9"/>
            </a:solidFill>
            <a:prstDash val="solid"/>
          </a:ln>
        </p:spPr>
      </p:sp>
      <p:sp>
        <p:nvSpPr>
          <p:cNvPr id="50" name="Shape 39"/>
          <p:cNvSpPr/>
          <p:nvPr/>
        </p:nvSpPr>
        <p:spPr>
          <a:xfrm>
            <a:off x="7525329" y="1874520"/>
            <a:ext cx="1670243" cy="384048"/>
          </a:xfrm>
          <a:prstGeom prst="roundRect">
            <a:avLst>
              <a:gd name="adj" fmla="val 19048"/>
            </a:avLst>
          </a:prstGeom>
          <a:solidFill>
            <a:srgbClr val="7A5AF8"/>
          </a:solidFill>
          <a:ln w="12700">
            <a:solidFill>
              <a:srgbClr val="7A5AF8"/>
            </a:solidFill>
            <a:prstDash val="solid"/>
          </a:ln>
        </p:spPr>
      </p:sp>
      <p:sp>
        <p:nvSpPr>
          <p:cNvPr id="51" name="Text 40"/>
          <p:cNvSpPr txBox="1"/>
          <p:nvPr/>
        </p:nvSpPr>
        <p:spPr>
          <a:xfrm>
            <a:off x="7525329" y="1874520"/>
            <a:ext cx="1670243"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AI</a:t>
            </a:r>
            <a:endParaRPr lang="en-US" sz="1200" dirty="0"/>
          </a:p>
        </p:txBody>
      </p:sp>
      <p:sp>
        <p:nvSpPr>
          <p:cNvPr id="52" name="Shape 41"/>
          <p:cNvSpPr/>
          <p:nvPr/>
        </p:nvSpPr>
        <p:spPr>
          <a:xfrm>
            <a:off x="7525329" y="2514600"/>
            <a:ext cx="411480" cy="411480"/>
          </a:xfrm>
          <a:prstGeom prst="ellipse">
            <a:avLst/>
          </a:prstGeom>
          <a:solidFill>
            <a:srgbClr val="FFFFFF"/>
          </a:solidFill>
          <a:ln w="12700">
            <a:solidFill>
              <a:srgbClr val="FFFFFF"/>
            </a:solidFill>
            <a:prstDash val="solid"/>
          </a:ln>
        </p:spPr>
      </p:sp>
      <p:pic>
        <p:nvPicPr>
          <p:cNvPr id="53" name="Image 9" descr="preencoded.png">    </p:cNvPr>
          <p:cNvPicPr>
            <a:picLocks noChangeAspect="1"/>
          </p:cNvPicPr>
          <p:nvPr/>
        </p:nvPicPr>
        <p:blipFill>
          <a:blip r:embed="rId10"/>
          <a:stretch>
            <a:fillRect/>
          </a:stretch>
        </p:blipFill>
        <p:spPr>
          <a:xfrm>
            <a:off x="7636429" y="2625700"/>
            <a:ext cx="189281" cy="189281"/>
          </a:xfrm>
          <a:prstGeom prst="rect">
            <a:avLst/>
          </a:prstGeom>
        </p:spPr>
      </p:pic>
      <p:sp>
        <p:nvSpPr>
          <p:cNvPr id="54" name="Text 42"/>
          <p:cNvSpPr txBox="1"/>
          <p:nvPr/>
        </p:nvSpPr>
        <p:spPr>
          <a:xfrm>
            <a:off x="8000817" y="2496312"/>
            <a:ext cx="1258763" cy="274320"/>
          </a:xfrm>
          <a:prstGeom prst="rect">
            <a:avLst/>
          </a:prstGeom>
          <a:noFill/>
          <a:ln/>
        </p:spPr>
        <p:txBody>
          <a:bodyPr wrap="square" lIns="0" tIns="0" rIns="0" bIns="0" rtlCol="0" anchor="t"/>
          <a:lstStyle/>
          <a:p>
            <a:pPr indent="0" marL="0">
              <a:buNone/>
            </a:pPr>
            <a:r>
              <a:rPr lang="en-US" sz="1150" b="1" dirty="0">
                <a:solidFill>
                  <a:srgbClr val="0F1E3C"/>
                </a:solidFill>
                <a:latin typeface="Malgun Gothic" pitchFamily="34" charset="0"/>
                <a:ea typeface="Malgun Gothic" pitchFamily="34" charset="-122"/>
                <a:cs typeface="Malgun Gothic" pitchFamily="34" charset="-120"/>
              </a:rPr>
              <a:t>Coverage AI</a:t>
            </a:r>
            <a:endParaRPr lang="en-US" sz="1150" dirty="0"/>
          </a:p>
        </p:txBody>
      </p:sp>
      <p:sp>
        <p:nvSpPr>
          <p:cNvPr id="55" name="Text 43"/>
          <p:cNvSpPr txBox="1"/>
          <p:nvPr/>
        </p:nvSpPr>
        <p:spPr>
          <a:xfrm>
            <a:off x="8000817" y="2761488"/>
            <a:ext cx="1258763" cy="640080"/>
          </a:xfrm>
          <a:prstGeom prst="rect">
            <a:avLst/>
          </a:prstGeom>
          <a:noFill/>
          <a:ln/>
        </p:spPr>
        <p:txBody>
          <a:bodyPr wrap="square" lIns="0" tIns="0" rIns="0" bIns="0" rtlCol="0" anchor="t"/>
          <a:lstStyle/>
          <a:p>
            <a:pPr indent="0" marL="0">
              <a:lnSpc>
                <a:spcPct val="115000"/>
              </a:lnSpc>
              <a:buNone/>
            </a:pPr>
            <a:r>
              <a:rPr lang="en-US" sz="1000" dirty="0">
                <a:solidFill>
                  <a:srgbClr val="6B7A90"/>
                </a:solidFill>
                <a:latin typeface="Malgun Gothic" pitchFamily="34" charset="0"/>
                <a:ea typeface="Malgun Gothic" pitchFamily="34" charset="-122"/>
                <a:cs typeface="Malgun Gothic" pitchFamily="34" charset="-120"/>
              </a:rPr>
              <a:t>말로 시험을 만들고 돌린다</a:t>
            </a:r>
            <a:endParaRPr lang="en-US" sz="1000" dirty="0"/>
          </a:p>
        </p:txBody>
      </p:sp>
      <p:sp>
        <p:nvSpPr>
          <p:cNvPr id="56" name="Shape 44"/>
          <p:cNvSpPr/>
          <p:nvPr/>
        </p:nvSpPr>
        <p:spPr>
          <a:xfrm>
            <a:off x="7525329" y="3657600"/>
            <a:ext cx="411480" cy="411480"/>
          </a:xfrm>
          <a:prstGeom prst="ellipse">
            <a:avLst/>
          </a:prstGeom>
          <a:solidFill>
            <a:srgbClr val="FFFFFF"/>
          </a:solidFill>
          <a:ln w="12700">
            <a:solidFill>
              <a:srgbClr val="FFFFFF"/>
            </a:solidFill>
            <a:prstDash val="solid"/>
          </a:ln>
        </p:spPr>
      </p:sp>
      <p:pic>
        <p:nvPicPr>
          <p:cNvPr id="57" name="Image 10" descr="preencoded.png">    </p:cNvPr>
          <p:cNvPicPr>
            <a:picLocks noChangeAspect="1"/>
          </p:cNvPicPr>
          <p:nvPr/>
        </p:nvPicPr>
        <p:blipFill>
          <a:blip r:embed="rId11"/>
          <a:stretch>
            <a:fillRect/>
          </a:stretch>
        </p:blipFill>
        <p:spPr>
          <a:xfrm>
            <a:off x="7636429" y="3768700"/>
            <a:ext cx="189281" cy="189281"/>
          </a:xfrm>
          <a:prstGeom prst="rect">
            <a:avLst/>
          </a:prstGeom>
        </p:spPr>
      </p:pic>
      <p:sp>
        <p:nvSpPr>
          <p:cNvPr id="58" name="Text 45"/>
          <p:cNvSpPr txBox="1"/>
          <p:nvPr/>
        </p:nvSpPr>
        <p:spPr>
          <a:xfrm>
            <a:off x="8000817" y="3639312"/>
            <a:ext cx="1258763" cy="274320"/>
          </a:xfrm>
          <a:prstGeom prst="rect">
            <a:avLst/>
          </a:prstGeom>
          <a:noFill/>
          <a:ln/>
        </p:spPr>
        <p:txBody>
          <a:bodyPr wrap="square" lIns="0" tIns="0" rIns="0" bIns="0" rtlCol="0" anchor="t"/>
          <a:lstStyle/>
          <a:p>
            <a:pPr indent="0" marL="0">
              <a:buNone/>
            </a:pPr>
            <a:r>
              <a:rPr lang="en-US" sz="1150" b="1" dirty="0">
                <a:solidFill>
                  <a:srgbClr val="0F1E3C"/>
                </a:solidFill>
                <a:latin typeface="Malgun Gothic" pitchFamily="34" charset="0"/>
                <a:ea typeface="Malgun Gothic" pitchFamily="34" charset="-122"/>
                <a:cs typeface="Malgun Gothic" pitchFamily="34" charset="-120"/>
              </a:rPr>
              <a:t>Knowledge AI</a:t>
            </a:r>
            <a:endParaRPr lang="en-US" sz="1150" dirty="0"/>
          </a:p>
        </p:txBody>
      </p:sp>
      <p:sp>
        <p:nvSpPr>
          <p:cNvPr id="59" name="Text 46"/>
          <p:cNvSpPr txBox="1"/>
          <p:nvPr/>
        </p:nvSpPr>
        <p:spPr>
          <a:xfrm>
            <a:off x="8000817" y="3904488"/>
            <a:ext cx="1258763" cy="640080"/>
          </a:xfrm>
          <a:prstGeom prst="rect">
            <a:avLst/>
          </a:prstGeom>
          <a:noFill/>
          <a:ln/>
        </p:spPr>
        <p:txBody>
          <a:bodyPr wrap="square" lIns="0" tIns="0" rIns="0" bIns="0" rtlCol="0" anchor="t"/>
          <a:lstStyle/>
          <a:p>
            <a:pPr indent="0" marL="0">
              <a:lnSpc>
                <a:spcPct val="115000"/>
              </a:lnSpc>
              <a:buNone/>
            </a:pPr>
            <a:r>
              <a:rPr lang="en-US" sz="1000" dirty="0">
                <a:solidFill>
                  <a:srgbClr val="6B7A90"/>
                </a:solidFill>
                <a:latin typeface="Malgun Gothic" pitchFamily="34" charset="0"/>
                <a:ea typeface="Malgun Gothic" pitchFamily="34" charset="-122"/>
                <a:cs typeface="Malgun Gothic" pitchFamily="34" charset="-120"/>
              </a:rPr>
              <a:t>쌓인 자료에서 근거 있는 답</a:t>
            </a:r>
            <a:endParaRPr lang="en-US" sz="1000" dirty="0"/>
          </a:p>
        </p:txBody>
      </p:sp>
      <p:sp>
        <p:nvSpPr>
          <p:cNvPr id="60" name="Shape 47"/>
          <p:cNvSpPr/>
          <p:nvPr/>
        </p:nvSpPr>
        <p:spPr>
          <a:xfrm>
            <a:off x="9607052" y="1691640"/>
            <a:ext cx="2036003" cy="4343400"/>
          </a:xfrm>
          <a:prstGeom prst="roundRect">
            <a:avLst>
              <a:gd name="adj" fmla="val 5389"/>
            </a:avLst>
          </a:prstGeom>
          <a:solidFill>
            <a:srgbClr val="EEF3F9"/>
          </a:solidFill>
          <a:ln w="12700">
            <a:solidFill>
              <a:srgbClr val="EEF3F9"/>
            </a:solidFill>
            <a:prstDash val="solid"/>
          </a:ln>
        </p:spPr>
      </p:sp>
      <p:sp>
        <p:nvSpPr>
          <p:cNvPr id="61" name="Shape 48"/>
          <p:cNvSpPr/>
          <p:nvPr/>
        </p:nvSpPr>
        <p:spPr>
          <a:xfrm>
            <a:off x="9789932" y="1874520"/>
            <a:ext cx="1670243" cy="384048"/>
          </a:xfrm>
          <a:prstGeom prst="roundRect">
            <a:avLst>
              <a:gd name="adj" fmla="val 19048"/>
            </a:avLst>
          </a:prstGeom>
          <a:solidFill>
            <a:srgbClr val="6B7A90"/>
          </a:solidFill>
          <a:ln w="12700">
            <a:solidFill>
              <a:srgbClr val="6B7A90"/>
            </a:solidFill>
            <a:prstDash val="solid"/>
          </a:ln>
        </p:spPr>
      </p:sp>
      <p:sp>
        <p:nvSpPr>
          <p:cNvPr id="62" name="Text 49"/>
          <p:cNvSpPr txBox="1"/>
          <p:nvPr/>
        </p:nvSpPr>
        <p:spPr>
          <a:xfrm>
            <a:off x="9789932" y="1874520"/>
            <a:ext cx="1670243"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SYSTEM</a:t>
            </a:r>
            <a:endParaRPr lang="en-US" sz="1200" dirty="0"/>
          </a:p>
        </p:txBody>
      </p:sp>
      <p:sp>
        <p:nvSpPr>
          <p:cNvPr id="63" name="Shape 50"/>
          <p:cNvSpPr/>
          <p:nvPr/>
        </p:nvSpPr>
        <p:spPr>
          <a:xfrm>
            <a:off x="9789932" y="2514600"/>
            <a:ext cx="411480" cy="411480"/>
          </a:xfrm>
          <a:prstGeom prst="ellipse">
            <a:avLst/>
          </a:prstGeom>
          <a:solidFill>
            <a:srgbClr val="FFFFFF"/>
          </a:solidFill>
          <a:ln w="12700">
            <a:solidFill>
              <a:srgbClr val="FFFFFF"/>
            </a:solidFill>
            <a:prstDash val="solid"/>
          </a:ln>
        </p:spPr>
      </p:sp>
      <p:pic>
        <p:nvPicPr>
          <p:cNvPr id="64" name="Image 11" descr="preencoded.png">    </p:cNvPr>
          <p:cNvPicPr>
            <a:picLocks noChangeAspect="1"/>
          </p:cNvPicPr>
          <p:nvPr/>
        </p:nvPicPr>
        <p:blipFill>
          <a:blip r:embed="rId12"/>
          <a:stretch>
            <a:fillRect/>
          </a:stretch>
        </p:blipFill>
        <p:spPr>
          <a:xfrm>
            <a:off x="9901032" y="2625700"/>
            <a:ext cx="189281" cy="189281"/>
          </a:xfrm>
          <a:prstGeom prst="rect">
            <a:avLst/>
          </a:prstGeom>
        </p:spPr>
      </p:pic>
      <p:sp>
        <p:nvSpPr>
          <p:cNvPr id="65" name="Text 51"/>
          <p:cNvSpPr txBox="1"/>
          <p:nvPr/>
        </p:nvSpPr>
        <p:spPr>
          <a:xfrm>
            <a:off x="10265420" y="2496312"/>
            <a:ext cx="1258763" cy="274320"/>
          </a:xfrm>
          <a:prstGeom prst="rect">
            <a:avLst/>
          </a:prstGeom>
          <a:noFill/>
          <a:ln/>
        </p:spPr>
        <p:txBody>
          <a:bodyPr wrap="square" lIns="0" tIns="0" rIns="0" bIns="0" rtlCol="0" anchor="t"/>
          <a:lstStyle/>
          <a:p>
            <a:pPr indent="0" marL="0">
              <a:buNone/>
            </a:pPr>
            <a:r>
              <a:rPr lang="en-US" sz="1150" b="1" dirty="0">
                <a:solidFill>
                  <a:srgbClr val="0F1E3C"/>
                </a:solidFill>
                <a:latin typeface="Malgun Gothic" pitchFamily="34" charset="0"/>
                <a:ea typeface="Malgun Gothic" pitchFamily="34" charset="-122"/>
                <a:cs typeface="Malgun Gothic" pitchFamily="34" charset="-120"/>
              </a:rPr>
              <a:t>SETUP</a:t>
            </a:r>
            <a:endParaRPr lang="en-US" sz="1150" dirty="0"/>
          </a:p>
        </p:txBody>
      </p:sp>
      <p:sp>
        <p:nvSpPr>
          <p:cNvPr id="66" name="Text 52"/>
          <p:cNvSpPr txBox="1"/>
          <p:nvPr/>
        </p:nvSpPr>
        <p:spPr>
          <a:xfrm>
            <a:off x="10265420" y="2761488"/>
            <a:ext cx="1258763" cy="640080"/>
          </a:xfrm>
          <a:prstGeom prst="rect">
            <a:avLst/>
          </a:prstGeom>
          <a:noFill/>
          <a:ln/>
        </p:spPr>
        <p:txBody>
          <a:bodyPr wrap="square" lIns="0" tIns="0" rIns="0" bIns="0" rtlCol="0" anchor="t"/>
          <a:lstStyle/>
          <a:p>
            <a:pPr indent="0" marL="0">
              <a:lnSpc>
                <a:spcPct val="115000"/>
              </a:lnSpc>
              <a:buNone/>
            </a:pPr>
            <a:r>
              <a:rPr lang="en-US" sz="1000" dirty="0">
                <a:solidFill>
                  <a:srgbClr val="6B7A90"/>
                </a:solidFill>
                <a:latin typeface="Malgun Gothic" pitchFamily="34" charset="0"/>
                <a:ea typeface="Malgun Gothic" pitchFamily="34" charset="-122"/>
                <a:cs typeface="Malgun Gothic" pitchFamily="34" charset="-120"/>
              </a:rPr>
              <a:t>계정 · 권한 · 필드 · 판정 기준</a:t>
            </a:r>
            <a:endParaRPr lang="en-US" sz="1000" dirty="0"/>
          </a:p>
        </p:txBody>
      </p:sp>
      <p:sp>
        <p:nvSpPr>
          <p:cNvPr id="67" name="Shape 53"/>
          <p:cNvSpPr/>
          <p:nvPr/>
        </p:nvSpPr>
        <p:spPr>
          <a:xfrm>
            <a:off x="9789932" y="3657600"/>
            <a:ext cx="411480" cy="411480"/>
          </a:xfrm>
          <a:prstGeom prst="ellipse">
            <a:avLst/>
          </a:prstGeom>
          <a:solidFill>
            <a:srgbClr val="FFFFFF"/>
          </a:solidFill>
          <a:ln w="12700">
            <a:solidFill>
              <a:srgbClr val="FFFFFF"/>
            </a:solidFill>
            <a:prstDash val="solid"/>
          </a:ln>
        </p:spPr>
      </p:sp>
      <p:pic>
        <p:nvPicPr>
          <p:cNvPr id="68" name="Image 12" descr="preencoded.png">    </p:cNvPr>
          <p:cNvPicPr>
            <a:picLocks noChangeAspect="1"/>
          </p:cNvPicPr>
          <p:nvPr/>
        </p:nvPicPr>
        <p:blipFill>
          <a:blip r:embed="rId13"/>
          <a:stretch>
            <a:fillRect/>
          </a:stretch>
        </p:blipFill>
        <p:spPr>
          <a:xfrm>
            <a:off x="9901032" y="3768700"/>
            <a:ext cx="189281" cy="189281"/>
          </a:xfrm>
          <a:prstGeom prst="rect">
            <a:avLst/>
          </a:prstGeom>
        </p:spPr>
      </p:pic>
      <p:sp>
        <p:nvSpPr>
          <p:cNvPr id="69" name="Text 54"/>
          <p:cNvSpPr txBox="1"/>
          <p:nvPr/>
        </p:nvSpPr>
        <p:spPr>
          <a:xfrm>
            <a:off x="10265420" y="3639312"/>
            <a:ext cx="1258763" cy="274320"/>
          </a:xfrm>
          <a:prstGeom prst="rect">
            <a:avLst/>
          </a:prstGeom>
          <a:noFill/>
          <a:ln/>
        </p:spPr>
        <p:txBody>
          <a:bodyPr wrap="square" lIns="0" tIns="0" rIns="0" bIns="0" rtlCol="0" anchor="t"/>
          <a:lstStyle/>
          <a:p>
            <a:pPr indent="0" marL="0">
              <a:buNone/>
            </a:pPr>
            <a:r>
              <a:rPr lang="en-US" sz="1150" b="1" dirty="0">
                <a:solidFill>
                  <a:srgbClr val="0F1E3C"/>
                </a:solidFill>
                <a:latin typeface="Malgun Gothic" pitchFamily="34" charset="0"/>
                <a:ea typeface="Malgun Gothic" pitchFamily="34" charset="-122"/>
                <a:cs typeface="Malgun Gothic" pitchFamily="34" charset="-120"/>
              </a:rPr>
              <a:t>데이터 이사</a:t>
            </a:r>
            <a:endParaRPr lang="en-US" sz="1150" dirty="0"/>
          </a:p>
        </p:txBody>
      </p:sp>
      <p:sp>
        <p:nvSpPr>
          <p:cNvPr id="70" name="Text 55"/>
          <p:cNvSpPr txBox="1"/>
          <p:nvPr/>
        </p:nvSpPr>
        <p:spPr>
          <a:xfrm>
            <a:off x="10265420" y="3904488"/>
            <a:ext cx="1258763" cy="640080"/>
          </a:xfrm>
          <a:prstGeom prst="rect">
            <a:avLst/>
          </a:prstGeom>
          <a:noFill/>
          <a:ln/>
        </p:spPr>
        <p:txBody>
          <a:bodyPr wrap="square" lIns="0" tIns="0" rIns="0" bIns="0" rtlCol="0" anchor="t"/>
          <a:lstStyle/>
          <a:p>
            <a:pPr indent="0" marL="0">
              <a:lnSpc>
                <a:spcPct val="115000"/>
              </a:lnSpc>
              <a:buNone/>
            </a:pPr>
            <a:r>
              <a:rPr lang="en-US" sz="1000" dirty="0">
                <a:solidFill>
                  <a:srgbClr val="6B7A90"/>
                </a:solidFill>
                <a:latin typeface="Malgun Gothic" pitchFamily="34" charset="0"/>
                <a:ea typeface="Malgun Gothic" pitchFamily="34" charset="-122"/>
                <a:cs typeface="Malgun Gothic" pitchFamily="34" charset="-120"/>
              </a:rPr>
              <a:t>묶음 내보내기 · 가져오기</a:t>
            </a:r>
            <a:endParaRPr lang="en-US" sz="1000" dirty="0"/>
          </a:p>
        </p:txBody>
      </p:sp>
      <p:sp>
        <p:nvSpPr>
          <p:cNvPr id="71" name="Shape 56"/>
          <p:cNvSpPr/>
          <p:nvPr/>
        </p:nvSpPr>
        <p:spPr>
          <a:xfrm>
            <a:off x="9789932" y="4800600"/>
            <a:ext cx="411480" cy="411480"/>
          </a:xfrm>
          <a:prstGeom prst="ellipse">
            <a:avLst/>
          </a:prstGeom>
          <a:solidFill>
            <a:srgbClr val="FFFFFF"/>
          </a:solidFill>
          <a:ln w="12700">
            <a:solidFill>
              <a:srgbClr val="FFFFFF"/>
            </a:solidFill>
            <a:prstDash val="solid"/>
          </a:ln>
        </p:spPr>
      </p:sp>
      <p:pic>
        <p:nvPicPr>
          <p:cNvPr id="72" name="Image 13" descr="preencoded.png">    </p:cNvPr>
          <p:cNvPicPr>
            <a:picLocks noChangeAspect="1"/>
          </p:cNvPicPr>
          <p:nvPr/>
        </p:nvPicPr>
        <p:blipFill>
          <a:blip r:embed="rId14"/>
          <a:stretch>
            <a:fillRect/>
          </a:stretch>
        </p:blipFill>
        <p:spPr>
          <a:xfrm>
            <a:off x="9901032" y="4911700"/>
            <a:ext cx="189281" cy="189281"/>
          </a:xfrm>
          <a:prstGeom prst="rect">
            <a:avLst/>
          </a:prstGeom>
        </p:spPr>
      </p:pic>
      <p:sp>
        <p:nvSpPr>
          <p:cNvPr id="73" name="Text 57"/>
          <p:cNvSpPr txBox="1"/>
          <p:nvPr/>
        </p:nvSpPr>
        <p:spPr>
          <a:xfrm>
            <a:off x="10265420" y="4782312"/>
            <a:ext cx="1258763" cy="274320"/>
          </a:xfrm>
          <a:prstGeom prst="rect">
            <a:avLst/>
          </a:prstGeom>
          <a:noFill/>
          <a:ln/>
        </p:spPr>
        <p:txBody>
          <a:bodyPr wrap="square" lIns="0" tIns="0" rIns="0" bIns="0" rtlCol="0" anchor="t"/>
          <a:lstStyle/>
          <a:p>
            <a:pPr indent="0" marL="0">
              <a:buNone/>
            </a:pPr>
            <a:r>
              <a:rPr lang="en-US" sz="1150" b="1" dirty="0">
                <a:solidFill>
                  <a:srgbClr val="0F1E3C"/>
                </a:solidFill>
                <a:latin typeface="Malgun Gothic" pitchFamily="34" charset="0"/>
                <a:ea typeface="Malgun Gothic" pitchFamily="34" charset="-122"/>
                <a:cs typeface="Malgun Gothic" pitchFamily="34" charset="-120"/>
              </a:rPr>
              <a:t>브랜딩 · 메일</a:t>
            </a:r>
            <a:endParaRPr lang="en-US" sz="1150" dirty="0"/>
          </a:p>
        </p:txBody>
      </p:sp>
      <p:sp>
        <p:nvSpPr>
          <p:cNvPr id="74" name="Text 58"/>
          <p:cNvSpPr txBox="1"/>
          <p:nvPr/>
        </p:nvSpPr>
        <p:spPr>
          <a:xfrm>
            <a:off x="10265420" y="5047488"/>
            <a:ext cx="1258763" cy="640080"/>
          </a:xfrm>
          <a:prstGeom prst="rect">
            <a:avLst/>
          </a:prstGeom>
          <a:noFill/>
          <a:ln/>
        </p:spPr>
        <p:txBody>
          <a:bodyPr wrap="square" lIns="0" tIns="0" rIns="0" bIns="0" rtlCol="0" anchor="t"/>
          <a:lstStyle/>
          <a:p>
            <a:pPr indent="0" marL="0">
              <a:lnSpc>
                <a:spcPct val="115000"/>
              </a:lnSpc>
              <a:buNone/>
            </a:pPr>
            <a:r>
              <a:rPr lang="en-US" sz="1000" dirty="0">
                <a:solidFill>
                  <a:srgbClr val="6B7A90"/>
                </a:solidFill>
                <a:latin typeface="Malgun Gothic" pitchFamily="34" charset="0"/>
                <a:ea typeface="Malgun Gothic" pitchFamily="34" charset="-122"/>
                <a:cs typeface="Malgun Gothic" pitchFamily="34" charset="-120"/>
              </a:rPr>
              <a:t>로그인 화면 · SMTP</a:t>
            </a:r>
            <a:endParaRPr lang="en-US" sz="1000" dirty="0"/>
          </a:p>
        </p:txBody>
      </p:sp>
      <p:sp>
        <p:nvSpPr>
          <p:cNvPr id="75" name="Text 59"/>
          <p:cNvSpPr txBox="1"/>
          <p:nvPr/>
        </p:nvSpPr>
        <p:spPr>
          <a:xfrm>
            <a:off x="548640" y="6172200"/>
            <a:ext cx="11094415" cy="274320"/>
          </a:xfrm>
          <a:prstGeom prst="rect">
            <a:avLst/>
          </a:prstGeom>
          <a:noFill/>
          <a:ln/>
        </p:spPr>
        <p:txBody>
          <a:bodyPr wrap="square" lIns="0" tIns="0" rIns="0" bIns="0" rtlCol="0" anchor="t"/>
          <a:lstStyle/>
          <a:p>
            <a:pPr indent="0" marL="0">
              <a:buNone/>
            </a:pPr>
            <a:r>
              <a:rPr lang="en-US" sz="1100" dirty="0">
                <a:solidFill>
                  <a:srgbClr val="6B7A90"/>
                </a:solidFill>
                <a:latin typeface="Malgun Gothic" pitchFamily="34" charset="0"/>
                <a:ea typeface="Malgun Gothic" pitchFamily="34" charset="-122"/>
                <a:cs typeface="Malgun Gothic" pitchFamily="34" charset="-120"/>
              </a:rPr>
              <a:t>대시보드는 열면 바로 보이는 관제판 — 오늘 실행, 판정 현황, 버전별 진행률, 미해결 결함. 모든 위젯은 눌러서 그 화면으로 들어간다.</a:t>
            </a:r>
            <a:endParaRPr lang="en-US" sz="1100" dirty="0"/>
          </a:p>
        </p:txBody>
      </p:sp>
      <p:sp>
        <p:nvSpPr>
          <p:cNvPr id="76" name="Text 60"/>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A0ABBC"/>
                </a:solidFill>
                <a:latin typeface="Malgun Gothic" pitchFamily="34" charset="0"/>
                <a:ea typeface="Malgun Gothic" pitchFamily="34" charset="-122"/>
                <a:cs typeface="Malgun Gothic" pitchFamily="34" charset="-120"/>
              </a:rPr>
              <a:t>UTOP  ·  Ubiquoss Test Orchestration Platform</a:t>
            </a:r>
            <a:endParaRPr lang="en-US" sz="900" dirty="0"/>
          </a:p>
        </p:txBody>
      </p:sp>
      <p:sp>
        <p:nvSpPr>
          <p:cNvPr id="77" name="Text 61"/>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A0ABBC"/>
                </a:solidFill>
                <a:latin typeface="Malgun Gothic" pitchFamily="34" charset="0"/>
                <a:ea typeface="Malgun Gothic" pitchFamily="34" charset="-122"/>
                <a:cs typeface="Malgun Gothic"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t"/>
          <a:lstStyle/>
          <a:p>
            <a:pPr indent="0" marL="0">
              <a:buNone/>
            </a:pPr>
            <a:r>
              <a:rPr lang="en-US" sz="3000" b="1" dirty="0">
                <a:solidFill>
                  <a:srgbClr val="0F1E3C"/>
                </a:solidFill>
                <a:latin typeface="Malgun Gothic" pitchFamily="34" charset="0"/>
                <a:ea typeface="Malgun Gothic" pitchFamily="34" charset="-122"/>
                <a:cs typeface="Malgun Gothic" pitchFamily="34" charset="-120"/>
              </a:rPr>
              <a:t>WIKI · REQ-Coverage — 적고, 덮는다</a:t>
            </a:r>
            <a:endParaRPr lang="en-US" sz="3000" dirty="0"/>
          </a:p>
        </p:txBody>
      </p:sp>
      <p:sp>
        <p:nvSpPr>
          <p:cNvPr id="3" name="Text 1"/>
          <p:cNvSpPr txBox="1"/>
          <p:nvPr/>
        </p:nvSpPr>
        <p:spPr>
          <a:xfrm>
            <a:off x="548640" y="1024128"/>
            <a:ext cx="11094415" cy="365760"/>
          </a:xfrm>
          <a:prstGeom prst="rect">
            <a:avLst/>
          </a:prstGeom>
          <a:noFill/>
          <a:ln/>
        </p:spPr>
        <p:txBody>
          <a:bodyPr wrap="square" lIns="0" tIns="0" rIns="0" bIns="0" rtlCol="0" anchor="t"/>
          <a:lstStyle/>
          <a:p>
            <a:pPr indent="0" marL="0">
              <a:buNone/>
            </a:pPr>
            <a:r>
              <a:rPr lang="en-US" sz="1400" dirty="0">
                <a:solidFill>
                  <a:srgbClr val="6B7A90"/>
                </a:solidFill>
                <a:latin typeface="Malgun Gothic" pitchFamily="34" charset="0"/>
                <a:ea typeface="Malgun Gothic" pitchFamily="34" charset="-122"/>
                <a:cs typeface="Malgun Gothic" pitchFamily="34" charset="-120"/>
              </a:rPr>
              <a:t>문서와 요구사항과 시험이 서로를 가리킨다</a:t>
            </a:r>
            <a:endParaRPr lang="en-US" sz="1400" dirty="0"/>
          </a:p>
        </p:txBody>
      </p:sp>
      <p:sp>
        <p:nvSpPr>
          <p:cNvPr id="4" name="Shape 2"/>
          <p:cNvSpPr/>
          <p:nvPr/>
        </p:nvSpPr>
        <p:spPr>
          <a:xfrm>
            <a:off x="548640" y="1691640"/>
            <a:ext cx="5303520" cy="4480560"/>
          </a:xfrm>
          <a:prstGeom prst="roundRect">
            <a:avLst>
              <a:gd name="adj" fmla="val 2449"/>
            </a:avLst>
          </a:prstGeom>
          <a:solidFill>
            <a:srgbClr val="EEF3F9"/>
          </a:solidFill>
          <a:ln w="12700">
            <a:solidFill>
              <a:srgbClr val="EEF3F9"/>
            </a:solidFill>
            <a:prstDash val="solid"/>
          </a:ln>
        </p:spPr>
      </p:sp>
      <p:sp>
        <p:nvSpPr>
          <p:cNvPr id="5" name="Shape 3"/>
          <p:cNvSpPr/>
          <p:nvPr/>
        </p:nvSpPr>
        <p:spPr>
          <a:xfrm>
            <a:off x="822960" y="1920240"/>
            <a:ext cx="548640" cy="548640"/>
          </a:xfrm>
          <a:prstGeom prst="ellipse">
            <a:avLst/>
          </a:prstGeom>
          <a:solidFill>
            <a:srgbClr val="12A594"/>
          </a:solidFill>
          <a:ln w="12700">
            <a:solidFill>
              <a:srgbClr val="12A594"/>
            </a:solidFill>
            <a:prstDash val="solid"/>
          </a:ln>
        </p:spPr>
      </p:sp>
      <p:pic>
        <p:nvPicPr>
          <p:cNvPr id="6" name="Image 0" descr="preencoded.png">    </p:cNvPr>
          <p:cNvPicPr>
            <a:picLocks noChangeAspect="1"/>
          </p:cNvPicPr>
          <p:nvPr/>
        </p:nvPicPr>
        <p:blipFill>
          <a:blip r:embed="rId1"/>
          <a:stretch>
            <a:fillRect/>
          </a:stretch>
        </p:blipFill>
        <p:spPr>
          <a:xfrm>
            <a:off x="971093" y="2068373"/>
            <a:ext cx="252374" cy="252374"/>
          </a:xfrm>
          <a:prstGeom prst="rect">
            <a:avLst/>
          </a:prstGeom>
        </p:spPr>
      </p:pic>
      <p:sp>
        <p:nvSpPr>
          <p:cNvPr id="7" name="Text 4"/>
          <p:cNvSpPr txBox="1"/>
          <p:nvPr/>
        </p:nvSpPr>
        <p:spPr>
          <a:xfrm>
            <a:off x="1508760" y="1993392"/>
            <a:ext cx="4114800" cy="411480"/>
          </a:xfrm>
          <a:prstGeom prst="rect">
            <a:avLst/>
          </a:prstGeom>
          <a:noFill/>
          <a:ln/>
        </p:spPr>
        <p:txBody>
          <a:bodyPr wrap="square" lIns="0" tIns="0" rIns="0" bIns="0" rtlCol="0" anchor="t"/>
          <a:lstStyle/>
          <a:p>
            <a:pPr indent="0" marL="0">
              <a:buNone/>
            </a:pPr>
            <a:r>
              <a:rPr lang="en-US" sz="1600" b="1" dirty="0">
                <a:solidFill>
                  <a:srgbClr val="0F1E3C"/>
                </a:solidFill>
                <a:latin typeface="Malgun Gothic" pitchFamily="34" charset="0"/>
                <a:ea typeface="Malgun Gothic" pitchFamily="34" charset="-122"/>
                <a:cs typeface="Malgun Gothic" pitchFamily="34" charset="-120"/>
              </a:rPr>
              <a:t>WIKI — 프로젝트마다 갖는 문서</a:t>
            </a:r>
            <a:endParaRPr lang="en-US" sz="1600" dirty="0"/>
          </a:p>
        </p:txBody>
      </p:sp>
      <p:sp>
        <p:nvSpPr>
          <p:cNvPr id="8" name="Text 5"/>
          <p:cNvSpPr txBox="1"/>
          <p:nvPr/>
        </p:nvSpPr>
        <p:spPr>
          <a:xfrm>
            <a:off x="822960" y="2697480"/>
            <a:ext cx="4754880" cy="32004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A2333"/>
                </a:solidFill>
                <a:latin typeface="Malgun Gothic" pitchFamily="34" charset="0"/>
                <a:ea typeface="Malgun Gothic" pitchFamily="34" charset="-122"/>
                <a:cs typeface="Malgun Gothic" pitchFamily="34" charset="-120"/>
              </a:rPr>
              <a:t>규격 · 시험 절차 · 사전 준비를 문서 트리로 관리</a:t>
            </a:r>
            <a:endParaRPr lang="en-US" sz="1200" dirty="0"/>
          </a:p>
          <a:p>
            <a:pPr marL="342900" indent="-342900">
              <a:spcAft>
                <a:spcPts val="800"/>
              </a:spcAft>
              <a:buSzPct val="100000"/>
              <a:buChar char="●"/>
            </a:pPr>
            <a:r>
              <a:rPr lang="en-US" sz="1200" dirty="0">
                <a:solidFill>
                  <a:srgbClr val="1A2333"/>
                </a:solidFill>
                <a:latin typeface="Malgun Gothic" pitchFamily="34" charset="0"/>
                <a:ea typeface="Malgun Gothic" pitchFamily="34" charset="-122"/>
                <a:cs typeface="Malgun Gothic" pitchFamily="34" charset="-120"/>
              </a:rPr>
              <a:t>문서 안에 표를 두고 행 단위로 편집 · 요구사항 생성</a:t>
            </a:r>
            <a:endParaRPr lang="en-US" sz="1200" dirty="0"/>
          </a:p>
          <a:p>
            <a:pPr marL="342900" indent="-342900">
              <a:spcAft>
                <a:spcPts val="800"/>
              </a:spcAft>
              <a:buSzPct val="100000"/>
              <a:buChar char="●"/>
            </a:pPr>
            <a:r>
              <a:rPr lang="en-US" sz="1200" dirty="0">
                <a:solidFill>
                  <a:srgbClr val="1A2333"/>
                </a:solidFill>
                <a:latin typeface="Malgun Gothic" pitchFamily="34" charset="0"/>
                <a:ea typeface="Malgun Gothic" pitchFamily="34" charset="-122"/>
                <a:cs typeface="Malgun Gothic" pitchFamily="34" charset="-120"/>
              </a:rPr>
              <a:t>문서에서 REQ 를 짚으면, 요구사항 쪽에서도 "이 문서가 나를 참조한다"</a:t>
            </a:r>
            <a:endParaRPr lang="en-US" sz="1200" dirty="0"/>
          </a:p>
          <a:p>
            <a:pPr marL="342900" indent="-342900">
              <a:spcAft>
                <a:spcPts val="800"/>
              </a:spcAft>
              <a:buSzPct val="100000"/>
              <a:buChar char="●"/>
            </a:pPr>
            <a:r>
              <a:rPr lang="en-US" sz="1200" dirty="0">
                <a:solidFill>
                  <a:srgbClr val="1A2333"/>
                </a:solidFill>
                <a:latin typeface="Malgun Gothic" pitchFamily="34" charset="0"/>
                <a:ea typeface="Malgun Gothic" pitchFamily="34" charset="-122"/>
                <a:cs typeface="Malgun Gothic" pitchFamily="34" charset="-120"/>
              </a:rPr>
              <a:t>손이 멈추면 자동 저장(2초) · 판 이력 보관</a:t>
            </a:r>
            <a:endParaRPr lang="en-US" sz="1200" dirty="0"/>
          </a:p>
          <a:p>
            <a:pPr marL="342900" indent="-342900">
              <a:spcAft>
                <a:spcPts val="800"/>
              </a:spcAft>
              <a:buSzPct val="100000"/>
              <a:buChar char="●"/>
            </a:pPr>
            <a:r>
              <a:rPr lang="en-US" sz="1200" dirty="0">
                <a:solidFill>
                  <a:srgbClr val="1A2333"/>
                </a:solidFill>
                <a:latin typeface="Malgun Gothic" pitchFamily="34" charset="0"/>
                <a:ea typeface="Malgun Gothic" pitchFamily="34" charset="-122"/>
                <a:cs typeface="Malgun Gothic" pitchFamily="34" charset="-120"/>
              </a:rPr>
              <a:t>PDF 로 바로 내려받기 — 화면과 같은 엔진으로 찍어 종이가 화면과 같다</a:t>
            </a:r>
            <a:endParaRPr lang="en-US" sz="1200" dirty="0"/>
          </a:p>
        </p:txBody>
      </p:sp>
      <p:pic>
        <p:nvPicPr>
          <p:cNvPr id="9" name="Image 1" descr="preencoded.png">    </p:cNvPr>
          <p:cNvPicPr>
            <a:picLocks noChangeAspect="1"/>
          </p:cNvPicPr>
          <p:nvPr/>
        </p:nvPicPr>
        <p:blipFill>
          <a:blip r:embed="rId2"/>
          <a:stretch>
            <a:fillRect/>
          </a:stretch>
        </p:blipFill>
        <p:spPr>
          <a:xfrm>
            <a:off x="914400" y="4453128"/>
            <a:ext cx="201168" cy="201168"/>
          </a:xfrm>
          <a:prstGeom prst="rect">
            <a:avLst/>
          </a:prstGeom>
        </p:spPr>
      </p:pic>
      <p:sp>
        <p:nvSpPr>
          <p:cNvPr id="10" name="Text 6"/>
          <p:cNvSpPr txBox="1"/>
          <p:nvPr/>
        </p:nvSpPr>
        <p:spPr>
          <a:xfrm>
            <a:off x="1207008" y="4389120"/>
            <a:ext cx="2286000" cy="329184"/>
          </a:xfrm>
          <a:prstGeom prst="rect">
            <a:avLst/>
          </a:prstGeom>
          <a:noFill/>
          <a:ln/>
        </p:spPr>
        <p:txBody>
          <a:bodyPr wrap="square" lIns="0" tIns="0" rIns="0" bIns="0" rtlCol="0" anchor="ct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L2 스위치 규격</a:t>
            </a:r>
            <a:endParaRPr lang="en-US" sz="1100" dirty="0"/>
          </a:p>
        </p:txBody>
      </p:sp>
      <p:pic>
        <p:nvPicPr>
          <p:cNvPr id="11" name="Image 2" descr="preencoded.png">    </p:cNvPr>
          <p:cNvPicPr>
            <a:picLocks noChangeAspect="1"/>
          </p:cNvPicPr>
          <p:nvPr/>
        </p:nvPicPr>
        <p:blipFill>
          <a:blip r:embed="rId3"/>
          <a:stretch>
            <a:fillRect/>
          </a:stretch>
        </p:blipFill>
        <p:spPr>
          <a:xfrm>
            <a:off x="1280160" y="4818888"/>
            <a:ext cx="201168" cy="201168"/>
          </a:xfrm>
          <a:prstGeom prst="rect">
            <a:avLst/>
          </a:prstGeom>
        </p:spPr>
      </p:pic>
      <p:sp>
        <p:nvSpPr>
          <p:cNvPr id="12" name="Text 7"/>
          <p:cNvSpPr txBox="1"/>
          <p:nvPr/>
        </p:nvSpPr>
        <p:spPr>
          <a:xfrm>
            <a:off x="1572768" y="4754880"/>
            <a:ext cx="2286000" cy="329184"/>
          </a:xfrm>
          <a:prstGeom prst="rect">
            <a:avLst/>
          </a:prstGeom>
          <a:noFill/>
          <a:ln/>
        </p:spPr>
        <p:txBody>
          <a:bodyPr wrap="square" lIns="0" tIns="0" rIns="0" bIns="0" rtlCol="0" anchor="ct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VLAN 시험 절차</a:t>
            </a:r>
            <a:endParaRPr lang="en-US" sz="1100" dirty="0"/>
          </a:p>
        </p:txBody>
      </p:sp>
      <p:sp>
        <p:nvSpPr>
          <p:cNvPr id="13" name="Shape 8"/>
          <p:cNvSpPr/>
          <p:nvPr/>
        </p:nvSpPr>
        <p:spPr>
          <a:xfrm>
            <a:off x="3108960" y="4919472"/>
            <a:ext cx="548640" cy="0"/>
          </a:xfrm>
          <a:prstGeom prst="line">
            <a:avLst/>
          </a:prstGeom>
          <a:noFill/>
          <a:ln w="15875">
            <a:solidFill>
              <a:srgbClr val="6B7A90"/>
            </a:solidFill>
            <a:prstDash val="solid"/>
            <a:tailEnd type="triangle"/>
          </a:ln>
        </p:spPr>
      </p:sp>
      <p:sp>
        <p:nvSpPr>
          <p:cNvPr id="14" name="Shape 9"/>
          <p:cNvSpPr/>
          <p:nvPr/>
        </p:nvSpPr>
        <p:spPr>
          <a:xfrm>
            <a:off x="3703320" y="4782312"/>
            <a:ext cx="1325880" cy="274320"/>
          </a:xfrm>
          <a:prstGeom prst="roundRect">
            <a:avLst>
              <a:gd name="adj" fmla="val 50000"/>
            </a:avLst>
          </a:prstGeom>
          <a:solidFill>
            <a:srgbClr val="0F1E3C"/>
          </a:solidFill>
          <a:ln w="12700">
            <a:solidFill>
              <a:srgbClr val="0F1E3C"/>
            </a:solidFill>
            <a:prstDash val="solid"/>
          </a:ln>
        </p:spPr>
      </p:sp>
      <p:sp>
        <p:nvSpPr>
          <p:cNvPr id="15" name="Text 10"/>
          <p:cNvSpPr txBox="1"/>
          <p:nvPr/>
        </p:nvSpPr>
        <p:spPr>
          <a:xfrm>
            <a:off x="3703320" y="4782312"/>
            <a:ext cx="13258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REQ-2633-0003</a:t>
            </a:r>
            <a:endParaRPr lang="en-US" sz="950" dirty="0"/>
          </a:p>
        </p:txBody>
      </p:sp>
      <p:pic>
        <p:nvPicPr>
          <p:cNvPr id="16" name="Image 3" descr="preencoded.png">    </p:cNvPr>
          <p:cNvPicPr>
            <a:picLocks noChangeAspect="1"/>
          </p:cNvPicPr>
          <p:nvPr/>
        </p:nvPicPr>
        <p:blipFill>
          <a:blip r:embed="rId4"/>
          <a:stretch>
            <a:fillRect/>
          </a:stretch>
        </p:blipFill>
        <p:spPr>
          <a:xfrm>
            <a:off x="1280160" y="5184648"/>
            <a:ext cx="201168" cy="201168"/>
          </a:xfrm>
          <a:prstGeom prst="rect">
            <a:avLst/>
          </a:prstGeom>
        </p:spPr>
      </p:pic>
      <p:sp>
        <p:nvSpPr>
          <p:cNvPr id="17" name="Text 11"/>
          <p:cNvSpPr txBox="1"/>
          <p:nvPr/>
        </p:nvSpPr>
        <p:spPr>
          <a:xfrm>
            <a:off x="1572768" y="5120640"/>
            <a:ext cx="2286000" cy="329184"/>
          </a:xfrm>
          <a:prstGeom prst="rect">
            <a:avLst/>
          </a:prstGeom>
          <a:noFill/>
          <a:ln/>
        </p:spPr>
        <p:txBody>
          <a:bodyPr wrap="square" lIns="0" tIns="0" rIns="0" bIns="0" rtlCol="0" anchor="ct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QoS 시험 절차</a:t>
            </a:r>
            <a:endParaRPr lang="en-US" sz="1100" dirty="0"/>
          </a:p>
        </p:txBody>
      </p:sp>
      <p:sp>
        <p:nvSpPr>
          <p:cNvPr id="18" name="Shape 12"/>
          <p:cNvSpPr/>
          <p:nvPr/>
        </p:nvSpPr>
        <p:spPr>
          <a:xfrm>
            <a:off x="3108960" y="5285232"/>
            <a:ext cx="548640" cy="0"/>
          </a:xfrm>
          <a:prstGeom prst="line">
            <a:avLst/>
          </a:prstGeom>
          <a:noFill/>
          <a:ln w="15875">
            <a:solidFill>
              <a:srgbClr val="6B7A90"/>
            </a:solidFill>
            <a:prstDash val="solid"/>
            <a:tailEnd type="triangle"/>
          </a:ln>
        </p:spPr>
      </p:sp>
      <p:sp>
        <p:nvSpPr>
          <p:cNvPr id="19" name="Shape 13"/>
          <p:cNvSpPr/>
          <p:nvPr/>
        </p:nvSpPr>
        <p:spPr>
          <a:xfrm>
            <a:off x="3703320" y="5148072"/>
            <a:ext cx="1325880" cy="274320"/>
          </a:xfrm>
          <a:prstGeom prst="roundRect">
            <a:avLst>
              <a:gd name="adj" fmla="val 50000"/>
            </a:avLst>
          </a:prstGeom>
          <a:solidFill>
            <a:srgbClr val="0F1E3C"/>
          </a:solidFill>
          <a:ln w="12700">
            <a:solidFill>
              <a:srgbClr val="0F1E3C"/>
            </a:solidFill>
            <a:prstDash val="solid"/>
          </a:ln>
        </p:spPr>
      </p:sp>
      <p:sp>
        <p:nvSpPr>
          <p:cNvPr id="20" name="Text 14"/>
          <p:cNvSpPr txBox="1"/>
          <p:nvPr/>
        </p:nvSpPr>
        <p:spPr>
          <a:xfrm>
            <a:off x="3703320" y="5148072"/>
            <a:ext cx="13258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REQ-2633-0004</a:t>
            </a:r>
            <a:endParaRPr lang="en-US" sz="950" dirty="0"/>
          </a:p>
        </p:txBody>
      </p:sp>
      <p:pic>
        <p:nvPicPr>
          <p:cNvPr id="21" name="Image 4" descr="preencoded.png">    </p:cNvPr>
          <p:cNvPicPr>
            <a:picLocks noChangeAspect="1"/>
          </p:cNvPicPr>
          <p:nvPr/>
        </p:nvPicPr>
        <p:blipFill>
          <a:blip r:embed="rId5"/>
          <a:stretch>
            <a:fillRect/>
          </a:stretch>
        </p:blipFill>
        <p:spPr>
          <a:xfrm>
            <a:off x="914400" y="5550408"/>
            <a:ext cx="201168" cy="201168"/>
          </a:xfrm>
          <a:prstGeom prst="rect">
            <a:avLst/>
          </a:prstGeom>
        </p:spPr>
      </p:pic>
      <p:sp>
        <p:nvSpPr>
          <p:cNvPr id="22" name="Text 15"/>
          <p:cNvSpPr txBox="1"/>
          <p:nvPr/>
        </p:nvSpPr>
        <p:spPr>
          <a:xfrm>
            <a:off x="1207008" y="5486400"/>
            <a:ext cx="2286000" cy="329184"/>
          </a:xfrm>
          <a:prstGeom prst="rect">
            <a:avLst/>
          </a:prstGeom>
          <a:noFill/>
          <a:ln/>
        </p:spPr>
        <p:txBody>
          <a:bodyPr wrap="square" lIns="0" tIns="0" rIns="0" bIns="0" rtlCol="0" anchor="ct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사전 준비</a:t>
            </a:r>
            <a:endParaRPr lang="en-US" sz="1100" dirty="0"/>
          </a:p>
        </p:txBody>
      </p:sp>
      <p:sp>
        <p:nvSpPr>
          <p:cNvPr id="23" name="Text 16"/>
          <p:cNvSpPr txBox="1"/>
          <p:nvPr/>
        </p:nvSpPr>
        <p:spPr>
          <a:xfrm>
            <a:off x="914400" y="5870448"/>
            <a:ext cx="4572000" cy="274320"/>
          </a:xfrm>
          <a:prstGeom prst="rect">
            <a:avLst/>
          </a:prstGeom>
          <a:noFill/>
          <a:ln/>
        </p:spPr>
        <p:txBody>
          <a:bodyPr wrap="square" lIns="0" tIns="0" rIns="0" bIns="0" rtlCol="0" anchor="t"/>
          <a:lstStyle/>
          <a:p>
            <a:pPr indent="0" marL="0">
              <a:buNone/>
            </a:pPr>
            <a:r>
              <a:rPr lang="en-US" sz="1000" dirty="0">
                <a:solidFill>
                  <a:srgbClr val="6B7A90"/>
                </a:solidFill>
                <a:latin typeface="Malgun Gothic" pitchFamily="34" charset="0"/>
                <a:ea typeface="Malgun Gothic" pitchFamily="34" charset="-122"/>
                <a:cs typeface="Malgun Gothic" pitchFamily="34" charset="-120"/>
              </a:rPr>
              <a:t>문서 ↔ 요구사항 양방향 참조</a:t>
            </a:r>
            <a:endParaRPr lang="en-US" sz="1000" dirty="0"/>
          </a:p>
        </p:txBody>
      </p:sp>
      <p:sp>
        <p:nvSpPr>
          <p:cNvPr id="24" name="Shape 17"/>
          <p:cNvSpPr/>
          <p:nvPr/>
        </p:nvSpPr>
        <p:spPr>
          <a:xfrm>
            <a:off x="6126480" y="1691640"/>
            <a:ext cx="5516575" cy="4480560"/>
          </a:xfrm>
          <a:prstGeom prst="roundRect">
            <a:avLst>
              <a:gd name="adj" fmla="val 2449"/>
            </a:avLst>
          </a:prstGeom>
          <a:solidFill>
            <a:srgbClr val="EEF3F9"/>
          </a:solidFill>
          <a:ln w="12700">
            <a:solidFill>
              <a:srgbClr val="EEF3F9"/>
            </a:solidFill>
            <a:prstDash val="solid"/>
          </a:ln>
        </p:spPr>
      </p:sp>
      <p:sp>
        <p:nvSpPr>
          <p:cNvPr id="25" name="Shape 18"/>
          <p:cNvSpPr/>
          <p:nvPr/>
        </p:nvSpPr>
        <p:spPr>
          <a:xfrm>
            <a:off x="6400800" y="1920240"/>
            <a:ext cx="548640" cy="548640"/>
          </a:xfrm>
          <a:prstGeom prst="ellipse">
            <a:avLst/>
          </a:prstGeom>
          <a:solidFill>
            <a:srgbClr val="12A594"/>
          </a:solidFill>
          <a:ln w="12700">
            <a:solidFill>
              <a:srgbClr val="12A594"/>
            </a:solidFill>
            <a:prstDash val="solid"/>
          </a:ln>
        </p:spPr>
      </p:sp>
      <p:pic>
        <p:nvPicPr>
          <p:cNvPr id="26" name="Image 5" descr="preencoded.png">    </p:cNvPr>
          <p:cNvPicPr>
            <a:picLocks noChangeAspect="1"/>
          </p:cNvPicPr>
          <p:nvPr/>
        </p:nvPicPr>
        <p:blipFill>
          <a:blip r:embed="rId6"/>
          <a:stretch>
            <a:fillRect/>
          </a:stretch>
        </p:blipFill>
        <p:spPr>
          <a:xfrm>
            <a:off x="6548933" y="2068373"/>
            <a:ext cx="252374" cy="252374"/>
          </a:xfrm>
          <a:prstGeom prst="rect">
            <a:avLst/>
          </a:prstGeom>
        </p:spPr>
      </p:pic>
      <p:sp>
        <p:nvSpPr>
          <p:cNvPr id="27" name="Text 19"/>
          <p:cNvSpPr txBox="1"/>
          <p:nvPr/>
        </p:nvSpPr>
        <p:spPr>
          <a:xfrm>
            <a:off x="7086600" y="1993392"/>
            <a:ext cx="4754880" cy="411480"/>
          </a:xfrm>
          <a:prstGeom prst="rect">
            <a:avLst/>
          </a:prstGeom>
          <a:noFill/>
          <a:ln/>
        </p:spPr>
        <p:txBody>
          <a:bodyPr wrap="square" lIns="0" tIns="0" rIns="0" bIns="0" rtlCol="0" anchor="t"/>
          <a:lstStyle/>
          <a:p>
            <a:pPr indent="0" marL="0">
              <a:buNone/>
            </a:pPr>
            <a:r>
              <a:rPr lang="en-US" sz="1600" b="1" dirty="0">
                <a:solidFill>
                  <a:srgbClr val="0F1E3C"/>
                </a:solidFill>
                <a:latin typeface="Malgun Gothic" pitchFamily="34" charset="0"/>
                <a:ea typeface="Malgun Gothic" pitchFamily="34" charset="-122"/>
                <a:cs typeface="Malgun Gothic" pitchFamily="34" charset="-120"/>
              </a:rPr>
              <a:t>REQ-Coverage — 요구사항을 시험으로 덮는다</a:t>
            </a:r>
            <a:endParaRPr lang="en-US" sz="1600" dirty="0"/>
          </a:p>
        </p:txBody>
      </p:sp>
      <p:sp>
        <p:nvSpPr>
          <p:cNvPr id="28" name="Text 20"/>
          <p:cNvSpPr txBox="1"/>
          <p:nvPr/>
        </p:nvSpPr>
        <p:spPr>
          <a:xfrm>
            <a:off x="6400800" y="2697480"/>
            <a:ext cx="4937760" cy="18288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A2333"/>
                </a:solidFill>
                <a:latin typeface="Malgun Gothic" pitchFamily="34" charset="0"/>
                <a:ea typeface="Malgun Gothic" pitchFamily="34" charset="-122"/>
                <a:cs typeface="Malgun Gothic" pitchFamily="34" charset="-120"/>
              </a:rPr>
              <a:t>요구사항 목록 · 시험 목록 · 상세 · 붙이기(Map) 를 한 화면에서</a:t>
            </a:r>
            <a:endParaRPr lang="en-US" sz="1200" dirty="0"/>
          </a:p>
          <a:p>
            <a:pPr marL="342900" indent="-342900">
              <a:spcAft>
                <a:spcPts val="800"/>
              </a:spcAft>
              <a:buSzPct val="100000"/>
              <a:buChar char="●"/>
            </a:pPr>
            <a:r>
              <a:rPr lang="en-US" sz="1200" dirty="0">
                <a:solidFill>
                  <a:srgbClr val="1A2333"/>
                </a:solidFill>
                <a:latin typeface="Malgun Gothic" pitchFamily="34" charset="0"/>
                <a:ea typeface="Malgun Gothic" pitchFamily="34" charset="-122"/>
                <a:cs typeface="Malgun Gothic" pitchFamily="34" charset="-120"/>
              </a:rPr>
              <a:t>2 단 분류 폴더 · 커스텀 필드 · 일괄 편집 · 휴지통 복원</a:t>
            </a:r>
            <a:endParaRPr lang="en-US" sz="1200" dirty="0"/>
          </a:p>
          <a:p>
            <a:pPr marL="342900" indent="-342900">
              <a:spcAft>
                <a:spcPts val="800"/>
              </a:spcAft>
              <a:buSzPct val="100000"/>
              <a:buChar char="●"/>
            </a:pPr>
            <a:r>
              <a:rPr lang="en-US" sz="1200" dirty="0">
                <a:solidFill>
                  <a:srgbClr val="1A2333"/>
                </a:solidFill>
                <a:latin typeface="Malgun Gothic" pitchFamily="34" charset="0"/>
                <a:ea typeface="Malgun Gothic" pitchFamily="34" charset="-122"/>
                <a:cs typeface="Malgun Gothic" pitchFamily="34" charset="-120"/>
              </a:rPr>
              <a:t>어떤 요구사항이 아직 시험으로 안 덮였나(갭) 가 바로 보인다</a:t>
            </a:r>
            <a:endParaRPr lang="en-US" sz="1200" dirty="0"/>
          </a:p>
          <a:p>
            <a:pPr marL="342900" indent="-342900">
              <a:spcAft>
                <a:spcPts val="800"/>
              </a:spcAft>
              <a:buSzPct val="100000"/>
              <a:buChar char="●"/>
            </a:pPr>
            <a:r>
              <a:rPr lang="en-US" sz="1200" dirty="0">
                <a:solidFill>
                  <a:srgbClr val="1A2333"/>
                </a:solidFill>
                <a:latin typeface="Malgun Gothic" pitchFamily="34" charset="0"/>
                <a:ea typeface="Malgun Gothic" pitchFamily="34" charset="-122"/>
                <a:cs typeface="Malgun Gothic" pitchFamily="34" charset="-120"/>
              </a:rPr>
              <a:t>?req= · ?tc= 주소로 남에게 보낸 링크가 그대로 열린다</a:t>
            </a:r>
            <a:endParaRPr lang="en-US" sz="1200" dirty="0"/>
          </a:p>
        </p:txBody>
      </p:sp>
      <p:sp>
        <p:nvSpPr>
          <p:cNvPr id="29" name="Shape 21"/>
          <p:cNvSpPr/>
          <p:nvPr/>
        </p:nvSpPr>
        <p:spPr>
          <a:xfrm>
            <a:off x="6492240" y="4709160"/>
            <a:ext cx="1371600" cy="329184"/>
          </a:xfrm>
          <a:prstGeom prst="roundRect">
            <a:avLst>
              <a:gd name="adj" fmla="val 50000"/>
            </a:avLst>
          </a:prstGeom>
          <a:solidFill>
            <a:srgbClr val="0F1E3C"/>
          </a:solidFill>
          <a:ln w="12700">
            <a:solidFill>
              <a:srgbClr val="0F1E3C"/>
            </a:solidFill>
            <a:prstDash val="solid"/>
          </a:ln>
        </p:spPr>
      </p:sp>
      <p:sp>
        <p:nvSpPr>
          <p:cNvPr id="30" name="Text 22"/>
          <p:cNvSpPr txBox="1"/>
          <p:nvPr/>
        </p:nvSpPr>
        <p:spPr>
          <a:xfrm>
            <a:off x="6492240" y="4709160"/>
            <a:ext cx="137160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REQ-2633-0003</a:t>
            </a:r>
            <a:endParaRPr lang="en-US" sz="1000" dirty="0"/>
          </a:p>
        </p:txBody>
      </p:sp>
      <p:sp>
        <p:nvSpPr>
          <p:cNvPr id="31" name="Shape 23"/>
          <p:cNvSpPr/>
          <p:nvPr/>
        </p:nvSpPr>
        <p:spPr>
          <a:xfrm>
            <a:off x="6492240" y="5212080"/>
            <a:ext cx="1371600" cy="329184"/>
          </a:xfrm>
          <a:prstGeom prst="roundRect">
            <a:avLst>
              <a:gd name="adj" fmla="val 50000"/>
            </a:avLst>
          </a:prstGeom>
          <a:solidFill>
            <a:srgbClr val="0F1E3C"/>
          </a:solidFill>
          <a:ln w="12700">
            <a:solidFill>
              <a:srgbClr val="0F1E3C"/>
            </a:solidFill>
            <a:prstDash val="solid"/>
          </a:ln>
        </p:spPr>
      </p:sp>
      <p:sp>
        <p:nvSpPr>
          <p:cNvPr id="32" name="Text 24"/>
          <p:cNvSpPr txBox="1"/>
          <p:nvPr/>
        </p:nvSpPr>
        <p:spPr>
          <a:xfrm>
            <a:off x="6492240" y="5212080"/>
            <a:ext cx="137160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REQ-2633-0004</a:t>
            </a:r>
            <a:endParaRPr lang="en-US" sz="1000" dirty="0"/>
          </a:p>
        </p:txBody>
      </p:sp>
      <p:sp>
        <p:nvSpPr>
          <p:cNvPr id="33" name="Shape 25"/>
          <p:cNvSpPr/>
          <p:nvPr/>
        </p:nvSpPr>
        <p:spPr>
          <a:xfrm>
            <a:off x="6492240" y="5715000"/>
            <a:ext cx="1371600" cy="329184"/>
          </a:xfrm>
          <a:prstGeom prst="roundRect">
            <a:avLst>
              <a:gd name="adj" fmla="val 50000"/>
            </a:avLst>
          </a:prstGeom>
          <a:solidFill>
            <a:srgbClr val="E05252"/>
          </a:solidFill>
          <a:ln w="12700">
            <a:solidFill>
              <a:srgbClr val="E05252"/>
            </a:solidFill>
            <a:prstDash val="solid"/>
          </a:ln>
        </p:spPr>
      </p:sp>
      <p:sp>
        <p:nvSpPr>
          <p:cNvPr id="34" name="Text 26"/>
          <p:cNvSpPr txBox="1"/>
          <p:nvPr/>
        </p:nvSpPr>
        <p:spPr>
          <a:xfrm>
            <a:off x="6492240" y="5715000"/>
            <a:ext cx="137160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REQ-2633-0005</a:t>
            </a:r>
            <a:endParaRPr lang="en-US" sz="1000" dirty="0"/>
          </a:p>
        </p:txBody>
      </p:sp>
      <p:sp>
        <p:nvSpPr>
          <p:cNvPr id="35" name="Shape 27"/>
          <p:cNvSpPr/>
          <p:nvPr/>
        </p:nvSpPr>
        <p:spPr>
          <a:xfrm>
            <a:off x="9235440" y="4709160"/>
            <a:ext cx="1371600" cy="329184"/>
          </a:xfrm>
          <a:prstGeom prst="roundRect">
            <a:avLst>
              <a:gd name="adj" fmla="val 50000"/>
            </a:avLst>
          </a:prstGeom>
          <a:solidFill>
            <a:srgbClr val="12A594"/>
          </a:solidFill>
          <a:ln w="12700">
            <a:solidFill>
              <a:srgbClr val="12A594"/>
            </a:solidFill>
            <a:prstDash val="solid"/>
          </a:ln>
        </p:spPr>
      </p:sp>
      <p:sp>
        <p:nvSpPr>
          <p:cNvPr id="36" name="Text 28"/>
          <p:cNvSpPr txBox="1"/>
          <p:nvPr/>
        </p:nvSpPr>
        <p:spPr>
          <a:xfrm>
            <a:off x="9235440" y="4709160"/>
            <a:ext cx="137160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TC-0117</a:t>
            </a:r>
            <a:endParaRPr lang="en-US" sz="1000" dirty="0"/>
          </a:p>
        </p:txBody>
      </p:sp>
      <p:sp>
        <p:nvSpPr>
          <p:cNvPr id="37" name="Shape 29"/>
          <p:cNvSpPr/>
          <p:nvPr/>
        </p:nvSpPr>
        <p:spPr>
          <a:xfrm>
            <a:off x="9235440" y="5212080"/>
            <a:ext cx="1371600" cy="329184"/>
          </a:xfrm>
          <a:prstGeom prst="roundRect">
            <a:avLst>
              <a:gd name="adj" fmla="val 50000"/>
            </a:avLst>
          </a:prstGeom>
          <a:solidFill>
            <a:srgbClr val="12A594"/>
          </a:solidFill>
          <a:ln w="12700">
            <a:solidFill>
              <a:srgbClr val="12A594"/>
            </a:solidFill>
            <a:prstDash val="solid"/>
          </a:ln>
        </p:spPr>
      </p:sp>
      <p:sp>
        <p:nvSpPr>
          <p:cNvPr id="38" name="Text 30"/>
          <p:cNvSpPr txBox="1"/>
          <p:nvPr/>
        </p:nvSpPr>
        <p:spPr>
          <a:xfrm>
            <a:off x="9235440" y="5212080"/>
            <a:ext cx="137160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TC-0118</a:t>
            </a:r>
            <a:endParaRPr lang="en-US" sz="1000" dirty="0"/>
          </a:p>
        </p:txBody>
      </p:sp>
      <p:sp>
        <p:nvSpPr>
          <p:cNvPr id="39" name="Shape 31"/>
          <p:cNvSpPr/>
          <p:nvPr/>
        </p:nvSpPr>
        <p:spPr>
          <a:xfrm>
            <a:off x="9235440" y="5715000"/>
            <a:ext cx="1371600" cy="329184"/>
          </a:xfrm>
          <a:prstGeom prst="roundRect">
            <a:avLst>
              <a:gd name="adj" fmla="val 50000"/>
            </a:avLst>
          </a:prstGeom>
          <a:solidFill>
            <a:srgbClr val="12A594"/>
          </a:solidFill>
          <a:ln w="12700">
            <a:solidFill>
              <a:srgbClr val="12A594"/>
            </a:solidFill>
            <a:prstDash val="solid"/>
          </a:ln>
        </p:spPr>
      </p:sp>
      <p:sp>
        <p:nvSpPr>
          <p:cNvPr id="40" name="Text 32"/>
          <p:cNvSpPr txBox="1"/>
          <p:nvPr/>
        </p:nvSpPr>
        <p:spPr>
          <a:xfrm>
            <a:off x="9235440" y="5715000"/>
            <a:ext cx="137160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TC-0121</a:t>
            </a:r>
            <a:endParaRPr lang="en-US" sz="1000" dirty="0"/>
          </a:p>
        </p:txBody>
      </p:sp>
      <p:sp>
        <p:nvSpPr>
          <p:cNvPr id="41" name="Shape 33"/>
          <p:cNvSpPr/>
          <p:nvPr/>
        </p:nvSpPr>
        <p:spPr>
          <a:xfrm>
            <a:off x="7863840" y="4873752"/>
            <a:ext cx="1371600" cy="0"/>
          </a:xfrm>
          <a:prstGeom prst="line">
            <a:avLst/>
          </a:prstGeom>
          <a:noFill/>
          <a:ln w="15875">
            <a:solidFill>
              <a:srgbClr val="6B7A90"/>
            </a:solidFill>
            <a:prstDash val="solid"/>
          </a:ln>
        </p:spPr>
      </p:sp>
      <p:sp>
        <p:nvSpPr>
          <p:cNvPr id="42" name="Shape 34"/>
          <p:cNvSpPr/>
          <p:nvPr/>
        </p:nvSpPr>
        <p:spPr>
          <a:xfrm>
            <a:off x="7863840" y="4873752"/>
            <a:ext cx="1371600" cy="502920"/>
          </a:xfrm>
          <a:prstGeom prst="line">
            <a:avLst/>
          </a:prstGeom>
          <a:noFill/>
          <a:ln w="15875">
            <a:solidFill>
              <a:srgbClr val="6B7A90"/>
            </a:solidFill>
            <a:prstDash val="solid"/>
          </a:ln>
        </p:spPr>
      </p:sp>
      <p:sp>
        <p:nvSpPr>
          <p:cNvPr id="43" name="Shape 35"/>
          <p:cNvSpPr/>
          <p:nvPr/>
        </p:nvSpPr>
        <p:spPr>
          <a:xfrm>
            <a:off x="7863840" y="5376672"/>
            <a:ext cx="1371600" cy="502920"/>
          </a:xfrm>
          <a:prstGeom prst="line">
            <a:avLst/>
          </a:prstGeom>
          <a:noFill/>
          <a:ln w="15875">
            <a:solidFill>
              <a:srgbClr val="6B7A90"/>
            </a:solidFill>
            <a:prstDash val="solid"/>
          </a:ln>
        </p:spPr>
      </p:sp>
      <p:sp>
        <p:nvSpPr>
          <p:cNvPr id="44" name="Text 36"/>
          <p:cNvSpPr txBox="1"/>
          <p:nvPr/>
        </p:nvSpPr>
        <p:spPr>
          <a:xfrm>
            <a:off x="7955280" y="5715000"/>
            <a:ext cx="1188720" cy="329184"/>
          </a:xfrm>
          <a:prstGeom prst="rect">
            <a:avLst/>
          </a:prstGeom>
          <a:noFill/>
          <a:ln/>
        </p:spPr>
        <p:txBody>
          <a:bodyPr wrap="square" lIns="0" tIns="0" rIns="0" bIns="0" rtlCol="0" anchor="ctr"/>
          <a:lstStyle/>
          <a:p>
            <a:pPr algn="ctr" indent="0" marL="0">
              <a:buNone/>
            </a:pPr>
            <a:r>
              <a:rPr lang="en-US" sz="1000" dirty="0">
                <a:solidFill>
                  <a:srgbClr val="E05252"/>
                </a:solidFill>
                <a:latin typeface="Malgun Gothic" pitchFamily="34" charset="0"/>
                <a:ea typeface="Malgun Gothic" pitchFamily="34" charset="-122"/>
                <a:cs typeface="Malgun Gothic" pitchFamily="34" charset="-120"/>
              </a:rPr>
              <a:t>미연결 = 갭</a:t>
            </a:r>
            <a:endParaRPr lang="en-US" sz="1000" dirty="0"/>
          </a:p>
        </p:txBody>
      </p:sp>
      <p:sp>
        <p:nvSpPr>
          <p:cNvPr id="45" name="Text 37"/>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A0ABBC"/>
                </a:solidFill>
                <a:latin typeface="Malgun Gothic" pitchFamily="34" charset="0"/>
                <a:ea typeface="Malgun Gothic" pitchFamily="34" charset="-122"/>
                <a:cs typeface="Malgun Gothic" pitchFamily="34" charset="-120"/>
              </a:rPr>
              <a:t>UTOP  ·  Ubiquoss Test Orchestration Platform</a:t>
            </a:r>
            <a:endParaRPr lang="en-US" sz="900" dirty="0"/>
          </a:p>
        </p:txBody>
      </p:sp>
      <p:sp>
        <p:nvSpPr>
          <p:cNvPr id="46" name="Text 38"/>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A0ABBC"/>
                </a:solidFill>
                <a:latin typeface="Malgun Gothic" pitchFamily="34" charset="0"/>
                <a:ea typeface="Malgun Gothic" pitchFamily="34" charset="-122"/>
                <a:cs typeface="Malgun Gothic"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t"/>
          <a:lstStyle/>
          <a:p>
            <a:pPr indent="0" marL="0">
              <a:buNone/>
            </a:pPr>
            <a:r>
              <a:rPr lang="en-US" sz="3000" b="1" dirty="0">
                <a:solidFill>
                  <a:srgbClr val="0F1E3C"/>
                </a:solidFill>
                <a:latin typeface="Malgun Gothic" pitchFamily="34" charset="0"/>
                <a:ea typeface="Malgun Gothic" pitchFamily="34" charset="-122"/>
                <a:cs typeface="Malgun Gothic" pitchFamily="34" charset="-120"/>
              </a:rPr>
              <a:t>시험 항목 — 스텝 하나가 명령 · 기대값 · 판정</a:t>
            </a:r>
            <a:endParaRPr lang="en-US" sz="3000" dirty="0"/>
          </a:p>
        </p:txBody>
      </p:sp>
      <p:sp>
        <p:nvSpPr>
          <p:cNvPr id="3" name="Text 1"/>
          <p:cNvSpPr txBox="1"/>
          <p:nvPr/>
        </p:nvSpPr>
        <p:spPr>
          <a:xfrm>
            <a:off x="548640" y="1024128"/>
            <a:ext cx="11094415" cy="365760"/>
          </a:xfrm>
          <a:prstGeom prst="rect">
            <a:avLst/>
          </a:prstGeom>
          <a:noFill/>
          <a:ln/>
        </p:spPr>
        <p:txBody>
          <a:bodyPr wrap="square" lIns="0" tIns="0" rIns="0" bIns="0" rtlCol="0" anchor="t"/>
          <a:lstStyle/>
          <a:p>
            <a:pPr indent="0" marL="0">
              <a:buNone/>
            </a:pPr>
            <a:r>
              <a:rPr lang="en-US" sz="1400" dirty="0">
                <a:solidFill>
                  <a:srgbClr val="6B7A90"/>
                </a:solidFill>
                <a:latin typeface="Malgun Gothic" pitchFamily="34" charset="0"/>
                <a:ea typeface="Malgun Gothic" pitchFamily="34" charset="-122"/>
                <a:cs typeface="Malgun Gothic" pitchFamily="34" charset="-120"/>
              </a:rPr>
              <a:t>한 시험으로 여러 기종을, 파라미터 하나로 여러 버전을</a:t>
            </a:r>
            <a:endParaRPr lang="en-US" sz="1400" dirty="0"/>
          </a:p>
        </p:txBody>
      </p:sp>
      <p:sp>
        <p:nvSpPr>
          <p:cNvPr id="4" name="Shape 2"/>
          <p:cNvSpPr/>
          <p:nvPr/>
        </p:nvSpPr>
        <p:spPr>
          <a:xfrm>
            <a:off x="548640" y="1737360"/>
            <a:ext cx="502920" cy="502920"/>
          </a:xfrm>
          <a:prstGeom prst="ellipse">
            <a:avLst/>
          </a:prstGeom>
          <a:solidFill>
            <a:srgbClr val="EEF3F9"/>
          </a:solidFill>
          <a:ln w="12700">
            <a:solidFill>
              <a:srgbClr val="EEF3F9"/>
            </a:solidFill>
            <a:prstDash val="solid"/>
          </a:ln>
        </p:spPr>
      </p:sp>
      <p:pic>
        <p:nvPicPr>
          <p:cNvPr id="5" name="Image 0" descr="preencoded.png">    </p:cNvPr>
          <p:cNvPicPr>
            <a:picLocks noChangeAspect="1"/>
          </p:cNvPicPr>
          <p:nvPr/>
        </p:nvPicPr>
        <p:blipFill>
          <a:blip r:embed="rId1"/>
          <a:stretch>
            <a:fillRect/>
          </a:stretch>
        </p:blipFill>
        <p:spPr>
          <a:xfrm>
            <a:off x="684428" y="1873148"/>
            <a:ext cx="231343" cy="231343"/>
          </a:xfrm>
          <a:prstGeom prst="rect">
            <a:avLst/>
          </a:prstGeom>
        </p:spPr>
      </p:pic>
      <p:sp>
        <p:nvSpPr>
          <p:cNvPr id="6" name="Text 3"/>
          <p:cNvSpPr txBox="1"/>
          <p:nvPr/>
        </p:nvSpPr>
        <p:spPr>
          <a:xfrm>
            <a:off x="1234440" y="1719072"/>
            <a:ext cx="5486400" cy="274320"/>
          </a:xfrm>
          <a:prstGeom prst="rect">
            <a:avLst/>
          </a:prstGeom>
          <a:noFill/>
          <a:ln/>
        </p:spPr>
        <p:txBody>
          <a:bodyPr wrap="square" lIns="0" tIns="0" rIns="0" bIns="0" rtlCol="0" anchor="t"/>
          <a:lstStyle/>
          <a:p>
            <a:pPr indent="0" marL="0">
              <a:buNone/>
            </a:pPr>
            <a:r>
              <a:rPr lang="en-US" sz="1300" b="1" dirty="0">
                <a:solidFill>
                  <a:srgbClr val="0F1E3C"/>
                </a:solidFill>
                <a:latin typeface="Malgun Gothic" pitchFamily="34" charset="0"/>
                <a:ea typeface="Malgun Gothic" pitchFamily="34" charset="-122"/>
                <a:cs typeface="Malgun Gothic" pitchFamily="34" charset="-120"/>
              </a:rPr>
              <a:t>스텝 그리드</a:t>
            </a:r>
            <a:endParaRPr lang="en-US" sz="1300" dirty="0"/>
          </a:p>
        </p:txBody>
      </p:sp>
      <p:sp>
        <p:nvSpPr>
          <p:cNvPr id="7" name="Text 4"/>
          <p:cNvSpPr txBox="1"/>
          <p:nvPr/>
        </p:nvSpPr>
        <p:spPr>
          <a:xfrm>
            <a:off x="1234440" y="1993392"/>
            <a:ext cx="5486400" cy="548640"/>
          </a:xfrm>
          <a:prstGeom prst="rect">
            <a:avLst/>
          </a:prstGeom>
          <a:noFill/>
          <a:ln/>
        </p:spPr>
        <p:txBody>
          <a:bodyPr wrap="square" lIns="0" tIns="0" rIns="0" bIns="0" rtlCol="0" anchor="t"/>
          <a:lstStyle/>
          <a:p>
            <a:pPr indent="0" marL="0">
              <a:lnSpc>
                <a:spcPct val="115000"/>
              </a:lnSpc>
              <a:buNone/>
            </a:pPr>
            <a:r>
              <a:rPr lang="en-US" sz="1100" dirty="0">
                <a:solidFill>
                  <a:srgbClr val="1A2333"/>
                </a:solidFill>
                <a:latin typeface="Malgun Gothic" pitchFamily="34" charset="0"/>
                <a:ea typeface="Malgun Gothic" pitchFamily="34" charset="-122"/>
                <a:cs typeface="Malgun Gothic" pitchFamily="34" charset="-120"/>
              </a:rPr>
              <a:t>스텝마다 대상 장비 · 명령 · 기대값 · 판정 종류. 세션 열고 닫는 스텝은 필요 없다 — 자동으로 붙고 끊는다.</a:t>
            </a:r>
            <a:endParaRPr lang="en-US" sz="1100" dirty="0"/>
          </a:p>
        </p:txBody>
      </p:sp>
      <p:sp>
        <p:nvSpPr>
          <p:cNvPr id="8" name="Shape 5"/>
          <p:cNvSpPr/>
          <p:nvPr/>
        </p:nvSpPr>
        <p:spPr>
          <a:xfrm>
            <a:off x="548640" y="2606040"/>
            <a:ext cx="502920" cy="502920"/>
          </a:xfrm>
          <a:prstGeom prst="ellipse">
            <a:avLst/>
          </a:prstGeom>
          <a:solidFill>
            <a:srgbClr val="EEF3F9"/>
          </a:solidFill>
          <a:ln w="12700">
            <a:solidFill>
              <a:srgbClr val="EEF3F9"/>
            </a:solidFill>
            <a:prstDash val="solid"/>
          </a:ln>
        </p:spPr>
      </p:sp>
      <p:pic>
        <p:nvPicPr>
          <p:cNvPr id="9" name="Image 1" descr="preencoded.png">    </p:cNvPr>
          <p:cNvPicPr>
            <a:picLocks noChangeAspect="1"/>
          </p:cNvPicPr>
          <p:nvPr/>
        </p:nvPicPr>
        <p:blipFill>
          <a:blip r:embed="rId2"/>
          <a:stretch>
            <a:fillRect/>
          </a:stretch>
        </p:blipFill>
        <p:spPr>
          <a:xfrm>
            <a:off x="684428" y="2741828"/>
            <a:ext cx="231343" cy="231343"/>
          </a:xfrm>
          <a:prstGeom prst="rect">
            <a:avLst/>
          </a:prstGeom>
        </p:spPr>
      </p:pic>
      <p:sp>
        <p:nvSpPr>
          <p:cNvPr id="10" name="Text 6"/>
          <p:cNvSpPr txBox="1"/>
          <p:nvPr/>
        </p:nvSpPr>
        <p:spPr>
          <a:xfrm>
            <a:off x="1234440" y="2587752"/>
            <a:ext cx="5486400" cy="274320"/>
          </a:xfrm>
          <a:prstGeom prst="rect">
            <a:avLst/>
          </a:prstGeom>
          <a:noFill/>
          <a:ln/>
        </p:spPr>
        <p:txBody>
          <a:bodyPr wrap="square" lIns="0" tIns="0" rIns="0" bIns="0" rtlCol="0" anchor="t"/>
          <a:lstStyle/>
          <a:p>
            <a:pPr indent="0" marL="0">
              <a:buNone/>
            </a:pPr>
            <a:r>
              <a:rPr lang="en-US" sz="1300" b="1" dirty="0">
                <a:solidFill>
                  <a:srgbClr val="0F1E3C"/>
                </a:solidFill>
                <a:latin typeface="Malgun Gothic" pitchFamily="34" charset="0"/>
                <a:ea typeface="Malgun Gothic" pitchFamily="34" charset="-122"/>
                <a:cs typeface="Malgun Gothic" pitchFamily="34" charset="-120"/>
              </a:rPr>
              <a:t>IF ${model} 분기</a:t>
            </a:r>
            <a:endParaRPr lang="en-US" sz="1300" dirty="0"/>
          </a:p>
        </p:txBody>
      </p:sp>
      <p:sp>
        <p:nvSpPr>
          <p:cNvPr id="11" name="Text 7"/>
          <p:cNvSpPr txBox="1"/>
          <p:nvPr/>
        </p:nvSpPr>
        <p:spPr>
          <a:xfrm>
            <a:off x="1234440" y="2862072"/>
            <a:ext cx="5486400" cy="548640"/>
          </a:xfrm>
          <a:prstGeom prst="rect">
            <a:avLst/>
          </a:prstGeom>
          <a:noFill/>
          <a:ln/>
        </p:spPr>
        <p:txBody>
          <a:bodyPr wrap="square" lIns="0" tIns="0" rIns="0" bIns="0" rtlCol="0" anchor="t"/>
          <a:lstStyle/>
          <a:p>
            <a:pPr indent="0" marL="0">
              <a:lnSpc>
                <a:spcPct val="115000"/>
              </a:lnSpc>
              <a:buNone/>
            </a:pPr>
            <a:r>
              <a:rPr lang="en-US" sz="1100" dirty="0">
                <a:solidFill>
                  <a:srgbClr val="1A2333"/>
                </a:solidFill>
                <a:latin typeface="Malgun Gothic" pitchFamily="34" charset="0"/>
                <a:ea typeface="Malgun Gothic" pitchFamily="34" charset="-122"/>
                <a:cs typeface="Malgun Gothic" pitchFamily="34" charset="-120"/>
              </a:rPr>
              <a:t>기종에 따라 다른 명령을 한 시험 안에서 나눈다. 시험 1 건으로 다기종 대응.</a:t>
            </a:r>
            <a:endParaRPr lang="en-US" sz="1100" dirty="0"/>
          </a:p>
        </p:txBody>
      </p:sp>
      <p:sp>
        <p:nvSpPr>
          <p:cNvPr id="12" name="Shape 8"/>
          <p:cNvSpPr/>
          <p:nvPr/>
        </p:nvSpPr>
        <p:spPr>
          <a:xfrm>
            <a:off x="548640" y="3474720"/>
            <a:ext cx="502920" cy="502920"/>
          </a:xfrm>
          <a:prstGeom prst="ellipse">
            <a:avLst/>
          </a:prstGeom>
          <a:solidFill>
            <a:srgbClr val="EEF3F9"/>
          </a:solidFill>
          <a:ln w="12700">
            <a:solidFill>
              <a:srgbClr val="EEF3F9"/>
            </a:solidFill>
            <a:prstDash val="solid"/>
          </a:ln>
        </p:spPr>
      </p:sp>
      <p:pic>
        <p:nvPicPr>
          <p:cNvPr id="13" name="Image 2" descr="preencoded.png">    </p:cNvPr>
          <p:cNvPicPr>
            <a:picLocks noChangeAspect="1"/>
          </p:cNvPicPr>
          <p:nvPr/>
        </p:nvPicPr>
        <p:blipFill>
          <a:blip r:embed="rId3"/>
          <a:stretch>
            <a:fillRect/>
          </a:stretch>
        </p:blipFill>
        <p:spPr>
          <a:xfrm>
            <a:off x="684428" y="3610508"/>
            <a:ext cx="231343" cy="231343"/>
          </a:xfrm>
          <a:prstGeom prst="rect">
            <a:avLst/>
          </a:prstGeom>
        </p:spPr>
      </p:pic>
      <p:sp>
        <p:nvSpPr>
          <p:cNvPr id="14" name="Text 9"/>
          <p:cNvSpPr txBox="1"/>
          <p:nvPr/>
        </p:nvSpPr>
        <p:spPr>
          <a:xfrm>
            <a:off x="1234440" y="3456432"/>
            <a:ext cx="5486400" cy="274320"/>
          </a:xfrm>
          <a:prstGeom prst="rect">
            <a:avLst/>
          </a:prstGeom>
          <a:noFill/>
          <a:ln/>
        </p:spPr>
        <p:txBody>
          <a:bodyPr wrap="square" lIns="0" tIns="0" rIns="0" bIns="0" rtlCol="0" anchor="t"/>
          <a:lstStyle/>
          <a:p>
            <a:pPr indent="0" marL="0">
              <a:buNone/>
            </a:pPr>
            <a:r>
              <a:rPr lang="en-US" sz="1300" b="1" dirty="0">
                <a:solidFill>
                  <a:srgbClr val="0F1E3C"/>
                </a:solidFill>
                <a:latin typeface="Malgun Gothic" pitchFamily="34" charset="0"/>
                <a:ea typeface="Malgun Gothic" pitchFamily="34" charset="-122"/>
                <a:cs typeface="Malgun Gothic" pitchFamily="34" charset="-120"/>
              </a:rPr>
              <a:t>변수 · 전역 파라미터</a:t>
            </a:r>
            <a:endParaRPr lang="en-US" sz="1300" dirty="0"/>
          </a:p>
        </p:txBody>
      </p:sp>
      <p:sp>
        <p:nvSpPr>
          <p:cNvPr id="15" name="Text 10"/>
          <p:cNvSpPr txBox="1"/>
          <p:nvPr/>
        </p:nvSpPr>
        <p:spPr>
          <a:xfrm>
            <a:off x="1234440" y="3730752"/>
            <a:ext cx="5486400" cy="548640"/>
          </a:xfrm>
          <a:prstGeom prst="rect">
            <a:avLst/>
          </a:prstGeom>
          <a:noFill/>
          <a:ln/>
        </p:spPr>
        <p:txBody>
          <a:bodyPr wrap="square" lIns="0" tIns="0" rIns="0" bIns="0" rtlCol="0" anchor="t"/>
          <a:lstStyle/>
          <a:p>
            <a:pPr indent="0" marL="0">
              <a:lnSpc>
                <a:spcPct val="115000"/>
              </a:lnSpc>
              <a:buNone/>
            </a:pPr>
            <a:r>
              <a:rPr lang="en-US" sz="1100" dirty="0">
                <a:solidFill>
                  <a:srgbClr val="1A2333"/>
                </a:solidFill>
                <a:latin typeface="Malgun Gothic" pitchFamily="34" charset="0"/>
                <a:ea typeface="Malgun Gothic" pitchFamily="34" charset="-122"/>
                <a:cs typeface="Malgun Gothic" pitchFamily="34" charset="-120"/>
              </a:rPr>
              <a:t>${name} 치환, ${i+100} 연산, 중첩 치환. 반복 번호와 SNMP 인덱스가 어긋나도 한 벌로.</a:t>
            </a:r>
            <a:endParaRPr lang="en-US" sz="1100" dirty="0"/>
          </a:p>
        </p:txBody>
      </p:sp>
      <p:sp>
        <p:nvSpPr>
          <p:cNvPr id="16" name="Shape 11"/>
          <p:cNvSpPr/>
          <p:nvPr/>
        </p:nvSpPr>
        <p:spPr>
          <a:xfrm>
            <a:off x="548640" y="4343400"/>
            <a:ext cx="502920" cy="502920"/>
          </a:xfrm>
          <a:prstGeom prst="ellipse">
            <a:avLst/>
          </a:prstGeom>
          <a:solidFill>
            <a:srgbClr val="EEF3F9"/>
          </a:solidFill>
          <a:ln w="12700">
            <a:solidFill>
              <a:srgbClr val="EEF3F9"/>
            </a:solidFill>
            <a:prstDash val="solid"/>
          </a:ln>
        </p:spPr>
      </p:sp>
      <p:pic>
        <p:nvPicPr>
          <p:cNvPr id="17" name="Image 3" descr="preencoded.png">    </p:cNvPr>
          <p:cNvPicPr>
            <a:picLocks noChangeAspect="1"/>
          </p:cNvPicPr>
          <p:nvPr/>
        </p:nvPicPr>
        <p:blipFill>
          <a:blip r:embed="rId4"/>
          <a:stretch>
            <a:fillRect/>
          </a:stretch>
        </p:blipFill>
        <p:spPr>
          <a:xfrm>
            <a:off x="684428" y="4479188"/>
            <a:ext cx="231343" cy="231343"/>
          </a:xfrm>
          <a:prstGeom prst="rect">
            <a:avLst/>
          </a:prstGeom>
        </p:spPr>
      </p:pic>
      <p:sp>
        <p:nvSpPr>
          <p:cNvPr id="18" name="Text 12"/>
          <p:cNvSpPr txBox="1"/>
          <p:nvPr/>
        </p:nvSpPr>
        <p:spPr>
          <a:xfrm>
            <a:off x="1234440" y="4325112"/>
            <a:ext cx="5486400" cy="274320"/>
          </a:xfrm>
          <a:prstGeom prst="rect">
            <a:avLst/>
          </a:prstGeom>
          <a:noFill/>
          <a:ln/>
        </p:spPr>
        <p:txBody>
          <a:bodyPr wrap="square" lIns="0" tIns="0" rIns="0" bIns="0" rtlCol="0" anchor="t"/>
          <a:lstStyle/>
          <a:p>
            <a:pPr indent="0" marL="0">
              <a:buNone/>
            </a:pPr>
            <a:r>
              <a:rPr lang="en-US" sz="1300" b="1" dirty="0">
                <a:solidFill>
                  <a:srgbClr val="0F1E3C"/>
                </a:solidFill>
                <a:latin typeface="Malgun Gothic" pitchFamily="34" charset="0"/>
                <a:ea typeface="Malgun Gothic" pitchFamily="34" charset="-122"/>
                <a:cs typeface="Malgun Gothic" pitchFamily="34" charset="-120"/>
              </a:rPr>
              <a:t>토폴로지 · 결선도</a:t>
            </a:r>
            <a:endParaRPr lang="en-US" sz="1300" dirty="0"/>
          </a:p>
        </p:txBody>
      </p:sp>
      <p:sp>
        <p:nvSpPr>
          <p:cNvPr id="19" name="Text 13"/>
          <p:cNvSpPr txBox="1"/>
          <p:nvPr/>
        </p:nvSpPr>
        <p:spPr>
          <a:xfrm>
            <a:off x="1234440" y="4599432"/>
            <a:ext cx="5486400" cy="548640"/>
          </a:xfrm>
          <a:prstGeom prst="rect">
            <a:avLst/>
          </a:prstGeom>
          <a:noFill/>
          <a:ln/>
        </p:spPr>
        <p:txBody>
          <a:bodyPr wrap="square" lIns="0" tIns="0" rIns="0" bIns="0" rtlCol="0" anchor="t"/>
          <a:lstStyle/>
          <a:p>
            <a:pPr indent="0" marL="0">
              <a:lnSpc>
                <a:spcPct val="115000"/>
              </a:lnSpc>
              <a:buNone/>
            </a:pPr>
            <a:r>
              <a:rPr lang="en-US" sz="1100" dirty="0">
                <a:solidFill>
                  <a:srgbClr val="1A2333"/>
                </a:solidFill>
                <a:latin typeface="Malgun Gothic" pitchFamily="34" charset="0"/>
                <a:ea typeface="Malgun Gothic" pitchFamily="34" charset="-122"/>
                <a:cs typeface="Malgun Gothic" pitchFamily="34" charset="-120"/>
              </a:rPr>
              <a:t>시험 환경(장비 · 포트 연결)을 판에 그려 두면 결과서에 같은 그림이 들어간다.</a:t>
            </a:r>
            <a:endParaRPr lang="en-US" sz="1100" dirty="0"/>
          </a:p>
        </p:txBody>
      </p:sp>
      <p:sp>
        <p:nvSpPr>
          <p:cNvPr id="20" name="Shape 14"/>
          <p:cNvSpPr/>
          <p:nvPr/>
        </p:nvSpPr>
        <p:spPr>
          <a:xfrm>
            <a:off x="548640" y="5212080"/>
            <a:ext cx="502920" cy="502920"/>
          </a:xfrm>
          <a:prstGeom prst="ellipse">
            <a:avLst/>
          </a:prstGeom>
          <a:solidFill>
            <a:srgbClr val="EEF3F9"/>
          </a:solidFill>
          <a:ln w="12700">
            <a:solidFill>
              <a:srgbClr val="EEF3F9"/>
            </a:solidFill>
            <a:prstDash val="solid"/>
          </a:ln>
        </p:spPr>
      </p:sp>
      <p:pic>
        <p:nvPicPr>
          <p:cNvPr id="21" name="Image 4" descr="preencoded.png">    </p:cNvPr>
          <p:cNvPicPr>
            <a:picLocks noChangeAspect="1"/>
          </p:cNvPicPr>
          <p:nvPr/>
        </p:nvPicPr>
        <p:blipFill>
          <a:blip r:embed="rId5"/>
          <a:stretch>
            <a:fillRect/>
          </a:stretch>
        </p:blipFill>
        <p:spPr>
          <a:xfrm>
            <a:off x="684428" y="5347868"/>
            <a:ext cx="231343" cy="231343"/>
          </a:xfrm>
          <a:prstGeom prst="rect">
            <a:avLst/>
          </a:prstGeom>
        </p:spPr>
      </p:pic>
      <p:sp>
        <p:nvSpPr>
          <p:cNvPr id="22" name="Text 15"/>
          <p:cNvSpPr txBox="1"/>
          <p:nvPr/>
        </p:nvSpPr>
        <p:spPr>
          <a:xfrm>
            <a:off x="1234440" y="5193792"/>
            <a:ext cx="5486400" cy="274320"/>
          </a:xfrm>
          <a:prstGeom prst="rect">
            <a:avLst/>
          </a:prstGeom>
          <a:noFill/>
          <a:ln/>
        </p:spPr>
        <p:txBody>
          <a:bodyPr wrap="square" lIns="0" tIns="0" rIns="0" bIns="0" rtlCol="0" anchor="t"/>
          <a:lstStyle/>
          <a:p>
            <a:pPr indent="0" marL="0">
              <a:buNone/>
            </a:pPr>
            <a:r>
              <a:rPr lang="en-US" sz="1300" b="1" dirty="0">
                <a:solidFill>
                  <a:srgbClr val="0F1E3C"/>
                </a:solidFill>
                <a:latin typeface="Malgun Gothic" pitchFamily="34" charset="0"/>
                <a:ea typeface="Malgun Gothic" pitchFamily="34" charset="-122"/>
                <a:cs typeface="Malgun Gothic" pitchFamily="34" charset="-120"/>
              </a:rPr>
              <a:t>개정 이력</a:t>
            </a:r>
            <a:endParaRPr lang="en-US" sz="1300" dirty="0"/>
          </a:p>
        </p:txBody>
      </p:sp>
      <p:sp>
        <p:nvSpPr>
          <p:cNvPr id="23" name="Text 16"/>
          <p:cNvSpPr txBox="1"/>
          <p:nvPr/>
        </p:nvSpPr>
        <p:spPr>
          <a:xfrm>
            <a:off x="1234440" y="5468112"/>
            <a:ext cx="5486400" cy="548640"/>
          </a:xfrm>
          <a:prstGeom prst="rect">
            <a:avLst/>
          </a:prstGeom>
          <a:noFill/>
          <a:ln/>
        </p:spPr>
        <p:txBody>
          <a:bodyPr wrap="square" lIns="0" tIns="0" rIns="0" bIns="0" rtlCol="0" anchor="t"/>
          <a:lstStyle/>
          <a:p>
            <a:pPr indent="0" marL="0">
              <a:lnSpc>
                <a:spcPct val="115000"/>
              </a:lnSpc>
              <a:buNone/>
            </a:pPr>
            <a:r>
              <a:rPr lang="en-US" sz="1100" dirty="0">
                <a:solidFill>
                  <a:srgbClr val="1A2333"/>
                </a:solidFill>
                <a:latin typeface="Malgun Gothic" pitchFamily="34" charset="0"/>
                <a:ea typeface="Malgun Gothic" pitchFamily="34" charset="-122"/>
                <a:cs typeface="Malgun Gothic" pitchFamily="34" charset="-120"/>
              </a:rPr>
              <a:t>저장할 때마다 판을 남기고 되돌린다. 실행 이력(누가 · 언제 · 결과) 도 자동 축적.</a:t>
            </a:r>
            <a:endParaRPr lang="en-US" sz="1100" dirty="0"/>
          </a:p>
        </p:txBody>
      </p:sp>
      <p:sp>
        <p:nvSpPr>
          <p:cNvPr id="24" name="Text 17"/>
          <p:cNvSpPr txBox="1"/>
          <p:nvPr/>
        </p:nvSpPr>
        <p:spPr>
          <a:xfrm>
            <a:off x="6949440" y="1737360"/>
            <a:ext cx="4693615" cy="320040"/>
          </a:xfrm>
          <a:prstGeom prst="rect">
            <a:avLst/>
          </a:prstGeom>
          <a:noFill/>
          <a:ln/>
        </p:spPr>
        <p:txBody>
          <a:bodyPr wrap="square" lIns="0" tIns="0" rIns="0" bIns="0" rtlCol="0" anchor="t"/>
          <a:lstStyle/>
          <a:p>
            <a:pPr indent="0" marL="0">
              <a:buNone/>
            </a:pPr>
            <a:r>
              <a:rPr lang="en-US" sz="1300" b="1" dirty="0">
                <a:solidFill>
                  <a:srgbClr val="0F1E3C"/>
                </a:solidFill>
                <a:latin typeface="Malgun Gothic" pitchFamily="34" charset="0"/>
                <a:ea typeface="Malgun Gothic" pitchFamily="34" charset="-122"/>
                <a:cs typeface="Malgun Gothic" pitchFamily="34" charset="-120"/>
              </a:rPr>
              <a:t>판정 종류 — 응답을 보고 Pass / Fail 을 가른다</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949440" y="2148840"/>
          <a:ext cx="4693615" cy="914400"/>
        </p:xfrm>
        <a:graphic>
          <a:graphicData uri="http://schemas.openxmlformats.org/drawingml/2006/table">
            <a:tbl>
              <a:tblPr/>
              <a:tblGrid>
                <a:gridCol w="1554480"/>
                <a:gridCol w="3139135"/>
              </a:tblGrid>
              <a:tr h="329184">
                <a:tc>
                  <a:txBody>
                    <a:bodyPr/>
                    <a:lstStyle/>
                    <a:p>
                      <a:pPr indent="0" marL="0">
                        <a:buNone/>
                      </a:pPr>
                      <a:r>
                        <a:rPr lang="en-US" sz="1100" b="1" dirty="0">
                          <a:solidFill>
                            <a:srgbClr val="FFFFFF"/>
                          </a:solidFill>
                          <a:latin typeface="Arial" pitchFamily="34" charset="0"/>
                          <a:ea typeface="Arial" pitchFamily="34" charset="-122"/>
                          <a:cs typeface="Arial" pitchFamily="34" charset="-120"/>
                        </a:rPr>
                        <a:t>type</a:t>
                      </a:r>
                      <a:endParaRPr lang="en-US" sz="1100" dirty="0">
                        <a:latin typeface="Arial" charset="0"/>
                        <a:ea typeface="Arial" charset="0"/>
                        <a:cs typeface="Arial" charset="0"/>
                      </a:endParaRPr>
                    </a:p>
                  </a:txBody>
                  <a:tcPr marL="54864" marR="54864" marT="54864" marB="54864"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0F1E3C"/>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규칙</a:t>
                      </a:r>
                      <a:endParaRPr lang="en-US" sz="1100" dirty="0">
                        <a:latin typeface="Arial" charset="0"/>
                        <a:ea typeface="Arial" charset="0"/>
                        <a:cs typeface="Arial" charset="0"/>
                      </a:endParaRPr>
                    </a:p>
                  </a:txBody>
                  <a:tcPr marL="54864" marR="54864" marT="54864" marB="54864"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0F1E3C"/>
                    </a:solidFill>
                  </a:tcPr>
                </a:tc>
              </a:tr>
              <a:tr h="329184">
                <a:tc>
                  <a:txBody>
                    <a:bodyPr/>
                    <a:lstStyle/>
                    <a:p>
                      <a:pPr indent="0" marL="0">
                        <a:buNone/>
                      </a:pPr>
                      <a:r>
                        <a:rPr lang="en-US" sz="1100" dirty="0">
                          <a:solidFill>
                            <a:srgbClr val="1A2333"/>
                          </a:solidFill>
                          <a:latin typeface="Courier New" pitchFamily="34" charset="0"/>
                          <a:ea typeface="Courier New" pitchFamily="34" charset="-122"/>
                          <a:cs typeface="Courier New" pitchFamily="34" charset="-120"/>
                        </a:rPr>
                        <a:t>contains</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출력에 있으면 합격</a:t>
                      </a:r>
                      <a:endParaRPr lang="en-US" sz="1100" dirty="0">
                        <a:latin typeface="Malgun Gothic" charset="0"/>
                        <a:ea typeface="Malgun Gothic" charset="0"/>
                        <a:cs typeface="Malgun Gothic" charset="0"/>
                      </a:endParaRPr>
                    </a:p>
                  </a:txBody>
                  <a:tcPr marL="54864" marR="54864" marT="54864" marB="54864"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A2333"/>
                          </a:solidFill>
                          <a:latin typeface="Courier New" pitchFamily="34" charset="0"/>
                          <a:ea typeface="Courier New" pitchFamily="34" charset="-122"/>
                          <a:cs typeface="Courier New" pitchFamily="34" charset="-120"/>
                        </a:rPr>
                        <a:t>contains_all</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모두 있으면 합격</a:t>
                      </a:r>
                      <a:endParaRPr lang="en-US" sz="1100" dirty="0">
                        <a:latin typeface="Malgun Gothic" charset="0"/>
                        <a:ea typeface="Malgun Gothic" charset="0"/>
                        <a:cs typeface="Malgun Gothic" charset="0"/>
                      </a:endParaRPr>
                    </a:p>
                  </a:txBody>
                  <a:tcPr marL="54864" marR="54864" marT="54864" marB="54864"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A2333"/>
                          </a:solidFill>
                          <a:latin typeface="Courier New" pitchFamily="34" charset="0"/>
                          <a:ea typeface="Courier New" pitchFamily="34" charset="-122"/>
                          <a:cs typeface="Courier New" pitchFamily="34" charset="-120"/>
                        </a:rPr>
                        <a:t>notcontains</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있으면 불합격</a:t>
                      </a:r>
                      <a:endParaRPr lang="en-US" sz="1100" dirty="0">
                        <a:latin typeface="Malgun Gothic" charset="0"/>
                        <a:ea typeface="Malgun Gothic" charset="0"/>
                        <a:cs typeface="Malgun Gothic" charset="0"/>
                      </a:endParaRPr>
                    </a:p>
                  </a:txBody>
                  <a:tcPr marL="54864" marR="54864" marT="54864" marB="54864"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A2333"/>
                          </a:solidFill>
                          <a:latin typeface="Courier New" pitchFamily="34" charset="0"/>
                          <a:ea typeface="Courier New" pitchFamily="34" charset="-122"/>
                          <a:cs typeface="Courier New" pitchFamily="34" charset="-120"/>
                        </a:rPr>
                        <a:t>ok</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오류만 없으면 합격</a:t>
                      </a:r>
                      <a:endParaRPr lang="en-US" sz="1100" dirty="0">
                        <a:latin typeface="Malgun Gothic" charset="0"/>
                        <a:ea typeface="Malgun Gothic" charset="0"/>
                        <a:cs typeface="Malgun Gothic" charset="0"/>
                      </a:endParaRPr>
                    </a:p>
                  </a:txBody>
                  <a:tcPr marL="54864" marR="54864" marT="54864" marB="54864"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A2333"/>
                          </a:solidFill>
                          <a:latin typeface="Courier New" pitchFamily="34" charset="0"/>
                          <a:ea typeface="Courier New" pitchFamily="34" charset="-122"/>
                          <a:cs typeface="Courier New" pitchFamily="34" charset="-120"/>
                        </a:rPr>
                        <a:t>line</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항목(키 : 값) 일치</a:t>
                      </a:r>
                      <a:endParaRPr lang="en-US" sz="1100" dirty="0">
                        <a:latin typeface="Malgun Gothic" charset="0"/>
                        <a:ea typeface="Malgun Gothic" charset="0"/>
                        <a:cs typeface="Malgun Gothic" charset="0"/>
                      </a:endParaRPr>
                    </a:p>
                  </a:txBody>
                  <a:tcPr marL="54864" marR="54864" marT="54864" marB="54864"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A2333"/>
                          </a:solidFill>
                          <a:latin typeface="Courier New" pitchFamily="34" charset="0"/>
                          <a:ea typeface="Courier New" pitchFamily="34" charset="-122"/>
                          <a:cs typeface="Courier New" pitchFamily="34" charset="-120"/>
                        </a:rPr>
                        <a:t>table</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표에서 행 · 열로 판정</a:t>
                      </a:r>
                      <a:endParaRPr lang="en-US" sz="1100" dirty="0">
                        <a:latin typeface="Malgun Gothic" charset="0"/>
                        <a:ea typeface="Malgun Gothic" charset="0"/>
                        <a:cs typeface="Malgun Gothic" charset="0"/>
                      </a:endParaRPr>
                    </a:p>
                  </a:txBody>
                  <a:tcPr marL="54864" marR="54864" marT="54864" marB="54864"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A2333"/>
                          </a:solidFill>
                          <a:latin typeface="Courier New" pitchFamily="34" charset="0"/>
                          <a:ea typeface="Courier New" pitchFamily="34" charset="-122"/>
                          <a:cs typeface="Courier New" pitchFamily="34" charset="-120"/>
                        </a:rPr>
                        <a:t>none</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판정 안 함 (조회만)</a:t>
                      </a:r>
                      <a:endParaRPr lang="en-US" sz="1100" dirty="0">
                        <a:latin typeface="Malgun Gothic" charset="0"/>
                        <a:ea typeface="Malgun Gothic" charset="0"/>
                        <a:cs typeface="Malgun Gothic" charset="0"/>
                      </a:endParaRPr>
                    </a:p>
                  </a:txBody>
                  <a:tcPr marL="54864" marR="54864" marT="54864" marB="54864"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bl>
          </a:graphicData>
        </a:graphic>
      </p:graphicFrame>
      <p:sp>
        <p:nvSpPr>
          <p:cNvPr id="26" name="Shape 18"/>
          <p:cNvSpPr/>
          <p:nvPr/>
        </p:nvSpPr>
        <p:spPr>
          <a:xfrm>
            <a:off x="6949440" y="5029200"/>
            <a:ext cx="4693615" cy="1097280"/>
          </a:xfrm>
          <a:prstGeom prst="roundRect">
            <a:avLst>
              <a:gd name="adj" fmla="val 10000"/>
            </a:avLst>
          </a:prstGeom>
          <a:solidFill>
            <a:srgbClr val="DDF4F0"/>
          </a:solidFill>
          <a:ln w="12700">
            <a:solidFill>
              <a:srgbClr val="DDF4F0"/>
            </a:solidFill>
            <a:prstDash val="solid"/>
          </a:ln>
        </p:spPr>
      </p:sp>
      <p:sp>
        <p:nvSpPr>
          <p:cNvPr id="27" name="Text 19"/>
          <p:cNvSpPr txBox="1"/>
          <p:nvPr/>
        </p:nvSpPr>
        <p:spPr>
          <a:xfrm>
            <a:off x="7178040" y="5120640"/>
            <a:ext cx="3657600" cy="274320"/>
          </a:xfrm>
          <a:prstGeom prst="rect">
            <a:avLst/>
          </a:prstGeom>
          <a:noFill/>
          <a:ln/>
        </p:spPr>
        <p:txBody>
          <a:bodyPr wrap="square" lIns="0" tIns="0" rIns="0" bIns="0" rtlCol="0" anchor="t"/>
          <a:lstStyle/>
          <a:p>
            <a:pPr indent="0" marL="0">
              <a:buNone/>
            </a:pPr>
            <a:r>
              <a:rPr lang="en-US" sz="1200" b="1" dirty="0">
                <a:solidFill>
                  <a:srgbClr val="0F1E3C"/>
                </a:solidFill>
                <a:latin typeface="Malgun Gothic" pitchFamily="34" charset="0"/>
                <a:ea typeface="Malgun Gothic" pitchFamily="34" charset="-122"/>
                <a:cs typeface="Malgun Gothic" pitchFamily="34" charset="-120"/>
              </a:rPr>
              <a:t>스텝 종류</a:t>
            </a:r>
            <a:endParaRPr lang="en-US" sz="1200" dirty="0"/>
          </a:p>
        </p:txBody>
      </p:sp>
      <p:sp>
        <p:nvSpPr>
          <p:cNvPr id="28" name="Text 20"/>
          <p:cNvSpPr txBox="1"/>
          <p:nvPr/>
        </p:nvSpPr>
        <p:spPr>
          <a:xfrm>
            <a:off x="7178040" y="5394960"/>
            <a:ext cx="4236415" cy="685800"/>
          </a:xfrm>
          <a:prstGeom prst="rect">
            <a:avLst/>
          </a:prstGeom>
          <a:noFill/>
          <a:ln/>
        </p:spPr>
        <p:txBody>
          <a:bodyPr wrap="square" lIns="0" tIns="0" rIns="0" bIns="0" rtlCol="0" anchor="t"/>
          <a:lstStyle/>
          <a:p>
            <a:pPr indent="0" marL="0">
              <a:lnSpc>
                <a:spcPct val="115000"/>
              </a:lnSpc>
              <a:buNone/>
            </a:pPr>
            <a:r>
              <a:rPr lang="en-US" sz="1100" dirty="0">
                <a:solidFill>
                  <a:srgbClr val="1A2333"/>
                </a:solidFill>
                <a:latin typeface="Malgun Gothic" pitchFamily="34" charset="0"/>
                <a:ea typeface="Malgun Gothic" pitchFamily="34" charset="-122"/>
                <a:cs typeface="Malgun Gothic" pitchFamily="34" charset="-120"/>
              </a:rPr>
              <a:t>CLI 명령 · SNMP get / set / trap 대기 · 계측기 트래픽(N2X · STC) · 값 견주기(Diff) · 반복 · 대기 · 수동 확인 스텝. 자동 · 수동 실행 타입을 시험마다 지정한다.</a:t>
            </a:r>
            <a:endParaRPr lang="en-US" sz="1100" dirty="0"/>
          </a:p>
        </p:txBody>
      </p:sp>
      <p:sp>
        <p:nvSpPr>
          <p:cNvPr id="29" name="Text 21"/>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A0ABBC"/>
                </a:solidFill>
                <a:latin typeface="Malgun Gothic" pitchFamily="34" charset="0"/>
                <a:ea typeface="Malgun Gothic" pitchFamily="34" charset="-122"/>
                <a:cs typeface="Malgun Gothic" pitchFamily="34" charset="-120"/>
              </a:rPr>
              <a:t>UTOP  ·  Ubiquoss Test Orchestration Platform</a:t>
            </a:r>
            <a:endParaRPr lang="en-US" sz="900" dirty="0"/>
          </a:p>
        </p:txBody>
      </p:sp>
      <p:sp>
        <p:nvSpPr>
          <p:cNvPr id="30" name="Text 2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A0ABBC"/>
                </a:solidFill>
                <a:latin typeface="Malgun Gothic" pitchFamily="34" charset="0"/>
                <a:ea typeface="Malgun Gothic" pitchFamily="34" charset="-122"/>
                <a:cs typeface="Malgun Gothic"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t"/>
          <a:lstStyle/>
          <a:p>
            <a:pPr indent="0" marL="0">
              <a:buNone/>
            </a:pPr>
            <a:r>
              <a:rPr lang="en-US" sz="3000" b="1" dirty="0">
                <a:solidFill>
                  <a:srgbClr val="0F1E3C"/>
                </a:solidFill>
                <a:latin typeface="Malgun Gothic" pitchFamily="34" charset="0"/>
                <a:ea typeface="Malgun Gothic" pitchFamily="34" charset="-122"/>
                <a:cs typeface="Malgun Gothic" pitchFamily="34" charset="-120"/>
              </a:rPr>
              <a:t>장비 · 계측기 제어</a:t>
            </a:r>
            <a:endParaRPr lang="en-US" sz="3000" dirty="0"/>
          </a:p>
        </p:txBody>
      </p:sp>
      <p:sp>
        <p:nvSpPr>
          <p:cNvPr id="3" name="Text 1"/>
          <p:cNvSpPr txBox="1"/>
          <p:nvPr/>
        </p:nvSpPr>
        <p:spPr>
          <a:xfrm>
            <a:off x="548640" y="1024128"/>
            <a:ext cx="11094415" cy="365760"/>
          </a:xfrm>
          <a:prstGeom prst="rect">
            <a:avLst/>
          </a:prstGeom>
          <a:noFill/>
          <a:ln/>
        </p:spPr>
        <p:txBody>
          <a:bodyPr wrap="square" lIns="0" tIns="0" rIns="0" bIns="0" rtlCol="0" anchor="t"/>
          <a:lstStyle/>
          <a:p>
            <a:pPr indent="0" marL="0">
              <a:buNone/>
            </a:pPr>
            <a:r>
              <a:rPr lang="en-US" sz="1400" dirty="0">
                <a:solidFill>
                  <a:srgbClr val="6B7A90"/>
                </a:solidFill>
                <a:latin typeface="Malgun Gothic" pitchFamily="34" charset="0"/>
                <a:ea typeface="Malgun Gothic" pitchFamily="34" charset="-122"/>
                <a:cs typeface="Malgun Gothic" pitchFamily="34" charset="-120"/>
              </a:rPr>
              <a:t>CLI 부터 트래픽 계측기까지 같은 스텝 문법으로 다룬다</a:t>
            </a:r>
            <a:endParaRPr lang="en-US" sz="1400" dirty="0"/>
          </a:p>
        </p:txBody>
      </p:sp>
      <p:sp>
        <p:nvSpPr>
          <p:cNvPr id="4" name="Shape 2"/>
          <p:cNvSpPr/>
          <p:nvPr/>
        </p:nvSpPr>
        <p:spPr>
          <a:xfrm>
            <a:off x="548640" y="1691640"/>
            <a:ext cx="2567864" cy="3291840"/>
          </a:xfrm>
          <a:prstGeom prst="roundRect">
            <a:avLst>
              <a:gd name="adj" fmla="val 4273"/>
            </a:avLst>
          </a:prstGeom>
          <a:solidFill>
            <a:srgbClr val="EEF3F9"/>
          </a:solidFill>
          <a:ln w="12700">
            <a:solidFill>
              <a:srgbClr val="EEF3F9"/>
            </a:solidFill>
            <a:prstDash val="solid"/>
          </a:ln>
        </p:spPr>
      </p:sp>
      <p:sp>
        <p:nvSpPr>
          <p:cNvPr id="5" name="Shape 3"/>
          <p:cNvSpPr/>
          <p:nvPr/>
        </p:nvSpPr>
        <p:spPr>
          <a:xfrm>
            <a:off x="822960" y="1920240"/>
            <a:ext cx="640080" cy="640080"/>
          </a:xfrm>
          <a:prstGeom prst="ellipse">
            <a:avLst/>
          </a:prstGeom>
          <a:solidFill>
            <a:srgbClr val="0F1E3C"/>
          </a:solidFill>
          <a:ln w="12700">
            <a:solidFill>
              <a:srgbClr val="0F1E3C"/>
            </a:solidFill>
            <a:prstDash val="solid"/>
          </a:ln>
        </p:spPr>
      </p:sp>
      <p:pic>
        <p:nvPicPr>
          <p:cNvPr id="6" name="Image 0" descr="preencoded.png">    </p:cNvPr>
          <p:cNvPicPr>
            <a:picLocks noChangeAspect="1"/>
          </p:cNvPicPr>
          <p:nvPr/>
        </p:nvPicPr>
        <p:blipFill>
          <a:blip r:embed="rId1"/>
          <a:stretch>
            <a:fillRect/>
          </a:stretch>
        </p:blipFill>
        <p:spPr>
          <a:xfrm>
            <a:off x="995782" y="2093062"/>
            <a:ext cx="294437" cy="294437"/>
          </a:xfrm>
          <a:prstGeom prst="rect">
            <a:avLst/>
          </a:prstGeom>
        </p:spPr>
      </p:pic>
      <p:sp>
        <p:nvSpPr>
          <p:cNvPr id="7" name="Text 4"/>
          <p:cNvSpPr txBox="1"/>
          <p:nvPr/>
        </p:nvSpPr>
        <p:spPr>
          <a:xfrm>
            <a:off x="822960" y="2697480"/>
            <a:ext cx="2019224" cy="365760"/>
          </a:xfrm>
          <a:prstGeom prst="rect">
            <a:avLst/>
          </a:prstGeom>
          <a:noFill/>
          <a:ln/>
        </p:spPr>
        <p:txBody>
          <a:bodyPr wrap="square" lIns="0" tIns="0" rIns="0" bIns="0" rtlCol="0" anchor="t"/>
          <a:lstStyle/>
          <a:p>
            <a:pPr indent="0" marL="0">
              <a:buNone/>
            </a:pPr>
            <a:r>
              <a:rPr lang="en-US" sz="1400" b="1" dirty="0">
                <a:solidFill>
                  <a:srgbClr val="0F1E3C"/>
                </a:solidFill>
                <a:latin typeface="Malgun Gothic" pitchFamily="34" charset="0"/>
                <a:ea typeface="Malgun Gothic" pitchFamily="34" charset="-122"/>
                <a:cs typeface="Malgun Gothic" pitchFamily="34" charset="-120"/>
              </a:rPr>
              <a:t>CLI  ·  SSH / Telnet</a:t>
            </a:r>
            <a:endParaRPr lang="en-US" sz="1400" dirty="0"/>
          </a:p>
        </p:txBody>
      </p:sp>
      <p:sp>
        <p:nvSpPr>
          <p:cNvPr id="8" name="Text 5"/>
          <p:cNvSpPr txBox="1"/>
          <p:nvPr/>
        </p:nvSpPr>
        <p:spPr>
          <a:xfrm>
            <a:off x="822960" y="3108960"/>
            <a:ext cx="2019224" cy="178308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netmiko 기반, 프롬프트 인식 · 자동 enable</a:t>
            </a:r>
            <a:endParaRPr lang="en-US" sz="1050" dirty="0"/>
          </a:p>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장비별 커넥션 캐시 + 락 — 같은 장비는 순차, 다른 장비는 병렬</a:t>
            </a:r>
            <a:endParaRPr lang="en-US" sz="1050" dirty="0"/>
          </a:p>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스트리밍 실행 · 자동완성 · 웹 터미널</a:t>
            </a:r>
            <a:endParaRPr lang="en-US" sz="1050" dirty="0"/>
          </a:p>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30분 무갱신 시 세션 정리</a:t>
            </a:r>
            <a:endParaRPr lang="en-US" sz="1050" dirty="0"/>
          </a:p>
        </p:txBody>
      </p:sp>
      <p:sp>
        <p:nvSpPr>
          <p:cNvPr id="9" name="Shape 6"/>
          <p:cNvSpPr/>
          <p:nvPr/>
        </p:nvSpPr>
        <p:spPr>
          <a:xfrm>
            <a:off x="3390824" y="1691640"/>
            <a:ext cx="2567864" cy="3291840"/>
          </a:xfrm>
          <a:prstGeom prst="roundRect">
            <a:avLst>
              <a:gd name="adj" fmla="val 4273"/>
            </a:avLst>
          </a:prstGeom>
          <a:solidFill>
            <a:srgbClr val="EEF3F9"/>
          </a:solidFill>
          <a:ln w="12700">
            <a:solidFill>
              <a:srgbClr val="EEF3F9"/>
            </a:solidFill>
            <a:prstDash val="solid"/>
          </a:ln>
        </p:spPr>
      </p:sp>
      <p:sp>
        <p:nvSpPr>
          <p:cNvPr id="10" name="Shape 7"/>
          <p:cNvSpPr/>
          <p:nvPr/>
        </p:nvSpPr>
        <p:spPr>
          <a:xfrm>
            <a:off x="3665144" y="1920240"/>
            <a:ext cx="640080" cy="640080"/>
          </a:xfrm>
          <a:prstGeom prst="ellipse">
            <a:avLst/>
          </a:prstGeom>
          <a:solidFill>
            <a:srgbClr val="12A594"/>
          </a:solidFill>
          <a:ln w="12700">
            <a:solidFill>
              <a:srgbClr val="12A594"/>
            </a:solidFill>
            <a:prstDash val="solid"/>
          </a:ln>
        </p:spPr>
      </p:sp>
      <p:pic>
        <p:nvPicPr>
          <p:cNvPr id="11" name="Image 1" descr="preencoded.png">    </p:cNvPr>
          <p:cNvPicPr>
            <a:picLocks noChangeAspect="1"/>
          </p:cNvPicPr>
          <p:nvPr/>
        </p:nvPicPr>
        <p:blipFill>
          <a:blip r:embed="rId2"/>
          <a:stretch>
            <a:fillRect/>
          </a:stretch>
        </p:blipFill>
        <p:spPr>
          <a:xfrm>
            <a:off x="3837965" y="2093062"/>
            <a:ext cx="294437" cy="294437"/>
          </a:xfrm>
          <a:prstGeom prst="rect">
            <a:avLst/>
          </a:prstGeom>
        </p:spPr>
      </p:pic>
      <p:sp>
        <p:nvSpPr>
          <p:cNvPr id="12" name="Text 8"/>
          <p:cNvSpPr txBox="1"/>
          <p:nvPr/>
        </p:nvSpPr>
        <p:spPr>
          <a:xfrm>
            <a:off x="3665144" y="2697480"/>
            <a:ext cx="2019224" cy="365760"/>
          </a:xfrm>
          <a:prstGeom prst="rect">
            <a:avLst/>
          </a:prstGeom>
          <a:noFill/>
          <a:ln/>
        </p:spPr>
        <p:txBody>
          <a:bodyPr wrap="square" lIns="0" tIns="0" rIns="0" bIns="0" rtlCol="0" anchor="t"/>
          <a:lstStyle/>
          <a:p>
            <a:pPr indent="0" marL="0">
              <a:buNone/>
            </a:pPr>
            <a:r>
              <a:rPr lang="en-US" sz="1400" b="1" dirty="0">
                <a:solidFill>
                  <a:srgbClr val="0F1E3C"/>
                </a:solidFill>
                <a:latin typeface="Malgun Gothic" pitchFamily="34" charset="0"/>
                <a:ea typeface="Malgun Gothic" pitchFamily="34" charset="-122"/>
                <a:cs typeface="Malgun Gothic" pitchFamily="34" charset="-120"/>
              </a:rPr>
              <a:t>SNMP</a:t>
            </a:r>
            <a:endParaRPr lang="en-US" sz="1400" dirty="0"/>
          </a:p>
        </p:txBody>
      </p:sp>
      <p:sp>
        <p:nvSpPr>
          <p:cNvPr id="13" name="Text 9"/>
          <p:cNvSpPr txBox="1"/>
          <p:nvPr/>
        </p:nvSpPr>
        <p:spPr>
          <a:xfrm>
            <a:off x="3665144" y="3108960"/>
            <a:ext cx="2019224" cy="178308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get · set · trap 대기 스텝</a:t>
            </a:r>
            <a:endParaRPr lang="en-US" sz="1050" dirty="0"/>
          </a:p>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MIB 에서 뽑은 enum 688 OID — 숫자 대신 이름으로 표시</a:t>
            </a:r>
            <a:endParaRPr lang="en-US" sz="1050" dirty="0"/>
          </a:p>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RO / RW community 를 장비 접속 정보에 함께</a:t>
            </a:r>
            <a:endParaRPr lang="en-US" sz="1050" dirty="0"/>
          </a:p>
        </p:txBody>
      </p:sp>
      <p:sp>
        <p:nvSpPr>
          <p:cNvPr id="14" name="Shape 10"/>
          <p:cNvSpPr/>
          <p:nvPr/>
        </p:nvSpPr>
        <p:spPr>
          <a:xfrm>
            <a:off x="6233008" y="1691640"/>
            <a:ext cx="2567864" cy="3291840"/>
          </a:xfrm>
          <a:prstGeom prst="roundRect">
            <a:avLst>
              <a:gd name="adj" fmla="val 4273"/>
            </a:avLst>
          </a:prstGeom>
          <a:solidFill>
            <a:srgbClr val="EEF3F9"/>
          </a:solidFill>
          <a:ln w="12700">
            <a:solidFill>
              <a:srgbClr val="EEF3F9"/>
            </a:solidFill>
            <a:prstDash val="solid"/>
          </a:ln>
        </p:spPr>
      </p:sp>
      <p:sp>
        <p:nvSpPr>
          <p:cNvPr id="15" name="Shape 11"/>
          <p:cNvSpPr/>
          <p:nvPr/>
        </p:nvSpPr>
        <p:spPr>
          <a:xfrm>
            <a:off x="6507328" y="1920240"/>
            <a:ext cx="640080" cy="640080"/>
          </a:xfrm>
          <a:prstGeom prst="ellipse">
            <a:avLst/>
          </a:prstGeom>
          <a:solidFill>
            <a:srgbClr val="F2A23A"/>
          </a:solidFill>
          <a:ln w="12700">
            <a:solidFill>
              <a:srgbClr val="F2A23A"/>
            </a:solidFill>
            <a:prstDash val="solid"/>
          </a:ln>
        </p:spPr>
      </p:sp>
      <p:pic>
        <p:nvPicPr>
          <p:cNvPr id="16" name="Image 2" descr="preencoded.png">    </p:cNvPr>
          <p:cNvPicPr>
            <a:picLocks noChangeAspect="1"/>
          </p:cNvPicPr>
          <p:nvPr/>
        </p:nvPicPr>
        <p:blipFill>
          <a:blip r:embed="rId3"/>
          <a:stretch>
            <a:fillRect/>
          </a:stretch>
        </p:blipFill>
        <p:spPr>
          <a:xfrm>
            <a:off x="6680149" y="2093062"/>
            <a:ext cx="294437" cy="294437"/>
          </a:xfrm>
          <a:prstGeom prst="rect">
            <a:avLst/>
          </a:prstGeom>
        </p:spPr>
      </p:pic>
      <p:sp>
        <p:nvSpPr>
          <p:cNvPr id="17" name="Text 12"/>
          <p:cNvSpPr txBox="1"/>
          <p:nvPr/>
        </p:nvSpPr>
        <p:spPr>
          <a:xfrm>
            <a:off x="6507328" y="2697480"/>
            <a:ext cx="2019224" cy="365760"/>
          </a:xfrm>
          <a:prstGeom prst="rect">
            <a:avLst/>
          </a:prstGeom>
          <a:noFill/>
          <a:ln/>
        </p:spPr>
        <p:txBody>
          <a:bodyPr wrap="square" lIns="0" tIns="0" rIns="0" bIns="0" rtlCol="0" anchor="t"/>
          <a:lstStyle/>
          <a:p>
            <a:pPr indent="0" marL="0">
              <a:buNone/>
            </a:pPr>
            <a:r>
              <a:rPr lang="en-US" sz="1400" b="1" dirty="0">
                <a:solidFill>
                  <a:srgbClr val="0F1E3C"/>
                </a:solidFill>
                <a:latin typeface="Malgun Gothic" pitchFamily="34" charset="0"/>
                <a:ea typeface="Malgun Gothic" pitchFamily="34" charset="-122"/>
                <a:cs typeface="Malgun Gothic" pitchFamily="34" charset="-120"/>
              </a:rPr>
              <a:t>IXIA N2X</a:t>
            </a:r>
            <a:endParaRPr lang="en-US" sz="1400" dirty="0"/>
          </a:p>
        </p:txBody>
      </p:sp>
      <p:sp>
        <p:nvSpPr>
          <p:cNvPr id="18" name="Text 13"/>
          <p:cNvSpPr txBox="1"/>
          <p:nvPr/>
        </p:nvSpPr>
        <p:spPr>
          <a:xfrm>
            <a:off x="6507328" y="3108960"/>
            <a:ext cx="2019224" cy="178308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Tcl 데몬 · 윈도우 중계로 리눅스 서버에서 제어</a:t>
            </a:r>
            <a:endParaRPr lang="en-US" sz="1050" dirty="0"/>
          </a:p>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포트 그리드 · 예약 · 해제</a:t>
            </a:r>
            <a:endParaRPr lang="en-US" sz="1050" dirty="0"/>
          </a:p>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트래픽 시작 · 통계 · 중지 · 초기화</a:t>
            </a:r>
            <a:endParaRPr lang="en-US" sz="1050" dirty="0"/>
          </a:p>
        </p:txBody>
      </p:sp>
      <p:sp>
        <p:nvSpPr>
          <p:cNvPr id="19" name="Shape 14"/>
          <p:cNvSpPr/>
          <p:nvPr/>
        </p:nvSpPr>
        <p:spPr>
          <a:xfrm>
            <a:off x="9075191" y="1691640"/>
            <a:ext cx="2567864" cy="3291840"/>
          </a:xfrm>
          <a:prstGeom prst="roundRect">
            <a:avLst>
              <a:gd name="adj" fmla="val 4273"/>
            </a:avLst>
          </a:prstGeom>
          <a:solidFill>
            <a:srgbClr val="EEF3F9"/>
          </a:solidFill>
          <a:ln w="12700">
            <a:solidFill>
              <a:srgbClr val="EEF3F9"/>
            </a:solidFill>
            <a:prstDash val="solid"/>
          </a:ln>
        </p:spPr>
      </p:sp>
      <p:sp>
        <p:nvSpPr>
          <p:cNvPr id="20" name="Shape 15"/>
          <p:cNvSpPr/>
          <p:nvPr/>
        </p:nvSpPr>
        <p:spPr>
          <a:xfrm>
            <a:off x="9349511" y="1920240"/>
            <a:ext cx="640080" cy="640080"/>
          </a:xfrm>
          <a:prstGeom prst="ellipse">
            <a:avLst/>
          </a:prstGeom>
          <a:solidFill>
            <a:srgbClr val="7A5AF8"/>
          </a:solidFill>
          <a:ln w="12700">
            <a:solidFill>
              <a:srgbClr val="7A5AF8"/>
            </a:solidFill>
            <a:prstDash val="solid"/>
          </a:ln>
        </p:spPr>
      </p:sp>
      <p:pic>
        <p:nvPicPr>
          <p:cNvPr id="21" name="Image 3" descr="preencoded.png">    </p:cNvPr>
          <p:cNvPicPr>
            <a:picLocks noChangeAspect="1"/>
          </p:cNvPicPr>
          <p:nvPr/>
        </p:nvPicPr>
        <p:blipFill>
          <a:blip r:embed="rId4"/>
          <a:stretch>
            <a:fillRect/>
          </a:stretch>
        </p:blipFill>
        <p:spPr>
          <a:xfrm>
            <a:off x="9522333" y="2093062"/>
            <a:ext cx="294437" cy="294437"/>
          </a:xfrm>
          <a:prstGeom prst="rect">
            <a:avLst/>
          </a:prstGeom>
        </p:spPr>
      </p:pic>
      <p:sp>
        <p:nvSpPr>
          <p:cNvPr id="22" name="Text 16"/>
          <p:cNvSpPr txBox="1"/>
          <p:nvPr/>
        </p:nvSpPr>
        <p:spPr>
          <a:xfrm>
            <a:off x="9349511" y="2697480"/>
            <a:ext cx="2019224" cy="365760"/>
          </a:xfrm>
          <a:prstGeom prst="rect">
            <a:avLst/>
          </a:prstGeom>
          <a:noFill/>
          <a:ln/>
        </p:spPr>
        <p:txBody>
          <a:bodyPr wrap="square" lIns="0" tIns="0" rIns="0" bIns="0" rtlCol="0" anchor="t"/>
          <a:lstStyle/>
          <a:p>
            <a:pPr indent="0" marL="0">
              <a:buNone/>
            </a:pPr>
            <a:r>
              <a:rPr lang="en-US" sz="1400" b="1" dirty="0">
                <a:solidFill>
                  <a:srgbClr val="0F1E3C"/>
                </a:solidFill>
                <a:latin typeface="Malgun Gothic" pitchFamily="34" charset="0"/>
                <a:ea typeface="Malgun Gothic" pitchFamily="34" charset="-122"/>
                <a:cs typeface="Malgun Gothic" pitchFamily="34" charset="-120"/>
              </a:rPr>
              <a:t>Spirent TestCenter</a:t>
            </a:r>
            <a:endParaRPr lang="en-US" sz="1400" dirty="0"/>
          </a:p>
        </p:txBody>
      </p:sp>
      <p:sp>
        <p:nvSpPr>
          <p:cNvPr id="23" name="Text 17"/>
          <p:cNvSpPr txBox="1"/>
          <p:nvPr/>
        </p:nvSpPr>
        <p:spPr>
          <a:xfrm>
            <a:off x="9349511" y="3108960"/>
            <a:ext cx="2019224" cy="178308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REST 세션 제어 · 연결 확인</a:t>
            </a:r>
            <a:endParaRPr lang="en-US" sz="1050" dirty="0"/>
          </a:p>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예약 레지스트리 — 직렬화로 포트 충돌 방지</a:t>
            </a:r>
            <a:endParaRPr lang="en-US" sz="1050" dirty="0"/>
          </a:p>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미터(계측 값) 를 스텝 결과로 받아 판정</a:t>
            </a:r>
            <a:endParaRPr lang="en-US" sz="1050" dirty="0"/>
          </a:p>
        </p:txBody>
      </p:sp>
      <p:sp>
        <p:nvSpPr>
          <p:cNvPr id="24" name="Shape 18"/>
          <p:cNvSpPr/>
          <p:nvPr/>
        </p:nvSpPr>
        <p:spPr>
          <a:xfrm>
            <a:off x="548640" y="5212080"/>
            <a:ext cx="11094415" cy="960120"/>
          </a:xfrm>
          <a:prstGeom prst="roundRect">
            <a:avLst>
              <a:gd name="adj" fmla="val 11429"/>
            </a:avLst>
          </a:prstGeom>
          <a:solidFill>
            <a:srgbClr val="0F1E3C"/>
          </a:solidFill>
          <a:ln w="12700">
            <a:solidFill>
              <a:srgbClr val="0F1E3C"/>
            </a:solidFill>
            <a:prstDash val="solid"/>
          </a:ln>
        </p:spPr>
      </p:sp>
      <p:sp>
        <p:nvSpPr>
          <p:cNvPr id="25" name="Shape 19"/>
          <p:cNvSpPr/>
          <p:nvPr/>
        </p:nvSpPr>
        <p:spPr>
          <a:xfrm>
            <a:off x="822960" y="5440680"/>
            <a:ext cx="502920" cy="502920"/>
          </a:xfrm>
          <a:prstGeom prst="ellipse">
            <a:avLst/>
          </a:prstGeom>
          <a:solidFill>
            <a:srgbClr val="1B2F5C"/>
          </a:solidFill>
          <a:ln w="12700">
            <a:solidFill>
              <a:srgbClr val="1B2F5C"/>
            </a:solidFill>
            <a:prstDash val="solid"/>
          </a:ln>
        </p:spPr>
      </p:sp>
      <p:pic>
        <p:nvPicPr>
          <p:cNvPr id="26" name="Image 4" descr="preencoded.png">    </p:cNvPr>
          <p:cNvPicPr>
            <a:picLocks noChangeAspect="1"/>
          </p:cNvPicPr>
          <p:nvPr/>
        </p:nvPicPr>
        <p:blipFill>
          <a:blip r:embed="rId5"/>
          <a:stretch>
            <a:fillRect/>
          </a:stretch>
        </p:blipFill>
        <p:spPr>
          <a:xfrm>
            <a:off x="958748" y="5576468"/>
            <a:ext cx="231343" cy="231343"/>
          </a:xfrm>
          <a:prstGeom prst="rect">
            <a:avLst/>
          </a:prstGeom>
        </p:spPr>
      </p:pic>
      <p:sp>
        <p:nvSpPr>
          <p:cNvPr id="27" name="Text 20"/>
          <p:cNvSpPr txBox="1"/>
          <p:nvPr/>
        </p:nvSpPr>
        <p:spPr>
          <a:xfrm>
            <a:off x="1508760" y="5349240"/>
            <a:ext cx="7315200" cy="320040"/>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Rack View — "그 장비 어디 있어요" 를 눈으로 답한다</a:t>
            </a:r>
            <a:endParaRPr lang="en-US" sz="1300" dirty="0"/>
          </a:p>
        </p:txBody>
      </p:sp>
      <p:sp>
        <p:nvSpPr>
          <p:cNvPr id="28" name="Text 21"/>
          <p:cNvSpPr txBox="1"/>
          <p:nvPr/>
        </p:nvSpPr>
        <p:spPr>
          <a:xfrm>
            <a:off x="1508760" y="5669280"/>
            <a:ext cx="9814255" cy="411480"/>
          </a:xfrm>
          <a:prstGeom prst="rect">
            <a:avLst/>
          </a:prstGeom>
          <a:noFill/>
          <a:ln/>
        </p:spPr>
        <p:txBody>
          <a:bodyPr wrap="square" lIns="0" tIns="0" rIns="0" bIns="0" rtlCol="0" anchor="t"/>
          <a:lstStyle/>
          <a:p>
            <a:pPr indent="0" marL="0">
              <a:buNone/>
            </a:pPr>
            <a:r>
              <a:rPr lang="en-US" sz="1100" dirty="0">
                <a:solidFill>
                  <a:srgbClr val="CADCFC"/>
                </a:solidFill>
                <a:latin typeface="Malgun Gothic" pitchFamily="34" charset="0"/>
                <a:ea typeface="Malgun Gothic" pitchFamily="34" charset="-122"/>
                <a:cs typeface="Malgun Gothic" pitchFamily="34" charset="-120"/>
              </a:rPr>
              <a:t>구역 · 랙 · U 자리에 실물 배치 그대로. LED 가 접속 상태를 말하고, 장비를 누르면 그 자리에서 편집. 끌어다 놓기로 배치, 랙 머리에 소모전력 합계.</a:t>
            </a:r>
            <a:endParaRPr lang="en-US" sz="1100" dirty="0"/>
          </a:p>
        </p:txBody>
      </p:sp>
      <p:sp>
        <p:nvSpPr>
          <p:cNvPr id="29" name="Text 22"/>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A0ABBC"/>
                </a:solidFill>
                <a:latin typeface="Malgun Gothic" pitchFamily="34" charset="0"/>
                <a:ea typeface="Malgun Gothic" pitchFamily="34" charset="-122"/>
                <a:cs typeface="Malgun Gothic" pitchFamily="34" charset="-120"/>
              </a:rPr>
              <a:t>UTOP  ·  Ubiquoss Test Orchestration Platform</a:t>
            </a:r>
            <a:endParaRPr lang="en-US" sz="900" dirty="0"/>
          </a:p>
        </p:txBody>
      </p:sp>
      <p:sp>
        <p:nvSpPr>
          <p:cNvPr id="30" name="Text 23"/>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A0ABBC"/>
                </a:solidFill>
                <a:latin typeface="Malgun Gothic" pitchFamily="34" charset="0"/>
                <a:ea typeface="Malgun Gothic" pitchFamily="34" charset="-122"/>
                <a:cs typeface="Malgun Gothic"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t"/>
          <a:lstStyle/>
          <a:p>
            <a:pPr indent="0" marL="0">
              <a:buNone/>
            </a:pPr>
            <a:r>
              <a:rPr lang="en-US" sz="3000" b="1" dirty="0">
                <a:solidFill>
                  <a:srgbClr val="0F1E3C"/>
                </a:solidFill>
                <a:latin typeface="Malgun Gothic" pitchFamily="34" charset="0"/>
                <a:ea typeface="Malgun Gothic" pitchFamily="34" charset="-122"/>
                <a:cs typeface="Malgun Gothic" pitchFamily="34" charset="-120"/>
              </a:rPr>
              <a:t>Cycles — 걸어 두고 손을 뗀다</a:t>
            </a:r>
            <a:endParaRPr lang="en-US" sz="3000" dirty="0"/>
          </a:p>
        </p:txBody>
      </p:sp>
      <p:sp>
        <p:nvSpPr>
          <p:cNvPr id="3" name="Text 1"/>
          <p:cNvSpPr txBox="1"/>
          <p:nvPr/>
        </p:nvSpPr>
        <p:spPr>
          <a:xfrm>
            <a:off x="548640" y="1024128"/>
            <a:ext cx="11094415" cy="365760"/>
          </a:xfrm>
          <a:prstGeom prst="rect">
            <a:avLst/>
          </a:prstGeom>
          <a:noFill/>
          <a:ln/>
        </p:spPr>
        <p:txBody>
          <a:bodyPr wrap="square" lIns="0" tIns="0" rIns="0" bIns="0" rtlCol="0" anchor="t"/>
          <a:lstStyle/>
          <a:p>
            <a:pPr indent="0" marL="0">
              <a:buNone/>
            </a:pPr>
            <a:r>
              <a:rPr lang="en-US" sz="1400" dirty="0">
                <a:solidFill>
                  <a:srgbClr val="6B7A90"/>
                </a:solidFill>
                <a:latin typeface="Malgun Gothic" pitchFamily="34" charset="0"/>
                <a:ea typeface="Malgun Gothic" pitchFamily="34" charset="-122"/>
                <a:cs typeface="Malgun Gothic" pitchFamily="34" charset="-120"/>
              </a:rPr>
              <a:t>실행은 브라우저가 아니라 실행 서버가 한다</a:t>
            </a:r>
            <a:endParaRPr lang="en-US" sz="1400" dirty="0"/>
          </a:p>
        </p:txBody>
      </p:sp>
      <p:sp>
        <p:nvSpPr>
          <p:cNvPr id="4" name="Shape 2"/>
          <p:cNvSpPr/>
          <p:nvPr/>
        </p:nvSpPr>
        <p:spPr>
          <a:xfrm>
            <a:off x="548640" y="1920240"/>
            <a:ext cx="2286000" cy="1143000"/>
          </a:xfrm>
          <a:prstGeom prst="roundRect">
            <a:avLst>
              <a:gd name="adj" fmla="val 8000"/>
            </a:avLst>
          </a:prstGeom>
          <a:solidFill>
            <a:srgbClr val="EEF3F9"/>
          </a:solidFill>
          <a:ln w="12700">
            <a:solidFill>
              <a:srgbClr val="EEF3F9"/>
            </a:solidFill>
            <a:prstDash val="solid"/>
          </a:ln>
        </p:spPr>
      </p:sp>
      <p:sp>
        <p:nvSpPr>
          <p:cNvPr id="5" name="Text 3"/>
          <p:cNvSpPr txBox="1"/>
          <p:nvPr/>
        </p:nvSpPr>
        <p:spPr>
          <a:xfrm>
            <a:off x="685800" y="2057400"/>
            <a:ext cx="2011680" cy="320040"/>
          </a:xfrm>
          <a:prstGeom prst="rect">
            <a:avLst/>
          </a:prstGeom>
          <a:noFill/>
          <a:ln/>
        </p:spPr>
        <p:txBody>
          <a:bodyPr wrap="square" lIns="0" tIns="0" rIns="0" bIns="0" rtlCol="0" anchor="t"/>
          <a:lstStyle/>
          <a:p>
            <a:pPr indent="0" marL="0">
              <a:buNone/>
            </a:pPr>
            <a:r>
              <a:rPr lang="en-US" sz="1300" b="1" dirty="0">
                <a:solidFill>
                  <a:srgbClr val="0F1E3C"/>
                </a:solidFill>
                <a:latin typeface="Malgun Gothic" pitchFamily="34" charset="0"/>
                <a:ea typeface="Malgun Gothic" pitchFamily="34" charset="-122"/>
                <a:cs typeface="Malgun Gothic" pitchFamily="34" charset="-120"/>
              </a:rPr>
              <a:t>① 화면</a:t>
            </a:r>
            <a:endParaRPr lang="en-US" sz="1300" dirty="0"/>
          </a:p>
        </p:txBody>
      </p:sp>
      <p:sp>
        <p:nvSpPr>
          <p:cNvPr id="6" name="Text 4"/>
          <p:cNvSpPr txBox="1"/>
          <p:nvPr/>
        </p:nvSpPr>
        <p:spPr>
          <a:xfrm>
            <a:off x="685800" y="2377440"/>
            <a:ext cx="2011680" cy="640080"/>
          </a:xfrm>
          <a:prstGeom prst="rect">
            <a:avLst/>
          </a:prstGeom>
          <a:noFill/>
          <a:ln/>
        </p:spPr>
        <p:txBody>
          <a:bodyPr wrap="square" lIns="0" tIns="0" rIns="0" bIns="0" rtlCol="0" anchor="t"/>
          <a:lstStyle/>
          <a:p>
            <a:pPr indent="0" marL="0">
              <a:lnSpc>
                <a:spcPct val="115000"/>
              </a:lnSpc>
              <a:buNone/>
            </a:pPr>
            <a:r>
              <a:rPr lang="en-US" sz="1000" dirty="0">
                <a:solidFill>
                  <a:srgbClr val="0F1E3C"/>
                </a:solidFill>
                <a:latin typeface="Malgun Gothic" pitchFamily="34" charset="0"/>
                <a:ea typeface="Malgun Gothic" pitchFamily="34" charset="-122"/>
                <a:cs typeface="Malgun Gothic" pitchFamily="34" charset="-120"/>
              </a:rPr>
              <a:t>플랜에 시험을 담고 「실행」</a:t>
            </a:r>
            <a:endParaRPr lang="en-US" sz="1000" dirty="0"/>
          </a:p>
          <a:p>
            <a:pPr indent="0" marL="0">
              <a:lnSpc>
                <a:spcPct val="115000"/>
              </a:lnSpc>
              <a:buNone/>
            </a:pPr>
            <a:r>
              <a:rPr lang="en-US" sz="1000" dirty="0">
                <a:solidFill>
                  <a:srgbClr val="0F1E3C"/>
                </a:solidFill>
                <a:latin typeface="Malgun Gothic" pitchFamily="34" charset="0"/>
                <a:ea typeface="Malgun Gothic" pitchFamily="34" charset="-122"/>
                <a:cs typeface="Malgun Gothic" pitchFamily="34" charset="-120"/>
              </a:rPr>
              <a:t>일감을 대기줄에 걸고 손을 뗀다</a:t>
            </a:r>
            <a:endParaRPr lang="en-US" sz="1000" dirty="0"/>
          </a:p>
        </p:txBody>
      </p:sp>
      <p:sp>
        <p:nvSpPr>
          <p:cNvPr id="7" name="Shape 5"/>
          <p:cNvSpPr/>
          <p:nvPr/>
        </p:nvSpPr>
        <p:spPr>
          <a:xfrm>
            <a:off x="3291840" y="1920240"/>
            <a:ext cx="2286000" cy="1143000"/>
          </a:xfrm>
          <a:prstGeom prst="roundRect">
            <a:avLst>
              <a:gd name="adj" fmla="val 8000"/>
            </a:avLst>
          </a:prstGeom>
          <a:solidFill>
            <a:srgbClr val="1B2F5C"/>
          </a:solidFill>
          <a:ln w="12700">
            <a:solidFill>
              <a:srgbClr val="1B2F5C"/>
            </a:solidFill>
            <a:prstDash val="solid"/>
          </a:ln>
        </p:spPr>
      </p:sp>
      <p:sp>
        <p:nvSpPr>
          <p:cNvPr id="8" name="Text 6"/>
          <p:cNvSpPr txBox="1"/>
          <p:nvPr/>
        </p:nvSpPr>
        <p:spPr>
          <a:xfrm>
            <a:off x="3429000" y="2057400"/>
            <a:ext cx="2011680" cy="320040"/>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② 대기줄 (DB)</a:t>
            </a:r>
            <a:endParaRPr lang="en-US" sz="1300" dirty="0"/>
          </a:p>
        </p:txBody>
      </p:sp>
      <p:sp>
        <p:nvSpPr>
          <p:cNvPr id="9" name="Text 7"/>
          <p:cNvSpPr txBox="1"/>
          <p:nvPr/>
        </p:nvSpPr>
        <p:spPr>
          <a:xfrm>
            <a:off x="3429000" y="2377440"/>
            <a:ext cx="2011680" cy="640080"/>
          </a:xfrm>
          <a:prstGeom prst="rect">
            <a:avLst/>
          </a:prstGeom>
          <a:noFill/>
          <a:ln/>
        </p:spPr>
        <p:txBody>
          <a:bodyPr wrap="square" lIns="0" tIns="0" rIns="0" bIns="0" rtlCol="0" anchor="t"/>
          <a:lstStyle/>
          <a:p>
            <a:pPr indent="0" marL="0">
              <a:lnSpc>
                <a:spcPct val="115000"/>
              </a:lnSpc>
              <a:buNone/>
            </a:pPr>
            <a:r>
              <a:rPr lang="en-US" sz="1000" dirty="0">
                <a:solidFill>
                  <a:srgbClr val="FFFFFF"/>
                </a:solidFill>
                <a:latin typeface="Malgun Gothic" pitchFamily="34" charset="0"/>
                <a:ea typeface="Malgun Gothic" pitchFamily="34" charset="-122"/>
                <a:cs typeface="Malgun Gothic" pitchFamily="34" charset="-120"/>
              </a:rPr>
              <a:t>cycle_run 표</a:t>
            </a:r>
            <a:endParaRPr lang="en-US" sz="1000" dirty="0"/>
          </a:p>
          <a:p>
            <a:pPr indent="0" marL="0">
              <a:lnSpc>
                <a:spcPct val="115000"/>
              </a:lnSpc>
              <a:buNone/>
            </a:pPr>
            <a:r>
              <a:rPr lang="en-US" sz="1000" dirty="0">
                <a:solidFill>
                  <a:srgbClr val="FFFFFF"/>
                </a:solidFill>
                <a:latin typeface="Malgun Gothic" pitchFamily="34" charset="0"/>
                <a:ea typeface="Malgun Gothic" pitchFamily="34" charset="-122"/>
                <a:cs typeface="Malgun Gothic" pitchFamily="34" charset="-120"/>
              </a:rPr>
              <a:t>여러 실행기가 집어도 같은 것을 둘이 집지 않는다</a:t>
            </a:r>
            <a:endParaRPr lang="en-US" sz="1000" dirty="0"/>
          </a:p>
        </p:txBody>
      </p:sp>
      <p:sp>
        <p:nvSpPr>
          <p:cNvPr id="10" name="Shape 8"/>
          <p:cNvSpPr/>
          <p:nvPr/>
        </p:nvSpPr>
        <p:spPr>
          <a:xfrm>
            <a:off x="6035040" y="1920240"/>
            <a:ext cx="2286000" cy="1143000"/>
          </a:xfrm>
          <a:prstGeom prst="roundRect">
            <a:avLst>
              <a:gd name="adj" fmla="val 8000"/>
            </a:avLst>
          </a:prstGeom>
          <a:solidFill>
            <a:srgbClr val="12A594"/>
          </a:solidFill>
          <a:ln w="12700">
            <a:solidFill>
              <a:srgbClr val="12A594"/>
            </a:solidFill>
            <a:prstDash val="solid"/>
          </a:ln>
        </p:spPr>
      </p:sp>
      <p:sp>
        <p:nvSpPr>
          <p:cNvPr id="11" name="Text 9"/>
          <p:cNvSpPr txBox="1"/>
          <p:nvPr/>
        </p:nvSpPr>
        <p:spPr>
          <a:xfrm>
            <a:off x="6172200" y="2057400"/>
            <a:ext cx="2011680" cy="320040"/>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③ 실행기</a:t>
            </a:r>
            <a:endParaRPr lang="en-US" sz="1300" dirty="0"/>
          </a:p>
        </p:txBody>
      </p:sp>
      <p:sp>
        <p:nvSpPr>
          <p:cNvPr id="12" name="Text 10"/>
          <p:cNvSpPr txBox="1"/>
          <p:nvPr/>
        </p:nvSpPr>
        <p:spPr>
          <a:xfrm>
            <a:off x="6172200" y="2377440"/>
            <a:ext cx="2011680" cy="640080"/>
          </a:xfrm>
          <a:prstGeom prst="rect">
            <a:avLst/>
          </a:prstGeom>
          <a:noFill/>
          <a:ln/>
        </p:spPr>
        <p:txBody>
          <a:bodyPr wrap="square" lIns="0" tIns="0" rIns="0" bIns="0" rtlCol="0" anchor="t"/>
          <a:lstStyle/>
          <a:p>
            <a:pPr indent="0" marL="0">
              <a:lnSpc>
                <a:spcPct val="115000"/>
              </a:lnSpc>
              <a:buNone/>
            </a:pPr>
            <a:r>
              <a:rPr lang="en-US" sz="1000" dirty="0">
                <a:solidFill>
                  <a:srgbClr val="FFFFFF"/>
                </a:solidFill>
                <a:latin typeface="Malgun Gothic" pitchFamily="34" charset="0"/>
                <a:ea typeface="Malgun Gothic" pitchFamily="34" charset="-122"/>
                <a:cs typeface="Malgun Gothic" pitchFamily="34" charset="-120"/>
              </a:rPr>
              <a:t>스텝을 돌리고 판정</a:t>
            </a:r>
            <a:endParaRPr lang="en-US" sz="1000" dirty="0"/>
          </a:p>
          <a:p>
            <a:pPr indent="0" marL="0">
              <a:lnSpc>
                <a:spcPct val="115000"/>
              </a:lnSpc>
              <a:buNone/>
            </a:pPr>
            <a:r>
              <a:rPr lang="en-US" sz="1000" dirty="0">
                <a:solidFill>
                  <a:srgbClr val="FFFFFF"/>
                </a:solidFill>
                <a:latin typeface="Malgun Gothic" pitchFamily="34" charset="0"/>
                <a:ea typeface="Malgun Gothic" pitchFamily="34" charset="-122"/>
                <a:cs typeface="Malgun Gothic" pitchFamily="34" charset="-120"/>
              </a:rPr>
              <a:t>장비에는 API 를 통해서만 붙는다</a:t>
            </a:r>
            <a:endParaRPr lang="en-US" sz="1000" dirty="0"/>
          </a:p>
        </p:txBody>
      </p:sp>
      <p:sp>
        <p:nvSpPr>
          <p:cNvPr id="13" name="Shape 11"/>
          <p:cNvSpPr/>
          <p:nvPr/>
        </p:nvSpPr>
        <p:spPr>
          <a:xfrm>
            <a:off x="8778240" y="1920240"/>
            <a:ext cx="2864815" cy="1143000"/>
          </a:xfrm>
          <a:prstGeom prst="roundRect">
            <a:avLst>
              <a:gd name="adj" fmla="val 8000"/>
            </a:avLst>
          </a:prstGeom>
          <a:solidFill>
            <a:srgbClr val="FDEFD9"/>
          </a:solidFill>
          <a:ln w="12700">
            <a:solidFill>
              <a:srgbClr val="FDEFD9"/>
            </a:solidFill>
            <a:prstDash val="solid"/>
          </a:ln>
        </p:spPr>
      </p:sp>
      <p:sp>
        <p:nvSpPr>
          <p:cNvPr id="14" name="Text 12"/>
          <p:cNvSpPr txBox="1"/>
          <p:nvPr/>
        </p:nvSpPr>
        <p:spPr>
          <a:xfrm>
            <a:off x="8915400" y="2057400"/>
            <a:ext cx="2590495" cy="320040"/>
          </a:xfrm>
          <a:prstGeom prst="rect">
            <a:avLst/>
          </a:prstGeom>
          <a:noFill/>
          <a:ln/>
        </p:spPr>
        <p:txBody>
          <a:bodyPr wrap="square" lIns="0" tIns="0" rIns="0" bIns="0" rtlCol="0" anchor="t"/>
          <a:lstStyle/>
          <a:p>
            <a:pPr indent="0" marL="0">
              <a:buNone/>
            </a:pPr>
            <a:r>
              <a:rPr lang="en-US" sz="1300" b="1" dirty="0">
                <a:solidFill>
                  <a:srgbClr val="0F1E3C"/>
                </a:solidFill>
                <a:latin typeface="Malgun Gothic" pitchFamily="34" charset="0"/>
                <a:ea typeface="Malgun Gothic" pitchFamily="34" charset="-122"/>
                <a:cs typeface="Malgun Gothic" pitchFamily="34" charset="-120"/>
              </a:rPr>
              <a:t>④ 실시간 중계</a:t>
            </a:r>
            <a:endParaRPr lang="en-US" sz="1300" dirty="0"/>
          </a:p>
        </p:txBody>
      </p:sp>
      <p:sp>
        <p:nvSpPr>
          <p:cNvPr id="15" name="Text 13"/>
          <p:cNvSpPr txBox="1"/>
          <p:nvPr/>
        </p:nvSpPr>
        <p:spPr>
          <a:xfrm>
            <a:off x="8915400" y="2377440"/>
            <a:ext cx="2590495" cy="640080"/>
          </a:xfrm>
          <a:prstGeom prst="rect">
            <a:avLst/>
          </a:prstGeom>
          <a:noFill/>
          <a:ln/>
        </p:spPr>
        <p:txBody>
          <a:bodyPr wrap="square" lIns="0" tIns="0" rIns="0" bIns="0" rtlCol="0" anchor="t"/>
          <a:lstStyle/>
          <a:p>
            <a:pPr indent="0" marL="0">
              <a:lnSpc>
                <a:spcPct val="115000"/>
              </a:lnSpc>
              <a:buNone/>
            </a:pPr>
            <a:r>
              <a:rPr lang="en-US" sz="1000" dirty="0">
                <a:solidFill>
                  <a:srgbClr val="0F1E3C"/>
                </a:solidFill>
                <a:latin typeface="Malgun Gothic" pitchFamily="34" charset="0"/>
                <a:ea typeface="Malgun Gothic" pitchFamily="34" charset="-122"/>
                <a:cs typeface="Malgun Gothic" pitchFamily="34" charset="-120"/>
              </a:rPr>
              <a:t>WebSocket 으로 보고 있는</a:t>
            </a:r>
            <a:endParaRPr lang="en-US" sz="1000" dirty="0"/>
          </a:p>
          <a:p>
            <a:pPr indent="0" marL="0">
              <a:lnSpc>
                <a:spcPct val="115000"/>
              </a:lnSpc>
              <a:buNone/>
            </a:pPr>
            <a:r>
              <a:rPr lang="en-US" sz="1000" dirty="0">
                <a:solidFill>
                  <a:srgbClr val="0F1E3C"/>
                </a:solidFill>
                <a:latin typeface="Malgun Gothic" pitchFamily="34" charset="0"/>
                <a:ea typeface="Malgun Gothic" pitchFamily="34" charset="-122"/>
                <a:cs typeface="Malgun Gothic" pitchFamily="34" charset="-120"/>
              </a:rPr>
              <a:t>모두의 화면에 진행 · 로그</a:t>
            </a:r>
            <a:endParaRPr lang="en-US" sz="1000" dirty="0"/>
          </a:p>
        </p:txBody>
      </p:sp>
      <p:sp>
        <p:nvSpPr>
          <p:cNvPr id="16" name="Shape 14"/>
          <p:cNvSpPr/>
          <p:nvPr/>
        </p:nvSpPr>
        <p:spPr>
          <a:xfrm>
            <a:off x="2880360" y="2487168"/>
            <a:ext cx="365760" cy="0"/>
          </a:xfrm>
          <a:prstGeom prst="line">
            <a:avLst/>
          </a:prstGeom>
          <a:noFill/>
          <a:ln w="25400">
            <a:solidFill>
              <a:srgbClr val="6B7A90"/>
            </a:solidFill>
            <a:prstDash val="solid"/>
            <a:tailEnd type="triangle"/>
          </a:ln>
        </p:spPr>
      </p:sp>
      <p:sp>
        <p:nvSpPr>
          <p:cNvPr id="17" name="Shape 15"/>
          <p:cNvSpPr/>
          <p:nvPr/>
        </p:nvSpPr>
        <p:spPr>
          <a:xfrm>
            <a:off x="5623560" y="2487168"/>
            <a:ext cx="365760" cy="0"/>
          </a:xfrm>
          <a:prstGeom prst="line">
            <a:avLst/>
          </a:prstGeom>
          <a:noFill/>
          <a:ln w="25400">
            <a:solidFill>
              <a:srgbClr val="6B7A90"/>
            </a:solidFill>
            <a:prstDash val="solid"/>
            <a:tailEnd type="triangle"/>
          </a:ln>
        </p:spPr>
      </p:sp>
      <p:sp>
        <p:nvSpPr>
          <p:cNvPr id="18" name="Shape 16"/>
          <p:cNvSpPr/>
          <p:nvPr/>
        </p:nvSpPr>
        <p:spPr>
          <a:xfrm>
            <a:off x="8366760" y="2487168"/>
            <a:ext cx="365760" cy="0"/>
          </a:xfrm>
          <a:prstGeom prst="line">
            <a:avLst/>
          </a:prstGeom>
          <a:noFill/>
          <a:ln w="25400">
            <a:solidFill>
              <a:srgbClr val="6B7A90"/>
            </a:solidFill>
            <a:prstDash val="solid"/>
            <a:tailEnd type="triangle"/>
          </a:ln>
        </p:spPr>
      </p:sp>
      <p:sp>
        <p:nvSpPr>
          <p:cNvPr id="19" name="Shape 17"/>
          <p:cNvSpPr/>
          <p:nvPr/>
        </p:nvSpPr>
        <p:spPr>
          <a:xfrm>
            <a:off x="548640" y="3657600"/>
            <a:ext cx="457200" cy="457200"/>
          </a:xfrm>
          <a:prstGeom prst="ellipse">
            <a:avLst/>
          </a:prstGeom>
          <a:solidFill>
            <a:srgbClr val="EEF3F9"/>
          </a:solidFill>
          <a:ln w="12700">
            <a:solidFill>
              <a:srgbClr val="EEF3F9"/>
            </a:solidFill>
            <a:prstDash val="solid"/>
          </a:ln>
        </p:spPr>
      </p:sp>
      <p:pic>
        <p:nvPicPr>
          <p:cNvPr id="20" name="Image 0" descr="preencoded.png">    </p:cNvPr>
          <p:cNvPicPr>
            <a:picLocks noChangeAspect="1"/>
          </p:cNvPicPr>
          <p:nvPr/>
        </p:nvPicPr>
        <p:blipFill>
          <a:blip r:embed="rId1"/>
          <a:stretch>
            <a:fillRect/>
          </a:stretch>
        </p:blipFill>
        <p:spPr>
          <a:xfrm>
            <a:off x="672084" y="3781044"/>
            <a:ext cx="210312" cy="210312"/>
          </a:xfrm>
          <a:prstGeom prst="rect">
            <a:avLst/>
          </a:prstGeom>
        </p:spPr>
      </p:pic>
      <p:sp>
        <p:nvSpPr>
          <p:cNvPr id="21" name="Text 18"/>
          <p:cNvSpPr txBox="1"/>
          <p:nvPr/>
        </p:nvSpPr>
        <p:spPr>
          <a:xfrm>
            <a:off x="1143000" y="3630168"/>
            <a:ext cx="3017520" cy="274320"/>
          </a:xfrm>
          <a:prstGeom prst="rect">
            <a:avLst/>
          </a:prstGeom>
          <a:noFill/>
          <a:ln/>
        </p:spPr>
        <p:txBody>
          <a:bodyPr wrap="square" lIns="0" tIns="0" rIns="0" bIns="0" rtlCol="0" anchor="t"/>
          <a:lstStyle/>
          <a:p>
            <a:pPr indent="0" marL="0">
              <a:buNone/>
            </a:pPr>
            <a:r>
              <a:rPr lang="en-US" sz="1200" b="1" dirty="0">
                <a:solidFill>
                  <a:srgbClr val="0F1E3C"/>
                </a:solidFill>
                <a:latin typeface="Malgun Gothic" pitchFamily="34" charset="0"/>
                <a:ea typeface="Malgun Gothic" pitchFamily="34" charset="-122"/>
                <a:cs typeface="Malgun Gothic" pitchFamily="34" charset="-120"/>
              </a:rPr>
              <a:t>탭을 닫아도 돈다</a:t>
            </a:r>
            <a:endParaRPr lang="en-US" sz="1200" dirty="0"/>
          </a:p>
        </p:txBody>
      </p:sp>
      <p:sp>
        <p:nvSpPr>
          <p:cNvPr id="22" name="Text 19"/>
          <p:cNvSpPr txBox="1"/>
          <p:nvPr/>
        </p:nvSpPr>
        <p:spPr>
          <a:xfrm>
            <a:off x="1143000" y="3904488"/>
            <a:ext cx="3017520" cy="822960"/>
          </a:xfrm>
          <a:prstGeom prst="rect">
            <a:avLst/>
          </a:prstGeom>
          <a:noFill/>
          <a:ln/>
        </p:spPr>
        <p:txBody>
          <a:bodyPr wrap="square" lIns="0" tIns="0" rIns="0" bIns="0" rtlCol="0" anchor="t"/>
          <a:lstStyle/>
          <a:p>
            <a:pPr indent="0" marL="0">
              <a:lnSpc>
                <a:spcPct val="115000"/>
              </a:lnSpc>
              <a:buNone/>
            </a:pPr>
            <a:r>
              <a:rPr lang="en-US" sz="1050" dirty="0">
                <a:solidFill>
                  <a:srgbClr val="1A2333"/>
                </a:solidFill>
                <a:latin typeface="Malgun Gothic" pitchFamily="34" charset="0"/>
                <a:ea typeface="Malgun Gothic" pitchFamily="34" charset="-122"/>
                <a:cs typeface="Malgun Gothic" pitchFamily="34" charset="-120"/>
              </a:rPr>
              <a:t>64 건을 걸어 놓고 퇴근해도 아침에 결과가 있다</a:t>
            </a:r>
            <a:endParaRPr lang="en-US" sz="1050" dirty="0"/>
          </a:p>
        </p:txBody>
      </p:sp>
      <p:sp>
        <p:nvSpPr>
          <p:cNvPr id="23" name="Shape 20"/>
          <p:cNvSpPr/>
          <p:nvPr/>
        </p:nvSpPr>
        <p:spPr>
          <a:xfrm>
            <a:off x="4297680" y="3657600"/>
            <a:ext cx="457200" cy="457200"/>
          </a:xfrm>
          <a:prstGeom prst="ellipse">
            <a:avLst/>
          </a:prstGeom>
          <a:solidFill>
            <a:srgbClr val="EEF3F9"/>
          </a:solidFill>
          <a:ln w="12700">
            <a:solidFill>
              <a:srgbClr val="EEF3F9"/>
            </a:solidFill>
            <a:prstDash val="solid"/>
          </a:ln>
        </p:spPr>
      </p:sp>
      <p:pic>
        <p:nvPicPr>
          <p:cNvPr id="24" name="Image 1" descr="preencoded.png">    </p:cNvPr>
          <p:cNvPicPr>
            <a:picLocks noChangeAspect="1"/>
          </p:cNvPicPr>
          <p:nvPr/>
        </p:nvPicPr>
        <p:blipFill>
          <a:blip r:embed="rId2"/>
          <a:stretch>
            <a:fillRect/>
          </a:stretch>
        </p:blipFill>
        <p:spPr>
          <a:xfrm>
            <a:off x="4421124" y="3781044"/>
            <a:ext cx="210312" cy="210312"/>
          </a:xfrm>
          <a:prstGeom prst="rect">
            <a:avLst/>
          </a:prstGeom>
        </p:spPr>
      </p:pic>
      <p:sp>
        <p:nvSpPr>
          <p:cNvPr id="25" name="Text 21"/>
          <p:cNvSpPr txBox="1"/>
          <p:nvPr/>
        </p:nvSpPr>
        <p:spPr>
          <a:xfrm>
            <a:off x="4892040" y="3630168"/>
            <a:ext cx="3017520" cy="274320"/>
          </a:xfrm>
          <a:prstGeom prst="rect">
            <a:avLst/>
          </a:prstGeom>
          <a:noFill/>
          <a:ln/>
        </p:spPr>
        <p:txBody>
          <a:bodyPr wrap="square" lIns="0" tIns="0" rIns="0" bIns="0" rtlCol="0" anchor="t"/>
          <a:lstStyle/>
          <a:p>
            <a:pPr indent="0" marL="0">
              <a:buNone/>
            </a:pPr>
            <a:r>
              <a:rPr lang="en-US" sz="1200" b="1" dirty="0">
                <a:solidFill>
                  <a:srgbClr val="0F1E3C"/>
                </a:solidFill>
                <a:latin typeface="Malgun Gothic" pitchFamily="34" charset="0"/>
                <a:ea typeface="Malgun Gothic" pitchFamily="34" charset="-122"/>
                <a:cs typeface="Malgun Gothic" pitchFamily="34" charset="-120"/>
              </a:rPr>
              <a:t>모두가 같은 진행을 본다</a:t>
            </a:r>
            <a:endParaRPr lang="en-US" sz="1200" dirty="0"/>
          </a:p>
        </p:txBody>
      </p:sp>
      <p:sp>
        <p:nvSpPr>
          <p:cNvPr id="26" name="Text 22"/>
          <p:cNvSpPr txBox="1"/>
          <p:nvPr/>
        </p:nvSpPr>
        <p:spPr>
          <a:xfrm>
            <a:off x="4892040" y="3904488"/>
            <a:ext cx="3017520" cy="822960"/>
          </a:xfrm>
          <a:prstGeom prst="rect">
            <a:avLst/>
          </a:prstGeom>
          <a:noFill/>
          <a:ln/>
        </p:spPr>
        <p:txBody>
          <a:bodyPr wrap="square" lIns="0" tIns="0" rIns="0" bIns="0" rtlCol="0" anchor="t"/>
          <a:lstStyle/>
          <a:p>
            <a:pPr indent="0" marL="0">
              <a:lnSpc>
                <a:spcPct val="115000"/>
              </a:lnSpc>
              <a:buNone/>
            </a:pPr>
            <a:r>
              <a:rPr lang="en-US" sz="1050" dirty="0">
                <a:solidFill>
                  <a:srgbClr val="1A2333"/>
                </a:solidFill>
                <a:latin typeface="Malgun Gothic" pitchFamily="34" charset="0"/>
                <a:ea typeface="Malgun Gothic" pitchFamily="34" charset="-122"/>
                <a:cs typeface="Malgun Gothic" pitchFamily="34" charset="-120"/>
              </a:rPr>
              <a:t>진행률 · 현재 스텝 · 실행자. 원격 중지 요청도 요청자 표시</a:t>
            </a:r>
            <a:endParaRPr lang="en-US" sz="1050" dirty="0"/>
          </a:p>
        </p:txBody>
      </p:sp>
      <p:sp>
        <p:nvSpPr>
          <p:cNvPr id="27" name="Shape 23"/>
          <p:cNvSpPr/>
          <p:nvPr/>
        </p:nvSpPr>
        <p:spPr>
          <a:xfrm>
            <a:off x="8046720" y="3657600"/>
            <a:ext cx="457200" cy="457200"/>
          </a:xfrm>
          <a:prstGeom prst="ellipse">
            <a:avLst/>
          </a:prstGeom>
          <a:solidFill>
            <a:srgbClr val="EEF3F9"/>
          </a:solidFill>
          <a:ln w="12700">
            <a:solidFill>
              <a:srgbClr val="EEF3F9"/>
            </a:solidFill>
            <a:prstDash val="solid"/>
          </a:ln>
        </p:spPr>
      </p:sp>
      <p:pic>
        <p:nvPicPr>
          <p:cNvPr id="28" name="Image 2" descr="preencoded.png">    </p:cNvPr>
          <p:cNvPicPr>
            <a:picLocks noChangeAspect="1"/>
          </p:cNvPicPr>
          <p:nvPr/>
        </p:nvPicPr>
        <p:blipFill>
          <a:blip r:embed="rId3"/>
          <a:stretch>
            <a:fillRect/>
          </a:stretch>
        </p:blipFill>
        <p:spPr>
          <a:xfrm>
            <a:off x="8170164" y="3781044"/>
            <a:ext cx="210312" cy="210312"/>
          </a:xfrm>
          <a:prstGeom prst="rect">
            <a:avLst/>
          </a:prstGeom>
        </p:spPr>
      </p:pic>
      <p:sp>
        <p:nvSpPr>
          <p:cNvPr id="29" name="Text 24"/>
          <p:cNvSpPr txBox="1"/>
          <p:nvPr/>
        </p:nvSpPr>
        <p:spPr>
          <a:xfrm>
            <a:off x="8641080" y="3630168"/>
            <a:ext cx="3017520" cy="274320"/>
          </a:xfrm>
          <a:prstGeom prst="rect">
            <a:avLst/>
          </a:prstGeom>
          <a:noFill/>
          <a:ln/>
        </p:spPr>
        <p:txBody>
          <a:bodyPr wrap="square" lIns="0" tIns="0" rIns="0" bIns="0" rtlCol="0" anchor="t"/>
          <a:lstStyle/>
          <a:p>
            <a:pPr indent="0" marL="0">
              <a:buNone/>
            </a:pPr>
            <a:r>
              <a:rPr lang="en-US" sz="1200" b="1" dirty="0">
                <a:solidFill>
                  <a:srgbClr val="0F1E3C"/>
                </a:solidFill>
                <a:latin typeface="Malgun Gothic" pitchFamily="34" charset="0"/>
                <a:ea typeface="Malgun Gothic" pitchFamily="34" charset="-122"/>
                <a:cs typeface="Malgun Gothic" pitchFamily="34" charset="-120"/>
              </a:rPr>
              <a:t>판정 규칙은 한 벌</a:t>
            </a:r>
            <a:endParaRPr lang="en-US" sz="1200" dirty="0"/>
          </a:p>
        </p:txBody>
      </p:sp>
      <p:sp>
        <p:nvSpPr>
          <p:cNvPr id="30" name="Text 25"/>
          <p:cNvSpPr txBox="1"/>
          <p:nvPr/>
        </p:nvSpPr>
        <p:spPr>
          <a:xfrm>
            <a:off x="8641080" y="3904488"/>
            <a:ext cx="3017520" cy="822960"/>
          </a:xfrm>
          <a:prstGeom prst="rect">
            <a:avLst/>
          </a:prstGeom>
          <a:noFill/>
          <a:ln/>
        </p:spPr>
        <p:txBody>
          <a:bodyPr wrap="square" lIns="0" tIns="0" rIns="0" bIns="0" rtlCol="0" anchor="t"/>
          <a:lstStyle/>
          <a:p>
            <a:pPr indent="0" marL="0">
              <a:lnSpc>
                <a:spcPct val="115000"/>
              </a:lnSpc>
              <a:buNone/>
            </a:pPr>
            <a:r>
              <a:rPr lang="en-US" sz="1050" dirty="0">
                <a:solidFill>
                  <a:srgbClr val="1A2333"/>
                </a:solidFill>
                <a:latin typeface="Malgun Gothic" pitchFamily="34" charset="0"/>
                <a:ea typeface="Malgun Gothic" pitchFamily="34" charset="-122"/>
                <a:cs typeface="Malgun Gothic" pitchFamily="34" charset="-120"/>
              </a:rPr>
              <a:t>시험 화면과 실행기가 같은 코드를 쓴다 — TC 에서 Pass 인데 사이클에서 Fail 인 일이 없다</a:t>
            </a:r>
            <a:endParaRPr lang="en-US" sz="1050" dirty="0"/>
          </a:p>
        </p:txBody>
      </p:sp>
      <p:sp>
        <p:nvSpPr>
          <p:cNvPr id="31" name="Shape 26"/>
          <p:cNvSpPr/>
          <p:nvPr/>
        </p:nvSpPr>
        <p:spPr>
          <a:xfrm>
            <a:off x="548640" y="5120640"/>
            <a:ext cx="457200" cy="457200"/>
          </a:xfrm>
          <a:prstGeom prst="ellipse">
            <a:avLst/>
          </a:prstGeom>
          <a:solidFill>
            <a:srgbClr val="EEF3F9"/>
          </a:solidFill>
          <a:ln w="12700">
            <a:solidFill>
              <a:srgbClr val="EEF3F9"/>
            </a:solidFill>
            <a:prstDash val="solid"/>
          </a:ln>
        </p:spPr>
      </p:sp>
      <p:pic>
        <p:nvPicPr>
          <p:cNvPr id="32" name="Image 3" descr="preencoded.png">    </p:cNvPr>
          <p:cNvPicPr>
            <a:picLocks noChangeAspect="1"/>
          </p:cNvPicPr>
          <p:nvPr/>
        </p:nvPicPr>
        <p:blipFill>
          <a:blip r:embed="rId4"/>
          <a:stretch>
            <a:fillRect/>
          </a:stretch>
        </p:blipFill>
        <p:spPr>
          <a:xfrm>
            <a:off x="672084" y="5244084"/>
            <a:ext cx="210312" cy="210312"/>
          </a:xfrm>
          <a:prstGeom prst="rect">
            <a:avLst/>
          </a:prstGeom>
        </p:spPr>
      </p:pic>
      <p:sp>
        <p:nvSpPr>
          <p:cNvPr id="33" name="Text 27"/>
          <p:cNvSpPr txBox="1"/>
          <p:nvPr/>
        </p:nvSpPr>
        <p:spPr>
          <a:xfrm>
            <a:off x="1143000" y="5093208"/>
            <a:ext cx="3017520" cy="274320"/>
          </a:xfrm>
          <a:prstGeom prst="rect">
            <a:avLst/>
          </a:prstGeom>
          <a:noFill/>
          <a:ln/>
        </p:spPr>
        <p:txBody>
          <a:bodyPr wrap="square" lIns="0" tIns="0" rIns="0" bIns="0" rtlCol="0" anchor="t"/>
          <a:lstStyle/>
          <a:p>
            <a:pPr indent="0" marL="0">
              <a:buNone/>
            </a:pPr>
            <a:r>
              <a:rPr lang="en-US" sz="1200" b="1" dirty="0">
                <a:solidFill>
                  <a:srgbClr val="0F1E3C"/>
                </a:solidFill>
                <a:latin typeface="Malgun Gothic" pitchFamily="34" charset="0"/>
                <a:ea typeface="Malgun Gothic" pitchFamily="34" charset="-122"/>
                <a:cs typeface="Malgun Gothic" pitchFamily="34" charset="-120"/>
              </a:rPr>
              <a:t>반복 · 자동 / 수동</a:t>
            </a:r>
            <a:endParaRPr lang="en-US" sz="1200" dirty="0"/>
          </a:p>
        </p:txBody>
      </p:sp>
      <p:sp>
        <p:nvSpPr>
          <p:cNvPr id="34" name="Text 28"/>
          <p:cNvSpPr txBox="1"/>
          <p:nvPr/>
        </p:nvSpPr>
        <p:spPr>
          <a:xfrm>
            <a:off x="1143000" y="5367528"/>
            <a:ext cx="3017520" cy="822960"/>
          </a:xfrm>
          <a:prstGeom prst="rect">
            <a:avLst/>
          </a:prstGeom>
          <a:noFill/>
          <a:ln/>
        </p:spPr>
        <p:txBody>
          <a:bodyPr wrap="square" lIns="0" tIns="0" rIns="0" bIns="0" rtlCol="0" anchor="t"/>
          <a:lstStyle/>
          <a:p>
            <a:pPr indent="0" marL="0">
              <a:lnSpc>
                <a:spcPct val="115000"/>
              </a:lnSpc>
              <a:buNone/>
            </a:pPr>
            <a:r>
              <a:rPr lang="en-US" sz="1050" dirty="0">
                <a:solidFill>
                  <a:srgbClr val="1A2333"/>
                </a:solidFill>
                <a:latin typeface="Malgun Gothic" pitchFamily="34" charset="0"/>
                <a:ea typeface="Malgun Gothic" pitchFamily="34" charset="-122"/>
                <a:cs typeface="Malgun Gothic" pitchFamily="34" charset="-120"/>
              </a:rPr>
              <a:t>같은 시험을 N 회 반복, 자동 시험과 수동 확인 시험을 나눠 진행</a:t>
            </a:r>
            <a:endParaRPr lang="en-US" sz="1050" dirty="0"/>
          </a:p>
        </p:txBody>
      </p:sp>
      <p:sp>
        <p:nvSpPr>
          <p:cNvPr id="35" name="Shape 29"/>
          <p:cNvSpPr/>
          <p:nvPr/>
        </p:nvSpPr>
        <p:spPr>
          <a:xfrm>
            <a:off x="4297680" y="5120640"/>
            <a:ext cx="457200" cy="457200"/>
          </a:xfrm>
          <a:prstGeom prst="ellipse">
            <a:avLst/>
          </a:prstGeom>
          <a:solidFill>
            <a:srgbClr val="EEF3F9"/>
          </a:solidFill>
          <a:ln w="12700">
            <a:solidFill>
              <a:srgbClr val="EEF3F9"/>
            </a:solidFill>
            <a:prstDash val="solid"/>
          </a:ln>
        </p:spPr>
      </p:sp>
      <p:pic>
        <p:nvPicPr>
          <p:cNvPr id="36" name="Image 4" descr="preencoded.png">    </p:cNvPr>
          <p:cNvPicPr>
            <a:picLocks noChangeAspect="1"/>
          </p:cNvPicPr>
          <p:nvPr/>
        </p:nvPicPr>
        <p:blipFill>
          <a:blip r:embed="rId5"/>
          <a:stretch>
            <a:fillRect/>
          </a:stretch>
        </p:blipFill>
        <p:spPr>
          <a:xfrm>
            <a:off x="4421124" y="5244084"/>
            <a:ext cx="210312" cy="210312"/>
          </a:xfrm>
          <a:prstGeom prst="rect">
            <a:avLst/>
          </a:prstGeom>
        </p:spPr>
      </p:pic>
      <p:sp>
        <p:nvSpPr>
          <p:cNvPr id="37" name="Text 30"/>
          <p:cNvSpPr txBox="1"/>
          <p:nvPr/>
        </p:nvSpPr>
        <p:spPr>
          <a:xfrm>
            <a:off x="4892040" y="5093208"/>
            <a:ext cx="3017520" cy="274320"/>
          </a:xfrm>
          <a:prstGeom prst="rect">
            <a:avLst/>
          </a:prstGeom>
          <a:noFill/>
          <a:ln/>
        </p:spPr>
        <p:txBody>
          <a:bodyPr wrap="square" lIns="0" tIns="0" rIns="0" bIns="0" rtlCol="0" anchor="t"/>
          <a:lstStyle/>
          <a:p>
            <a:pPr indent="0" marL="0">
              <a:buNone/>
            </a:pPr>
            <a:r>
              <a:rPr lang="en-US" sz="1200" b="1" dirty="0">
                <a:solidFill>
                  <a:srgbClr val="0F1E3C"/>
                </a:solidFill>
                <a:latin typeface="Malgun Gothic" pitchFamily="34" charset="0"/>
                <a:ea typeface="Malgun Gothic" pitchFamily="34" charset="-122"/>
                <a:cs typeface="Malgun Gothic" pitchFamily="34" charset="-120"/>
              </a:rPr>
              <a:t>실행기 여러 대</a:t>
            </a:r>
            <a:endParaRPr lang="en-US" sz="1200" dirty="0"/>
          </a:p>
        </p:txBody>
      </p:sp>
      <p:sp>
        <p:nvSpPr>
          <p:cNvPr id="38" name="Text 31"/>
          <p:cNvSpPr txBox="1"/>
          <p:nvPr/>
        </p:nvSpPr>
        <p:spPr>
          <a:xfrm>
            <a:off x="4892040" y="5367528"/>
            <a:ext cx="3017520" cy="822960"/>
          </a:xfrm>
          <a:prstGeom prst="rect">
            <a:avLst/>
          </a:prstGeom>
          <a:noFill/>
          <a:ln/>
        </p:spPr>
        <p:txBody>
          <a:bodyPr wrap="square" lIns="0" tIns="0" rIns="0" bIns="0" rtlCol="0" anchor="t"/>
          <a:lstStyle/>
          <a:p>
            <a:pPr indent="0" marL="0">
              <a:lnSpc>
                <a:spcPct val="115000"/>
              </a:lnSpc>
              <a:buNone/>
            </a:pPr>
            <a:r>
              <a:rPr lang="en-US" sz="1050" dirty="0">
                <a:solidFill>
                  <a:srgbClr val="1A2333"/>
                </a:solidFill>
                <a:latin typeface="Malgun Gothic" pitchFamily="34" charset="0"/>
                <a:ea typeface="Malgun Gothic" pitchFamily="34" charset="-122"/>
                <a:cs typeface="Malgun Gothic" pitchFamily="34" charset="-120"/>
              </a:rPr>
              <a:t>다른 PC 에 실행기만 띄워 API 주소만 향하게 하면 된다</a:t>
            </a:r>
            <a:endParaRPr lang="en-US" sz="1050" dirty="0"/>
          </a:p>
        </p:txBody>
      </p:sp>
      <p:sp>
        <p:nvSpPr>
          <p:cNvPr id="39" name="Shape 32"/>
          <p:cNvSpPr/>
          <p:nvPr/>
        </p:nvSpPr>
        <p:spPr>
          <a:xfrm>
            <a:off x="8046720" y="5120640"/>
            <a:ext cx="457200" cy="457200"/>
          </a:xfrm>
          <a:prstGeom prst="ellipse">
            <a:avLst/>
          </a:prstGeom>
          <a:solidFill>
            <a:srgbClr val="EEF3F9"/>
          </a:solidFill>
          <a:ln w="12700">
            <a:solidFill>
              <a:srgbClr val="EEF3F9"/>
            </a:solidFill>
            <a:prstDash val="solid"/>
          </a:ln>
        </p:spPr>
      </p:sp>
      <p:pic>
        <p:nvPicPr>
          <p:cNvPr id="40" name="Image 5" descr="preencoded.png">    </p:cNvPr>
          <p:cNvPicPr>
            <a:picLocks noChangeAspect="1"/>
          </p:cNvPicPr>
          <p:nvPr/>
        </p:nvPicPr>
        <p:blipFill>
          <a:blip r:embed="rId6"/>
          <a:stretch>
            <a:fillRect/>
          </a:stretch>
        </p:blipFill>
        <p:spPr>
          <a:xfrm>
            <a:off x="8170164" y="5244084"/>
            <a:ext cx="210312" cy="210312"/>
          </a:xfrm>
          <a:prstGeom prst="rect">
            <a:avLst/>
          </a:prstGeom>
        </p:spPr>
      </p:pic>
      <p:sp>
        <p:nvSpPr>
          <p:cNvPr id="41" name="Text 33"/>
          <p:cNvSpPr txBox="1"/>
          <p:nvPr/>
        </p:nvSpPr>
        <p:spPr>
          <a:xfrm>
            <a:off x="8641080" y="5093208"/>
            <a:ext cx="3017520" cy="274320"/>
          </a:xfrm>
          <a:prstGeom prst="rect">
            <a:avLst/>
          </a:prstGeom>
          <a:noFill/>
          <a:ln/>
        </p:spPr>
        <p:txBody>
          <a:bodyPr wrap="square" lIns="0" tIns="0" rIns="0" bIns="0" rtlCol="0" anchor="t"/>
          <a:lstStyle/>
          <a:p>
            <a:pPr indent="0" marL="0">
              <a:buNone/>
            </a:pPr>
            <a:r>
              <a:rPr lang="en-US" sz="1200" b="1" dirty="0">
                <a:solidFill>
                  <a:srgbClr val="0F1E3C"/>
                </a:solidFill>
                <a:latin typeface="Malgun Gothic" pitchFamily="34" charset="0"/>
                <a:ea typeface="Malgun Gothic" pitchFamily="34" charset="-122"/>
                <a:cs typeface="Malgun Gothic" pitchFamily="34" charset="-120"/>
              </a:rPr>
              <a:t>플랜 현황</a:t>
            </a:r>
            <a:endParaRPr lang="en-US" sz="1200" dirty="0"/>
          </a:p>
        </p:txBody>
      </p:sp>
      <p:sp>
        <p:nvSpPr>
          <p:cNvPr id="42" name="Text 34"/>
          <p:cNvSpPr txBox="1"/>
          <p:nvPr/>
        </p:nvSpPr>
        <p:spPr>
          <a:xfrm>
            <a:off x="8641080" y="5367528"/>
            <a:ext cx="3017520" cy="822960"/>
          </a:xfrm>
          <a:prstGeom prst="rect">
            <a:avLst/>
          </a:prstGeom>
          <a:noFill/>
          <a:ln/>
        </p:spPr>
        <p:txBody>
          <a:bodyPr wrap="square" lIns="0" tIns="0" rIns="0" bIns="0" rtlCol="0" anchor="t"/>
          <a:lstStyle/>
          <a:p>
            <a:pPr indent="0" marL="0">
              <a:lnSpc>
                <a:spcPct val="115000"/>
              </a:lnSpc>
              <a:buNone/>
            </a:pPr>
            <a:r>
              <a:rPr lang="en-US" sz="1050" dirty="0">
                <a:solidFill>
                  <a:srgbClr val="1A2333"/>
                </a:solidFill>
                <a:latin typeface="Malgun Gothic" pitchFamily="34" charset="0"/>
                <a:ea typeface="Malgun Gothic" pitchFamily="34" charset="-122"/>
                <a:cs typeface="Malgun Gothic" pitchFamily="34" charset="-120"/>
              </a:rPr>
              <a:t>판정 현황 막대 · 진행률 · 빌드 간 비교 · 결과서를 낼 수 있는지 까닭과 함께</a:t>
            </a:r>
            <a:endParaRPr lang="en-US" sz="1050" dirty="0"/>
          </a:p>
        </p:txBody>
      </p:sp>
      <p:sp>
        <p:nvSpPr>
          <p:cNvPr id="43" name="Text 35"/>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A0ABBC"/>
                </a:solidFill>
                <a:latin typeface="Malgun Gothic" pitchFamily="34" charset="0"/>
                <a:ea typeface="Malgun Gothic" pitchFamily="34" charset="-122"/>
                <a:cs typeface="Malgun Gothic" pitchFamily="34" charset="-120"/>
              </a:rPr>
              <a:t>UTOP  ·  Ubiquoss Test Orchestration Platform</a:t>
            </a:r>
            <a:endParaRPr lang="en-US" sz="900" dirty="0"/>
          </a:p>
        </p:txBody>
      </p:sp>
      <p:sp>
        <p:nvSpPr>
          <p:cNvPr id="44" name="Text 36"/>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A0ABBC"/>
                </a:solidFill>
                <a:latin typeface="Malgun Gothic" pitchFamily="34" charset="0"/>
                <a:ea typeface="Malgun Gothic" pitchFamily="34" charset="-122"/>
                <a:cs typeface="Malgun Gothic"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t"/>
          <a:lstStyle/>
          <a:p>
            <a:pPr indent="0" marL="0">
              <a:buNone/>
            </a:pPr>
            <a:r>
              <a:rPr lang="en-US" sz="3000" b="1" dirty="0">
                <a:solidFill>
                  <a:srgbClr val="0F1E3C"/>
                </a:solidFill>
                <a:latin typeface="Malgun Gothic" pitchFamily="34" charset="0"/>
                <a:ea typeface="Malgun Gothic" pitchFamily="34" charset="-122"/>
                <a:cs typeface="Malgun Gothic" pitchFamily="34" charset="-120"/>
              </a:rPr>
              <a:t>결과 — 고객사 양식 그대로, 사이클에서 바로</a:t>
            </a:r>
            <a:endParaRPr lang="en-US" sz="3000" dirty="0"/>
          </a:p>
        </p:txBody>
      </p:sp>
      <p:sp>
        <p:nvSpPr>
          <p:cNvPr id="3" name="Text 1"/>
          <p:cNvSpPr txBox="1"/>
          <p:nvPr/>
        </p:nvSpPr>
        <p:spPr>
          <a:xfrm>
            <a:off x="548640" y="1024128"/>
            <a:ext cx="11094415" cy="365760"/>
          </a:xfrm>
          <a:prstGeom prst="rect">
            <a:avLst/>
          </a:prstGeom>
          <a:noFill/>
          <a:ln/>
        </p:spPr>
        <p:txBody>
          <a:bodyPr wrap="square" lIns="0" tIns="0" rIns="0" bIns="0" rtlCol="0" anchor="t"/>
          <a:lstStyle/>
          <a:p>
            <a:pPr indent="0" marL="0">
              <a:buNone/>
            </a:pPr>
            <a:r>
              <a:rPr lang="en-US" sz="1400" dirty="0">
                <a:solidFill>
                  <a:srgbClr val="6B7A90"/>
                </a:solidFill>
                <a:latin typeface="Malgun Gothic" pitchFamily="34" charset="0"/>
                <a:ea typeface="Malgun Gothic" pitchFamily="34" charset="-122"/>
                <a:cs typeface="Malgun Gothic" pitchFamily="34" charset="-120"/>
              </a:rPr>
              <a:t>옮겨 붙이는 하루를 없앤다</a:t>
            </a:r>
            <a:endParaRPr lang="en-US" sz="1400" dirty="0"/>
          </a:p>
        </p:txBody>
      </p:sp>
      <p:sp>
        <p:nvSpPr>
          <p:cNvPr id="4" name="Shape 2"/>
          <p:cNvSpPr/>
          <p:nvPr/>
        </p:nvSpPr>
        <p:spPr>
          <a:xfrm>
            <a:off x="548640" y="1691640"/>
            <a:ext cx="5852160" cy="4480560"/>
          </a:xfrm>
          <a:prstGeom prst="roundRect">
            <a:avLst>
              <a:gd name="adj" fmla="val 2449"/>
            </a:avLst>
          </a:prstGeom>
          <a:solidFill>
            <a:srgbClr val="0F1E3C"/>
          </a:solidFill>
          <a:ln w="12700">
            <a:solidFill>
              <a:srgbClr val="0F1E3C"/>
            </a:solidFill>
            <a:prstDash val="solid"/>
          </a:ln>
        </p:spPr>
      </p:sp>
      <p:sp>
        <p:nvSpPr>
          <p:cNvPr id="5" name="Shape 3"/>
          <p:cNvSpPr/>
          <p:nvPr/>
        </p:nvSpPr>
        <p:spPr>
          <a:xfrm>
            <a:off x="868680" y="1965960"/>
            <a:ext cx="640080" cy="640080"/>
          </a:xfrm>
          <a:prstGeom prst="ellipse">
            <a:avLst/>
          </a:prstGeom>
          <a:solidFill>
            <a:srgbClr val="F2A23A"/>
          </a:solidFill>
          <a:ln w="12700">
            <a:solidFill>
              <a:srgbClr val="F2A23A"/>
            </a:solidFill>
            <a:prstDash val="solid"/>
          </a:ln>
        </p:spPr>
      </p:sp>
      <p:pic>
        <p:nvPicPr>
          <p:cNvPr id="6" name="Image 0" descr="preencoded.png">    </p:cNvPr>
          <p:cNvPicPr>
            <a:picLocks noChangeAspect="1"/>
          </p:cNvPicPr>
          <p:nvPr/>
        </p:nvPicPr>
        <p:blipFill>
          <a:blip r:embed="rId1"/>
          <a:stretch>
            <a:fillRect/>
          </a:stretch>
        </p:blipFill>
        <p:spPr>
          <a:xfrm>
            <a:off x="1041502" y="2138782"/>
            <a:ext cx="294437" cy="294437"/>
          </a:xfrm>
          <a:prstGeom prst="rect">
            <a:avLst/>
          </a:prstGeom>
        </p:spPr>
      </p:pic>
      <p:sp>
        <p:nvSpPr>
          <p:cNvPr id="7" name="Text 4"/>
          <p:cNvSpPr txBox="1"/>
          <p:nvPr/>
        </p:nvSpPr>
        <p:spPr>
          <a:xfrm>
            <a:off x="1645920" y="2057400"/>
            <a:ext cx="4572000" cy="411480"/>
          </a:xfrm>
          <a:prstGeom prst="rect">
            <a:avLst/>
          </a:prstGeom>
          <a:noFill/>
          <a:ln/>
        </p:spPr>
        <p:txBody>
          <a:bodyPr wrap="square" lIns="0" tIns="0" rIns="0" bIns="0" rtlCol="0" anchor="t"/>
          <a:lstStyle/>
          <a:p>
            <a:pPr indent="0" marL="0">
              <a:buNone/>
            </a:pPr>
            <a:r>
              <a:rPr lang="en-US" sz="1800" b="1" dirty="0">
                <a:solidFill>
                  <a:srgbClr val="FFFFFF"/>
                </a:solidFill>
                <a:latin typeface="Malgun Gothic" pitchFamily="34" charset="0"/>
                <a:ea typeface="Malgun Gothic" pitchFamily="34" charset="-122"/>
                <a:cs typeface="Malgun Gothic" pitchFamily="34" charset="-120"/>
              </a:rPr>
              <a:t>고객사 결과서 (PPTX · PDF)</a:t>
            </a:r>
            <a:endParaRPr lang="en-US" sz="1800" dirty="0"/>
          </a:p>
        </p:txBody>
      </p:sp>
      <p:sp>
        <p:nvSpPr>
          <p:cNvPr id="8" name="Text 5"/>
          <p:cNvSpPr txBox="1"/>
          <p:nvPr/>
        </p:nvSpPr>
        <p:spPr>
          <a:xfrm>
            <a:off x="868680" y="2743200"/>
            <a:ext cx="5212080" cy="210312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E6EDF8"/>
                </a:solidFill>
                <a:latin typeface="Malgun Gothic" pitchFamily="34" charset="0"/>
                <a:ea typeface="Malgun Gothic" pitchFamily="34" charset="-122"/>
                <a:cs typeface="Malgun Gothic" pitchFamily="34" charset="-120"/>
              </a:rPr>
              <a:t>고객사가 준 PPTX 양식을 그대로 열고, 그 안의 장을 복제해 값만 채운다 — 글꼴 · 표선 · 로고가 저쪽 양식 그대로</a:t>
            </a:r>
            <a:endParaRPr lang="en-US" sz="1150" dirty="0"/>
          </a:p>
          <a:p>
            <a:pPr marL="342900" indent="-342900">
              <a:spcAft>
                <a:spcPts val="800"/>
              </a:spcAft>
              <a:buSzPct val="100000"/>
              <a:buChar char="●"/>
            </a:pPr>
            <a:r>
              <a:rPr lang="en-US" sz="1150" dirty="0">
                <a:solidFill>
                  <a:srgbClr val="E6EDF8"/>
                </a:solidFill>
                <a:latin typeface="Malgun Gothic" pitchFamily="34" charset="0"/>
                <a:ea typeface="Malgun Gothic" pitchFamily="34" charset="-122"/>
                <a:cs typeface="Malgun Gothic" pitchFamily="34" charset="-120"/>
              </a:rPr>
              <a:t>시험 목적 · 사전 준비 · 토폴로지 그림 · 스텝별 명령과 응답 · 판정을 자동 배치, 넘치면 이어지는 장 추가</a:t>
            </a:r>
            <a:endParaRPr lang="en-US" sz="1150" dirty="0"/>
          </a:p>
          <a:p>
            <a:pPr marL="342900" indent="-342900">
              <a:spcAft>
                <a:spcPts val="800"/>
              </a:spcAft>
              <a:buSzPct val="100000"/>
              <a:buChar char="●"/>
            </a:pPr>
            <a:r>
              <a:rPr lang="en-US" sz="1150" dirty="0">
                <a:solidFill>
                  <a:srgbClr val="E6EDF8"/>
                </a:solidFill>
                <a:latin typeface="Malgun Gothic" pitchFamily="34" charset="0"/>
                <a:ea typeface="Malgun Gothic" pitchFamily="34" charset="-122"/>
                <a:cs typeface="Malgun Gothic" pitchFamily="34" charset="-120"/>
              </a:rPr>
              <a:t>버전 기준으로 사이클이 끝나면 결과서 화면을 거치지 않고 사이클에서 바로</a:t>
            </a:r>
            <a:endParaRPr lang="en-US" sz="1150" dirty="0"/>
          </a:p>
          <a:p>
            <a:pPr marL="342900" indent="-342900">
              <a:spcAft>
                <a:spcPts val="800"/>
              </a:spcAft>
              <a:buSzPct val="100000"/>
              <a:buChar char="●"/>
            </a:pPr>
            <a:r>
              <a:rPr lang="en-US" sz="1150" dirty="0">
                <a:solidFill>
                  <a:srgbClr val="E6EDF8"/>
                </a:solidFill>
                <a:latin typeface="Malgun Gothic" pitchFamily="34" charset="0"/>
                <a:ea typeface="Malgun Gothic" pitchFamily="34" charset="-122"/>
                <a:cs typeface="Malgun Gothic" pitchFamily="34" charset="-120"/>
              </a:rPr>
              <a:t>미리보기와 파일이 같은 쪽 나누기 — 화면에서 센 장수와 파일 장수가 같다</a:t>
            </a:r>
            <a:endParaRPr lang="en-US" sz="1150" dirty="0"/>
          </a:p>
          <a:p>
            <a:pPr marL="342900" indent="-342900">
              <a:spcAft>
                <a:spcPts val="800"/>
              </a:spcAft>
              <a:buSzPct val="100000"/>
              <a:buChar char="●"/>
            </a:pPr>
            <a:r>
              <a:rPr lang="en-US" sz="1150" dirty="0">
                <a:solidFill>
                  <a:srgbClr val="E6EDF8"/>
                </a:solidFill>
                <a:latin typeface="Malgun Gothic" pitchFamily="34" charset="0"/>
                <a:ea typeface="Malgun Gothic" pitchFamily="34" charset="-122"/>
                <a:cs typeface="Malgun Gothic" pitchFamily="34" charset="-120"/>
              </a:rPr>
              <a:t>양식은 파일 하나와 채울 자리 지도 한 줄로 늘어난다 — 고객사마다 다른 양식 대응</a:t>
            </a:r>
            <a:endParaRPr lang="en-US" sz="1150" dirty="0"/>
          </a:p>
        </p:txBody>
      </p:sp>
      <p:sp>
        <p:nvSpPr>
          <p:cNvPr id="9" name="Shape 6"/>
          <p:cNvSpPr/>
          <p:nvPr/>
        </p:nvSpPr>
        <p:spPr>
          <a:xfrm>
            <a:off x="868680" y="4846320"/>
            <a:ext cx="5212080" cy="1143000"/>
          </a:xfrm>
          <a:prstGeom prst="rect">
            <a:avLst/>
          </a:prstGeom>
          <a:solidFill>
            <a:srgbClr val="FFFFFF"/>
          </a:solidFill>
          <a:ln w="9525">
            <a:solidFill>
              <a:srgbClr val="C9D3E2"/>
            </a:solidFill>
            <a:prstDash val="solid"/>
          </a:ln>
        </p:spPr>
      </p:sp>
      <p:sp>
        <p:nvSpPr>
          <p:cNvPr id="10" name="Shape 7"/>
          <p:cNvSpPr/>
          <p:nvPr/>
        </p:nvSpPr>
        <p:spPr>
          <a:xfrm>
            <a:off x="1005840" y="4956048"/>
            <a:ext cx="4937760" cy="201168"/>
          </a:xfrm>
          <a:prstGeom prst="rect">
            <a:avLst/>
          </a:prstGeom>
          <a:solidFill>
            <a:srgbClr val="E4E9F2"/>
          </a:solidFill>
          <a:ln w="12700">
            <a:solidFill>
              <a:srgbClr val="E4E9F2"/>
            </a:solidFill>
            <a:prstDash val="solid"/>
          </a:ln>
        </p:spPr>
      </p:sp>
      <p:sp>
        <p:nvSpPr>
          <p:cNvPr id="11" name="Text 8"/>
          <p:cNvSpPr txBox="1"/>
          <p:nvPr/>
        </p:nvSpPr>
        <p:spPr>
          <a:xfrm>
            <a:off x="1097280" y="4956048"/>
            <a:ext cx="4754880" cy="201168"/>
          </a:xfrm>
          <a:prstGeom prst="rect">
            <a:avLst/>
          </a:prstGeom>
          <a:noFill/>
          <a:ln/>
        </p:spPr>
        <p:txBody>
          <a:bodyPr wrap="square" lIns="0" tIns="0" rIns="0" bIns="0" rtlCol="0" anchor="ctr"/>
          <a:lstStyle/>
          <a:p>
            <a:pPr indent="0" marL="0">
              <a:buNone/>
            </a:pPr>
            <a:r>
              <a:rPr lang="en-US" sz="800" b="1" dirty="0">
                <a:solidFill>
                  <a:srgbClr val="0F1E3C"/>
                </a:solidFill>
                <a:latin typeface="Malgun Gothic" pitchFamily="34" charset="0"/>
                <a:ea typeface="Malgun Gothic" pitchFamily="34" charset="-122"/>
                <a:cs typeface="Malgun Gothic" pitchFamily="34" charset="-120"/>
              </a:rPr>
              <a:t>TC_ID  │  REQ ID  │  시험항목  │  판정</a:t>
            </a:r>
            <a:endParaRPr lang="en-US" sz="800" dirty="0"/>
          </a:p>
        </p:txBody>
      </p:sp>
      <p:sp>
        <p:nvSpPr>
          <p:cNvPr id="12" name="Shape 9"/>
          <p:cNvSpPr/>
          <p:nvPr/>
        </p:nvSpPr>
        <p:spPr>
          <a:xfrm>
            <a:off x="1005840" y="5349240"/>
            <a:ext cx="4937760" cy="0"/>
          </a:xfrm>
          <a:prstGeom prst="line">
            <a:avLst/>
          </a:prstGeom>
          <a:noFill/>
          <a:ln w="9525">
            <a:solidFill>
              <a:srgbClr val="E4E9F2"/>
            </a:solidFill>
            <a:prstDash val="solid"/>
          </a:ln>
        </p:spPr>
      </p:sp>
      <p:sp>
        <p:nvSpPr>
          <p:cNvPr id="13" name="Shape 10"/>
          <p:cNvSpPr/>
          <p:nvPr/>
        </p:nvSpPr>
        <p:spPr>
          <a:xfrm>
            <a:off x="1005840" y="5550408"/>
            <a:ext cx="4937760" cy="0"/>
          </a:xfrm>
          <a:prstGeom prst="line">
            <a:avLst/>
          </a:prstGeom>
          <a:noFill/>
          <a:ln w="9525">
            <a:solidFill>
              <a:srgbClr val="E4E9F2"/>
            </a:solidFill>
            <a:prstDash val="solid"/>
          </a:ln>
        </p:spPr>
      </p:sp>
      <p:sp>
        <p:nvSpPr>
          <p:cNvPr id="14" name="Shape 11"/>
          <p:cNvSpPr/>
          <p:nvPr/>
        </p:nvSpPr>
        <p:spPr>
          <a:xfrm>
            <a:off x="1005840" y="5751576"/>
            <a:ext cx="4937760" cy="0"/>
          </a:xfrm>
          <a:prstGeom prst="line">
            <a:avLst/>
          </a:prstGeom>
          <a:noFill/>
          <a:ln w="9525">
            <a:solidFill>
              <a:srgbClr val="E4E9F2"/>
            </a:solidFill>
            <a:prstDash val="solid"/>
          </a:ln>
        </p:spPr>
      </p:sp>
      <p:sp>
        <p:nvSpPr>
          <p:cNvPr id="15" name="Text 12"/>
          <p:cNvSpPr txBox="1"/>
          <p:nvPr/>
        </p:nvSpPr>
        <p:spPr>
          <a:xfrm>
            <a:off x="1097280" y="5193792"/>
            <a:ext cx="3383280" cy="548640"/>
          </a:xfrm>
          <a:prstGeom prst="rect">
            <a:avLst/>
          </a:prstGeom>
          <a:noFill/>
          <a:ln/>
        </p:spPr>
        <p:txBody>
          <a:bodyPr wrap="square" lIns="0" tIns="0" rIns="0" bIns="0" rtlCol="0" anchor="t"/>
          <a:lstStyle/>
          <a:p>
            <a:pPr indent="0" marL="0">
              <a:buNone/>
            </a:pPr>
            <a:r>
              <a:rPr lang="en-US" sz="800" dirty="0">
                <a:solidFill>
                  <a:srgbClr val="6B7A90"/>
                </a:solidFill>
                <a:latin typeface="Malgun Gothic" pitchFamily="34" charset="0"/>
                <a:ea typeface="Malgun Gothic" pitchFamily="34" charset="-122"/>
                <a:cs typeface="Malgun Gothic" pitchFamily="34" charset="-120"/>
              </a:rPr>
              <a:t>시험 목적 · 사전 준비 · 토폴로지 · 명령과 응답 …</a:t>
            </a:r>
            <a:endParaRPr lang="en-US" sz="800" dirty="0"/>
          </a:p>
        </p:txBody>
      </p:sp>
      <p:sp>
        <p:nvSpPr>
          <p:cNvPr id="16" name="Shape 13"/>
          <p:cNvSpPr/>
          <p:nvPr/>
        </p:nvSpPr>
        <p:spPr>
          <a:xfrm>
            <a:off x="4846320" y="5303520"/>
            <a:ext cx="1005840" cy="274320"/>
          </a:xfrm>
          <a:prstGeom prst="roundRect">
            <a:avLst>
              <a:gd name="adj" fmla="val 50000"/>
            </a:avLst>
          </a:prstGeom>
          <a:solidFill>
            <a:srgbClr val="12A594"/>
          </a:solidFill>
          <a:ln w="12700">
            <a:solidFill>
              <a:srgbClr val="12A594"/>
            </a:solidFill>
            <a:prstDash val="solid"/>
          </a:ln>
        </p:spPr>
      </p:sp>
      <p:sp>
        <p:nvSpPr>
          <p:cNvPr id="17" name="Text 14"/>
          <p:cNvSpPr txBox="1"/>
          <p:nvPr/>
        </p:nvSpPr>
        <p:spPr>
          <a:xfrm>
            <a:off x="4846320" y="5303520"/>
            <a:ext cx="10058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PASS</a:t>
            </a:r>
            <a:endParaRPr lang="en-US" sz="900" dirty="0"/>
          </a:p>
        </p:txBody>
      </p:sp>
      <p:sp>
        <p:nvSpPr>
          <p:cNvPr id="18" name="Text 15"/>
          <p:cNvSpPr txBox="1"/>
          <p:nvPr/>
        </p:nvSpPr>
        <p:spPr>
          <a:xfrm>
            <a:off x="1005840" y="5715000"/>
            <a:ext cx="4937760" cy="201168"/>
          </a:xfrm>
          <a:prstGeom prst="rect">
            <a:avLst/>
          </a:prstGeom>
          <a:noFill/>
          <a:ln/>
        </p:spPr>
        <p:txBody>
          <a:bodyPr wrap="square" lIns="0" tIns="0" rIns="0" bIns="0" rtlCol="0" anchor="t"/>
          <a:lstStyle/>
          <a:p>
            <a:pPr algn="r" indent="0" marL="0">
              <a:buNone/>
            </a:pPr>
            <a:r>
              <a:rPr lang="en-US" sz="800" dirty="0">
                <a:solidFill>
                  <a:srgbClr val="6B7A90"/>
                </a:solidFill>
                <a:latin typeface="Malgun Gothic" pitchFamily="34" charset="0"/>
                <a:ea typeface="Malgun Gothic" pitchFamily="34" charset="-122"/>
                <a:cs typeface="Malgun Gothic" pitchFamily="34" charset="-120"/>
              </a:rPr>
              <a:t>고객사 양식  ·  1 / 284</a:t>
            </a:r>
            <a:endParaRPr lang="en-US" sz="800" dirty="0"/>
          </a:p>
        </p:txBody>
      </p:sp>
      <p:sp>
        <p:nvSpPr>
          <p:cNvPr id="19" name="Shape 16"/>
          <p:cNvSpPr/>
          <p:nvPr/>
        </p:nvSpPr>
        <p:spPr>
          <a:xfrm>
            <a:off x="6675120" y="1691640"/>
            <a:ext cx="4967935" cy="2103120"/>
          </a:xfrm>
          <a:prstGeom prst="roundRect">
            <a:avLst>
              <a:gd name="adj" fmla="val 5217"/>
            </a:avLst>
          </a:prstGeom>
          <a:solidFill>
            <a:srgbClr val="EEF3F9"/>
          </a:solidFill>
          <a:ln w="12700">
            <a:solidFill>
              <a:srgbClr val="EEF3F9"/>
            </a:solidFill>
            <a:prstDash val="solid"/>
          </a:ln>
        </p:spPr>
      </p:sp>
      <p:sp>
        <p:nvSpPr>
          <p:cNvPr id="20" name="Shape 17"/>
          <p:cNvSpPr/>
          <p:nvPr/>
        </p:nvSpPr>
        <p:spPr>
          <a:xfrm>
            <a:off x="6949440" y="1920240"/>
            <a:ext cx="502920" cy="502920"/>
          </a:xfrm>
          <a:prstGeom prst="ellipse">
            <a:avLst/>
          </a:prstGeom>
          <a:solidFill>
            <a:srgbClr val="12A594"/>
          </a:solidFill>
          <a:ln w="12700">
            <a:solidFill>
              <a:srgbClr val="12A594"/>
            </a:solidFill>
            <a:prstDash val="solid"/>
          </a:ln>
        </p:spPr>
      </p:sp>
      <p:pic>
        <p:nvPicPr>
          <p:cNvPr id="21" name="Image 1" descr="preencoded.png">    </p:cNvPr>
          <p:cNvPicPr>
            <a:picLocks noChangeAspect="1"/>
          </p:cNvPicPr>
          <p:nvPr/>
        </p:nvPicPr>
        <p:blipFill>
          <a:blip r:embed="rId2"/>
          <a:stretch>
            <a:fillRect/>
          </a:stretch>
        </p:blipFill>
        <p:spPr>
          <a:xfrm>
            <a:off x="7085228" y="2056028"/>
            <a:ext cx="231343" cy="231343"/>
          </a:xfrm>
          <a:prstGeom prst="rect">
            <a:avLst/>
          </a:prstGeom>
        </p:spPr>
      </p:pic>
      <p:sp>
        <p:nvSpPr>
          <p:cNvPr id="22" name="Text 18"/>
          <p:cNvSpPr txBox="1"/>
          <p:nvPr/>
        </p:nvSpPr>
        <p:spPr>
          <a:xfrm>
            <a:off x="7589520" y="1965960"/>
            <a:ext cx="3779215" cy="365760"/>
          </a:xfrm>
          <a:prstGeom prst="rect">
            <a:avLst/>
          </a:prstGeom>
          <a:noFill/>
          <a:ln/>
        </p:spPr>
        <p:txBody>
          <a:bodyPr wrap="square" lIns="0" tIns="0" rIns="0" bIns="0" rtlCol="0" anchor="t"/>
          <a:lstStyle/>
          <a:p>
            <a:pPr indent="0" marL="0">
              <a:buNone/>
            </a:pPr>
            <a:r>
              <a:rPr lang="en-US" sz="1500" b="1" dirty="0">
                <a:solidFill>
                  <a:srgbClr val="0F1E3C"/>
                </a:solidFill>
                <a:latin typeface="Malgun Gothic" pitchFamily="34" charset="0"/>
                <a:ea typeface="Malgun Gothic" pitchFamily="34" charset="-122"/>
                <a:cs typeface="Malgun Gothic" pitchFamily="34" charset="-120"/>
              </a:rPr>
              <a:t>결과 메일</a:t>
            </a:r>
            <a:endParaRPr lang="en-US" sz="1500" dirty="0"/>
          </a:p>
        </p:txBody>
      </p:sp>
      <p:sp>
        <p:nvSpPr>
          <p:cNvPr id="23" name="Text 19"/>
          <p:cNvSpPr txBox="1"/>
          <p:nvPr/>
        </p:nvSpPr>
        <p:spPr>
          <a:xfrm>
            <a:off x="6949440" y="2514600"/>
            <a:ext cx="4419295" cy="1188720"/>
          </a:xfrm>
          <a:prstGeom prst="rect">
            <a:avLst/>
          </a:prstGeom>
          <a:noFill/>
          <a:ln/>
        </p:spPr>
        <p:txBody>
          <a:bodyPr wrap="square" lIns="0" tIns="0" rIns="0" bIns="0" rtlCol="0" anchor="t"/>
          <a:lstStyle/>
          <a:p>
            <a:pPr indent="0" marL="0">
              <a:lnSpc>
                <a:spcPct val="120000"/>
              </a:lnSpc>
              <a:buNone/>
            </a:pPr>
            <a:r>
              <a:rPr lang="en-US" sz="1150" dirty="0">
                <a:solidFill>
                  <a:srgbClr val="1A2333"/>
                </a:solidFill>
                <a:latin typeface="Malgun Gothic" pitchFamily="34" charset="0"/>
                <a:ea typeface="Malgun Gothic" pitchFamily="34" charset="-122"/>
                <a:cs typeface="Malgun Gothic" pitchFamily="34" charset="-120"/>
              </a:rPr>
              <a:t>받는 사람 · 참조 · 첨부를 갖춘 메일을 사이클에서 보낸다. 보낸 메일은 이력으로 남고 「이 메일로 다시 쓰기」 로 같은 수신자에게 다음 결과를 보낸다.</a:t>
            </a:r>
            <a:endParaRPr lang="en-US" sz="1150" dirty="0"/>
          </a:p>
        </p:txBody>
      </p:sp>
      <p:sp>
        <p:nvSpPr>
          <p:cNvPr id="24" name="Shape 20"/>
          <p:cNvSpPr/>
          <p:nvPr/>
        </p:nvSpPr>
        <p:spPr>
          <a:xfrm>
            <a:off x="6675120" y="4023360"/>
            <a:ext cx="4967935" cy="2148840"/>
          </a:xfrm>
          <a:prstGeom prst="roundRect">
            <a:avLst>
              <a:gd name="adj" fmla="val 5106"/>
            </a:avLst>
          </a:prstGeom>
          <a:solidFill>
            <a:srgbClr val="EEF3F9"/>
          </a:solidFill>
          <a:ln w="12700">
            <a:solidFill>
              <a:srgbClr val="EEF3F9"/>
            </a:solidFill>
            <a:prstDash val="solid"/>
          </a:ln>
        </p:spPr>
      </p:sp>
      <p:sp>
        <p:nvSpPr>
          <p:cNvPr id="25" name="Shape 21"/>
          <p:cNvSpPr/>
          <p:nvPr/>
        </p:nvSpPr>
        <p:spPr>
          <a:xfrm>
            <a:off x="6949440" y="4251960"/>
            <a:ext cx="502920" cy="502920"/>
          </a:xfrm>
          <a:prstGeom prst="ellipse">
            <a:avLst/>
          </a:prstGeom>
          <a:solidFill>
            <a:srgbClr val="12A594"/>
          </a:solidFill>
          <a:ln w="12700">
            <a:solidFill>
              <a:srgbClr val="12A594"/>
            </a:solidFill>
            <a:prstDash val="solid"/>
          </a:ln>
        </p:spPr>
      </p:sp>
      <p:pic>
        <p:nvPicPr>
          <p:cNvPr id="26" name="Image 2" descr="preencoded.png">    </p:cNvPr>
          <p:cNvPicPr>
            <a:picLocks noChangeAspect="1"/>
          </p:cNvPicPr>
          <p:nvPr/>
        </p:nvPicPr>
        <p:blipFill>
          <a:blip r:embed="rId3"/>
          <a:stretch>
            <a:fillRect/>
          </a:stretch>
        </p:blipFill>
        <p:spPr>
          <a:xfrm>
            <a:off x="7085228" y="4387748"/>
            <a:ext cx="231343" cy="231343"/>
          </a:xfrm>
          <a:prstGeom prst="rect">
            <a:avLst/>
          </a:prstGeom>
        </p:spPr>
      </p:pic>
      <p:sp>
        <p:nvSpPr>
          <p:cNvPr id="27" name="Text 22"/>
          <p:cNvSpPr txBox="1"/>
          <p:nvPr/>
        </p:nvSpPr>
        <p:spPr>
          <a:xfrm>
            <a:off x="7589520" y="4297680"/>
            <a:ext cx="3779215" cy="365760"/>
          </a:xfrm>
          <a:prstGeom prst="rect">
            <a:avLst/>
          </a:prstGeom>
          <a:noFill/>
          <a:ln/>
        </p:spPr>
        <p:txBody>
          <a:bodyPr wrap="square" lIns="0" tIns="0" rIns="0" bIns="0" rtlCol="0" anchor="t"/>
          <a:lstStyle/>
          <a:p>
            <a:pPr indent="0" marL="0">
              <a:buNone/>
            </a:pPr>
            <a:r>
              <a:rPr lang="en-US" sz="1500" b="1" dirty="0">
                <a:solidFill>
                  <a:srgbClr val="0F1E3C"/>
                </a:solidFill>
                <a:latin typeface="Malgun Gothic" pitchFamily="34" charset="0"/>
                <a:ea typeface="Malgun Gothic" pitchFamily="34" charset="-122"/>
                <a:cs typeface="Malgun Gothic" pitchFamily="34" charset="-120"/>
              </a:rPr>
              <a:t>대시보드 · 플랜 현황</a:t>
            </a:r>
            <a:endParaRPr lang="en-US" sz="1500" dirty="0"/>
          </a:p>
        </p:txBody>
      </p:sp>
      <p:sp>
        <p:nvSpPr>
          <p:cNvPr id="28" name="Text 23"/>
          <p:cNvSpPr txBox="1"/>
          <p:nvPr/>
        </p:nvSpPr>
        <p:spPr>
          <a:xfrm>
            <a:off x="6949440" y="4846320"/>
            <a:ext cx="4419295" cy="1188720"/>
          </a:xfrm>
          <a:prstGeom prst="rect">
            <a:avLst/>
          </a:prstGeom>
          <a:noFill/>
          <a:ln/>
        </p:spPr>
        <p:txBody>
          <a:bodyPr wrap="square" lIns="0" tIns="0" rIns="0" bIns="0" rtlCol="0" anchor="t"/>
          <a:lstStyle/>
          <a:p>
            <a:pPr indent="0" marL="0">
              <a:lnSpc>
                <a:spcPct val="120000"/>
              </a:lnSpc>
              <a:buNone/>
            </a:pPr>
            <a:r>
              <a:rPr lang="en-US" sz="1150" dirty="0">
                <a:solidFill>
                  <a:srgbClr val="1A2333"/>
                </a:solidFill>
                <a:latin typeface="Malgun Gothic" pitchFamily="34" charset="0"/>
                <a:ea typeface="Malgun Gothic" pitchFamily="34" charset="-122"/>
                <a:cs typeface="Malgun Gothic" pitchFamily="34" charset="-120"/>
              </a:rPr>
              <a:t>오늘 실행 · 판정 현황 · 버전별 진행률 · 미해결 결함 · 자동/수동 비율. 실데이터가 없는 것은 흉내 내지 않고, 실행이 쌓일수록 스스로 채워진다.</a:t>
            </a:r>
            <a:endParaRPr lang="en-US" sz="1150" dirty="0"/>
          </a:p>
        </p:txBody>
      </p:sp>
      <p:sp>
        <p:nvSpPr>
          <p:cNvPr id="29" name="Text 24"/>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A0ABBC"/>
                </a:solidFill>
                <a:latin typeface="Malgun Gothic" pitchFamily="34" charset="0"/>
                <a:ea typeface="Malgun Gothic" pitchFamily="34" charset="-122"/>
                <a:cs typeface="Malgun Gothic" pitchFamily="34" charset="-120"/>
              </a:rPr>
              <a:t>UTOP  ·  Ubiquoss Test Orchestration Platform</a:t>
            </a:r>
            <a:endParaRPr lang="en-US" sz="900" dirty="0"/>
          </a:p>
        </p:txBody>
      </p:sp>
      <p:sp>
        <p:nvSpPr>
          <p:cNvPr id="30" name="Text 25"/>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A0ABBC"/>
                </a:solidFill>
                <a:latin typeface="Malgun Gothic" pitchFamily="34" charset="0"/>
                <a:ea typeface="Malgun Gothic" pitchFamily="34" charset="-122"/>
                <a:cs typeface="Malgun Gothic"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t"/>
          <a:lstStyle/>
          <a:p>
            <a:pPr indent="0" marL="0">
              <a:buNone/>
            </a:pPr>
            <a:r>
              <a:rPr lang="en-US" sz="3000" b="1" dirty="0">
                <a:solidFill>
                  <a:srgbClr val="0F1E3C"/>
                </a:solidFill>
                <a:latin typeface="Malgun Gothic" pitchFamily="34" charset="0"/>
                <a:ea typeface="Malgun Gothic" pitchFamily="34" charset="-122"/>
                <a:cs typeface="Malgun Gothic" pitchFamily="34" charset="-120"/>
              </a:rPr>
              <a:t>결함 · Jira 연동</a:t>
            </a:r>
            <a:endParaRPr lang="en-US" sz="3000" dirty="0"/>
          </a:p>
        </p:txBody>
      </p:sp>
      <p:sp>
        <p:nvSpPr>
          <p:cNvPr id="3" name="Text 1"/>
          <p:cNvSpPr txBox="1"/>
          <p:nvPr/>
        </p:nvSpPr>
        <p:spPr>
          <a:xfrm>
            <a:off x="548640" y="1024128"/>
            <a:ext cx="11094415" cy="365760"/>
          </a:xfrm>
          <a:prstGeom prst="rect">
            <a:avLst/>
          </a:prstGeom>
          <a:noFill/>
          <a:ln/>
        </p:spPr>
        <p:txBody>
          <a:bodyPr wrap="square" lIns="0" tIns="0" rIns="0" bIns="0" rtlCol="0" anchor="t"/>
          <a:lstStyle/>
          <a:p>
            <a:pPr indent="0" marL="0">
              <a:buNone/>
            </a:pPr>
            <a:r>
              <a:rPr lang="en-US" sz="1400" dirty="0">
                <a:solidFill>
                  <a:srgbClr val="6B7A90"/>
                </a:solidFill>
                <a:latin typeface="Malgun Gothic" pitchFamily="34" charset="0"/>
                <a:ea typeface="Malgun Gothic" pitchFamily="34" charset="-122"/>
                <a:cs typeface="Malgun Gothic" pitchFamily="34" charset="-120"/>
              </a:rPr>
              <a:t>결함은 우리가 따로 드는 자료가 아니라 Jira 이슈다</a:t>
            </a:r>
            <a:endParaRPr lang="en-US" sz="1400" dirty="0"/>
          </a:p>
        </p:txBody>
      </p:sp>
      <p:sp>
        <p:nvSpPr>
          <p:cNvPr id="4" name="Shape 2"/>
          <p:cNvSpPr/>
          <p:nvPr/>
        </p:nvSpPr>
        <p:spPr>
          <a:xfrm>
            <a:off x="2971800" y="2286000"/>
            <a:ext cx="436778" cy="0"/>
          </a:xfrm>
          <a:prstGeom prst="line">
            <a:avLst/>
          </a:prstGeom>
          <a:noFill/>
          <a:ln w="25400">
            <a:solidFill>
              <a:srgbClr val="D5DDE8"/>
            </a:solidFill>
            <a:prstDash val="solid"/>
            <a:tailEnd type="triangle"/>
          </a:ln>
        </p:spPr>
      </p:sp>
      <p:sp>
        <p:nvSpPr>
          <p:cNvPr id="5" name="Shape 3"/>
          <p:cNvSpPr/>
          <p:nvPr/>
        </p:nvSpPr>
        <p:spPr>
          <a:xfrm>
            <a:off x="1280160" y="1828800"/>
            <a:ext cx="914400" cy="914400"/>
          </a:xfrm>
          <a:prstGeom prst="ellipse">
            <a:avLst/>
          </a:prstGeom>
          <a:solidFill>
            <a:srgbClr val="12A594"/>
          </a:solidFill>
          <a:ln w="12700">
            <a:solidFill>
              <a:srgbClr val="12A594"/>
            </a:solidFill>
            <a:prstDash val="solid"/>
          </a:ln>
        </p:spPr>
      </p:sp>
      <p:pic>
        <p:nvPicPr>
          <p:cNvPr id="6" name="Image 0" descr="preencoded.png">    </p:cNvPr>
          <p:cNvPicPr>
            <a:picLocks noChangeAspect="1"/>
          </p:cNvPicPr>
          <p:nvPr/>
        </p:nvPicPr>
        <p:blipFill>
          <a:blip r:embed="rId1"/>
          <a:stretch>
            <a:fillRect/>
          </a:stretch>
        </p:blipFill>
        <p:spPr>
          <a:xfrm>
            <a:off x="1527048" y="2075688"/>
            <a:ext cx="420624" cy="420624"/>
          </a:xfrm>
          <a:prstGeom prst="rect">
            <a:avLst/>
          </a:prstGeom>
        </p:spPr>
      </p:pic>
      <p:sp>
        <p:nvSpPr>
          <p:cNvPr id="7" name="Text 4"/>
          <p:cNvSpPr txBox="1"/>
          <p:nvPr/>
        </p:nvSpPr>
        <p:spPr>
          <a:xfrm>
            <a:off x="548640" y="2880360"/>
            <a:ext cx="2377440" cy="320040"/>
          </a:xfrm>
          <a:prstGeom prst="rect">
            <a:avLst/>
          </a:prstGeom>
          <a:noFill/>
          <a:ln/>
        </p:spPr>
        <p:txBody>
          <a:bodyPr wrap="square" lIns="0" tIns="0" rIns="0" bIns="0" rtlCol="0" anchor="t"/>
          <a:lstStyle/>
          <a:p>
            <a:pPr algn="ctr" indent="0" marL="0">
              <a:buNone/>
            </a:pPr>
            <a:r>
              <a:rPr lang="en-US" sz="1400" b="1" dirty="0">
                <a:solidFill>
                  <a:srgbClr val="0F1E3C"/>
                </a:solidFill>
                <a:latin typeface="Malgun Gothic" pitchFamily="34" charset="0"/>
                <a:ea typeface="Malgun Gothic" pitchFamily="34" charset="-122"/>
                <a:cs typeface="Malgun Gothic" pitchFamily="34" charset="-120"/>
              </a:rPr>
              <a:t>실행 항목</a:t>
            </a:r>
            <a:endParaRPr lang="en-US" sz="1400" dirty="0"/>
          </a:p>
        </p:txBody>
      </p:sp>
      <p:sp>
        <p:nvSpPr>
          <p:cNvPr id="8" name="Text 5"/>
          <p:cNvSpPr txBox="1"/>
          <p:nvPr/>
        </p:nvSpPr>
        <p:spPr>
          <a:xfrm>
            <a:off x="548640" y="3200400"/>
            <a:ext cx="2377440" cy="640080"/>
          </a:xfrm>
          <a:prstGeom prst="rect">
            <a:avLst/>
          </a:prstGeom>
          <a:noFill/>
          <a:ln/>
        </p:spPr>
        <p:txBody>
          <a:bodyPr wrap="square" lIns="0" tIns="0" rIns="0" bIns="0" rtlCol="0" anchor="t"/>
          <a:lstStyle/>
          <a:p>
            <a:pPr algn="ctr" indent="0" marL="0">
              <a:lnSpc>
                <a:spcPct val="115000"/>
              </a:lnSpc>
              <a:buNone/>
            </a:pPr>
            <a:r>
              <a:rPr lang="en-US" sz="1100" dirty="0">
                <a:solidFill>
                  <a:srgbClr val="6B7A90"/>
                </a:solidFill>
                <a:latin typeface="Malgun Gothic" pitchFamily="34" charset="0"/>
                <a:ea typeface="Malgun Gothic" pitchFamily="34" charset="-122"/>
                <a:cs typeface="Malgun Gothic" pitchFamily="34" charset="-120"/>
              </a:rPr>
              <a:t>실패한 자리에서</a:t>
            </a:r>
            <a:endParaRPr lang="en-US" sz="1100" dirty="0"/>
          </a:p>
          <a:p>
            <a:pPr algn="ctr" indent="0" marL="0">
              <a:lnSpc>
                <a:spcPct val="115000"/>
              </a:lnSpc>
              <a:buNone/>
            </a:pPr>
            <a:r>
              <a:rPr lang="en-US" sz="1100" dirty="0">
                <a:solidFill>
                  <a:srgbClr val="6B7A90"/>
                </a:solidFill>
                <a:latin typeface="Malgun Gothic" pitchFamily="34" charset="0"/>
                <a:ea typeface="Malgun Gothic" pitchFamily="34" charset="-122"/>
                <a:cs typeface="Malgun Gothic" pitchFamily="34" charset="-120"/>
              </a:rPr>
              <a:t>「결함 등록」</a:t>
            </a:r>
            <a:endParaRPr lang="en-US" sz="1100" dirty="0"/>
          </a:p>
        </p:txBody>
      </p:sp>
      <p:sp>
        <p:nvSpPr>
          <p:cNvPr id="9" name="Shape 6"/>
          <p:cNvSpPr/>
          <p:nvPr/>
        </p:nvSpPr>
        <p:spPr>
          <a:xfrm>
            <a:off x="5877458" y="2286000"/>
            <a:ext cx="436778" cy="0"/>
          </a:xfrm>
          <a:prstGeom prst="line">
            <a:avLst/>
          </a:prstGeom>
          <a:noFill/>
          <a:ln w="25400">
            <a:solidFill>
              <a:srgbClr val="D5DDE8"/>
            </a:solidFill>
            <a:prstDash val="solid"/>
            <a:tailEnd type="triangle"/>
          </a:ln>
        </p:spPr>
      </p:sp>
      <p:sp>
        <p:nvSpPr>
          <p:cNvPr id="10" name="Shape 7"/>
          <p:cNvSpPr/>
          <p:nvPr/>
        </p:nvSpPr>
        <p:spPr>
          <a:xfrm>
            <a:off x="4185818" y="1828800"/>
            <a:ext cx="914400" cy="914400"/>
          </a:xfrm>
          <a:prstGeom prst="ellipse">
            <a:avLst/>
          </a:prstGeom>
          <a:solidFill>
            <a:srgbClr val="E05252"/>
          </a:solidFill>
          <a:ln w="12700">
            <a:solidFill>
              <a:srgbClr val="E05252"/>
            </a:solidFill>
            <a:prstDash val="solid"/>
          </a:ln>
        </p:spPr>
      </p:sp>
      <p:pic>
        <p:nvPicPr>
          <p:cNvPr id="11" name="Image 1" descr="preencoded.png">    </p:cNvPr>
          <p:cNvPicPr>
            <a:picLocks noChangeAspect="1"/>
          </p:cNvPicPr>
          <p:nvPr/>
        </p:nvPicPr>
        <p:blipFill>
          <a:blip r:embed="rId2"/>
          <a:stretch>
            <a:fillRect/>
          </a:stretch>
        </p:blipFill>
        <p:spPr>
          <a:xfrm>
            <a:off x="4432706" y="2075688"/>
            <a:ext cx="420624" cy="420624"/>
          </a:xfrm>
          <a:prstGeom prst="rect">
            <a:avLst/>
          </a:prstGeom>
        </p:spPr>
      </p:pic>
      <p:sp>
        <p:nvSpPr>
          <p:cNvPr id="12" name="Text 8"/>
          <p:cNvSpPr txBox="1"/>
          <p:nvPr/>
        </p:nvSpPr>
        <p:spPr>
          <a:xfrm>
            <a:off x="3454298" y="2880360"/>
            <a:ext cx="2377440" cy="320040"/>
          </a:xfrm>
          <a:prstGeom prst="rect">
            <a:avLst/>
          </a:prstGeom>
          <a:noFill/>
          <a:ln/>
        </p:spPr>
        <p:txBody>
          <a:bodyPr wrap="square" lIns="0" tIns="0" rIns="0" bIns="0" rtlCol="0" anchor="t"/>
          <a:lstStyle/>
          <a:p>
            <a:pPr algn="ctr" indent="0" marL="0">
              <a:buNone/>
            </a:pPr>
            <a:r>
              <a:rPr lang="en-US" sz="1400" b="1" dirty="0">
                <a:solidFill>
                  <a:srgbClr val="0F1E3C"/>
                </a:solidFill>
                <a:latin typeface="Malgun Gothic" pitchFamily="34" charset="0"/>
                <a:ea typeface="Malgun Gothic" pitchFamily="34" charset="-122"/>
                <a:cs typeface="Malgun Gothic" pitchFamily="34" charset="-120"/>
              </a:rPr>
              <a:t>Defects</a:t>
            </a:r>
            <a:endParaRPr lang="en-US" sz="1400" dirty="0"/>
          </a:p>
        </p:txBody>
      </p:sp>
      <p:sp>
        <p:nvSpPr>
          <p:cNvPr id="13" name="Text 9"/>
          <p:cNvSpPr txBox="1"/>
          <p:nvPr/>
        </p:nvSpPr>
        <p:spPr>
          <a:xfrm>
            <a:off x="3454298" y="3200400"/>
            <a:ext cx="2377440" cy="640080"/>
          </a:xfrm>
          <a:prstGeom prst="rect">
            <a:avLst/>
          </a:prstGeom>
          <a:noFill/>
          <a:ln/>
        </p:spPr>
        <p:txBody>
          <a:bodyPr wrap="square" lIns="0" tIns="0" rIns="0" bIns="0" rtlCol="0" anchor="t"/>
          <a:lstStyle/>
          <a:p>
            <a:pPr algn="ctr" indent="0" marL="0">
              <a:lnSpc>
                <a:spcPct val="115000"/>
              </a:lnSpc>
              <a:buNone/>
            </a:pPr>
            <a:r>
              <a:rPr lang="en-US" sz="1100" dirty="0">
                <a:solidFill>
                  <a:srgbClr val="6B7A90"/>
                </a:solidFill>
                <a:latin typeface="Malgun Gothic" pitchFamily="34" charset="0"/>
                <a:ea typeface="Malgun Gothic" pitchFamily="34" charset="-122"/>
                <a:cs typeface="Malgun Gothic" pitchFamily="34" charset="-120"/>
              </a:rPr>
              <a:t>DEF-… 로 쌓인다</a:t>
            </a:r>
            <a:endParaRPr lang="en-US" sz="1100" dirty="0"/>
          </a:p>
          <a:p>
            <a:pPr algn="ctr" indent="0" marL="0">
              <a:lnSpc>
                <a:spcPct val="115000"/>
              </a:lnSpc>
              <a:buNone/>
            </a:pPr>
            <a:r>
              <a:rPr lang="en-US" sz="1100" dirty="0">
                <a:solidFill>
                  <a:srgbClr val="6B7A90"/>
                </a:solidFill>
                <a:latin typeface="Malgun Gothic" pitchFamily="34" charset="0"/>
                <a:ea typeface="Malgun Gothic" pitchFamily="34" charset="-122"/>
                <a:cs typeface="Malgun Gothic" pitchFamily="34" charset="-120"/>
              </a:rPr>
              <a:t>미해결 · 등록 · 닫힘</a:t>
            </a:r>
            <a:endParaRPr lang="en-US" sz="1100" dirty="0"/>
          </a:p>
        </p:txBody>
      </p:sp>
      <p:sp>
        <p:nvSpPr>
          <p:cNvPr id="14" name="Shape 10"/>
          <p:cNvSpPr/>
          <p:nvPr/>
        </p:nvSpPr>
        <p:spPr>
          <a:xfrm>
            <a:off x="8783117" y="2286000"/>
            <a:ext cx="436778" cy="0"/>
          </a:xfrm>
          <a:prstGeom prst="line">
            <a:avLst/>
          </a:prstGeom>
          <a:noFill/>
          <a:ln w="25400">
            <a:solidFill>
              <a:srgbClr val="D5DDE8"/>
            </a:solidFill>
            <a:prstDash val="solid"/>
            <a:tailEnd type="triangle"/>
          </a:ln>
        </p:spPr>
      </p:sp>
      <p:sp>
        <p:nvSpPr>
          <p:cNvPr id="15" name="Shape 11"/>
          <p:cNvSpPr/>
          <p:nvPr/>
        </p:nvSpPr>
        <p:spPr>
          <a:xfrm>
            <a:off x="7091477" y="1828800"/>
            <a:ext cx="914400" cy="914400"/>
          </a:xfrm>
          <a:prstGeom prst="ellipse">
            <a:avLst/>
          </a:prstGeom>
          <a:solidFill>
            <a:srgbClr val="1B2F5C"/>
          </a:solidFill>
          <a:ln w="12700">
            <a:solidFill>
              <a:srgbClr val="1B2F5C"/>
            </a:solidFill>
            <a:prstDash val="solid"/>
          </a:ln>
        </p:spPr>
      </p:sp>
      <p:pic>
        <p:nvPicPr>
          <p:cNvPr id="16" name="Image 2" descr="preencoded.png">    </p:cNvPr>
          <p:cNvPicPr>
            <a:picLocks noChangeAspect="1"/>
          </p:cNvPicPr>
          <p:nvPr/>
        </p:nvPicPr>
        <p:blipFill>
          <a:blip r:embed="rId3"/>
          <a:stretch>
            <a:fillRect/>
          </a:stretch>
        </p:blipFill>
        <p:spPr>
          <a:xfrm>
            <a:off x="7338365" y="2075688"/>
            <a:ext cx="420624" cy="420624"/>
          </a:xfrm>
          <a:prstGeom prst="rect">
            <a:avLst/>
          </a:prstGeom>
        </p:spPr>
      </p:pic>
      <p:sp>
        <p:nvSpPr>
          <p:cNvPr id="17" name="Text 12"/>
          <p:cNvSpPr txBox="1"/>
          <p:nvPr/>
        </p:nvSpPr>
        <p:spPr>
          <a:xfrm>
            <a:off x="6359957" y="2880360"/>
            <a:ext cx="2377440" cy="320040"/>
          </a:xfrm>
          <a:prstGeom prst="rect">
            <a:avLst/>
          </a:prstGeom>
          <a:noFill/>
          <a:ln/>
        </p:spPr>
        <p:txBody>
          <a:bodyPr wrap="square" lIns="0" tIns="0" rIns="0" bIns="0" rtlCol="0" anchor="t"/>
          <a:lstStyle/>
          <a:p>
            <a:pPr algn="ctr" indent="0" marL="0">
              <a:buNone/>
            </a:pPr>
            <a:r>
              <a:rPr lang="en-US" sz="1400" b="1" dirty="0">
                <a:solidFill>
                  <a:srgbClr val="0F1E3C"/>
                </a:solidFill>
                <a:latin typeface="Malgun Gothic" pitchFamily="34" charset="0"/>
                <a:ea typeface="Malgun Gothic" pitchFamily="34" charset="-122"/>
                <a:cs typeface="Malgun Gothic" pitchFamily="34" charset="-120"/>
              </a:rPr>
              <a:t>Jira 이슈</a:t>
            </a:r>
            <a:endParaRPr lang="en-US" sz="1400" dirty="0"/>
          </a:p>
        </p:txBody>
      </p:sp>
      <p:sp>
        <p:nvSpPr>
          <p:cNvPr id="18" name="Text 13"/>
          <p:cNvSpPr txBox="1"/>
          <p:nvPr/>
        </p:nvSpPr>
        <p:spPr>
          <a:xfrm>
            <a:off x="6359957" y="3200400"/>
            <a:ext cx="2377440" cy="640080"/>
          </a:xfrm>
          <a:prstGeom prst="rect">
            <a:avLst/>
          </a:prstGeom>
          <a:noFill/>
          <a:ln/>
        </p:spPr>
        <p:txBody>
          <a:bodyPr wrap="square" lIns="0" tIns="0" rIns="0" bIns="0" rtlCol="0" anchor="t"/>
          <a:lstStyle/>
          <a:p>
            <a:pPr algn="ctr" indent="0" marL="0">
              <a:lnSpc>
                <a:spcPct val="115000"/>
              </a:lnSpc>
              <a:buNone/>
            </a:pPr>
            <a:r>
              <a:rPr lang="en-US" sz="1100" dirty="0">
                <a:solidFill>
                  <a:srgbClr val="6B7A90"/>
                </a:solidFill>
                <a:latin typeface="Malgun Gothic" pitchFamily="34" charset="0"/>
                <a:ea typeface="Malgun Gothic" pitchFamily="34" charset="-122"/>
                <a:cs typeface="Malgun Gothic" pitchFamily="34" charset="-120"/>
              </a:rPr>
              <a:t>프로젝트 · 유형 · 우선순위 ·</a:t>
            </a:r>
            <a:endParaRPr lang="en-US" sz="1100" dirty="0"/>
          </a:p>
          <a:p>
            <a:pPr algn="ctr" indent="0" marL="0">
              <a:lnSpc>
                <a:spcPct val="115000"/>
              </a:lnSpc>
              <a:buNone/>
            </a:pPr>
            <a:r>
              <a:rPr lang="en-US" sz="1100" dirty="0">
                <a:solidFill>
                  <a:srgbClr val="6B7A90"/>
                </a:solidFill>
                <a:latin typeface="Malgun Gothic" pitchFamily="34" charset="0"/>
                <a:ea typeface="Malgun Gothic" pitchFamily="34" charset="-122"/>
                <a:cs typeface="Malgun Gothic" pitchFamily="34" charset="-120"/>
              </a:rPr>
              <a:t>수정버전 · 구성요소 그대로</a:t>
            </a:r>
            <a:endParaRPr lang="en-US" sz="1100" dirty="0"/>
          </a:p>
        </p:txBody>
      </p:sp>
      <p:sp>
        <p:nvSpPr>
          <p:cNvPr id="19" name="Shape 14"/>
          <p:cNvSpPr/>
          <p:nvPr/>
        </p:nvSpPr>
        <p:spPr>
          <a:xfrm>
            <a:off x="9997135" y="1828800"/>
            <a:ext cx="914400" cy="914400"/>
          </a:xfrm>
          <a:prstGeom prst="ellipse">
            <a:avLst/>
          </a:prstGeom>
          <a:solidFill>
            <a:srgbClr val="F2A23A"/>
          </a:solidFill>
          <a:ln w="12700">
            <a:solidFill>
              <a:srgbClr val="F2A23A"/>
            </a:solidFill>
            <a:prstDash val="solid"/>
          </a:ln>
        </p:spPr>
      </p:sp>
      <p:pic>
        <p:nvPicPr>
          <p:cNvPr id="20" name="Image 3" descr="preencoded.png">    </p:cNvPr>
          <p:cNvPicPr>
            <a:picLocks noChangeAspect="1"/>
          </p:cNvPicPr>
          <p:nvPr/>
        </p:nvPicPr>
        <p:blipFill>
          <a:blip r:embed="rId4"/>
          <a:stretch>
            <a:fillRect/>
          </a:stretch>
        </p:blipFill>
        <p:spPr>
          <a:xfrm>
            <a:off x="10244023" y="2075688"/>
            <a:ext cx="420624" cy="420624"/>
          </a:xfrm>
          <a:prstGeom prst="rect">
            <a:avLst/>
          </a:prstGeom>
        </p:spPr>
      </p:pic>
      <p:sp>
        <p:nvSpPr>
          <p:cNvPr id="21" name="Text 15"/>
          <p:cNvSpPr txBox="1"/>
          <p:nvPr/>
        </p:nvSpPr>
        <p:spPr>
          <a:xfrm>
            <a:off x="9265615" y="2880360"/>
            <a:ext cx="2377440" cy="320040"/>
          </a:xfrm>
          <a:prstGeom prst="rect">
            <a:avLst/>
          </a:prstGeom>
          <a:noFill/>
          <a:ln/>
        </p:spPr>
        <p:txBody>
          <a:bodyPr wrap="square" lIns="0" tIns="0" rIns="0" bIns="0" rtlCol="0" anchor="t"/>
          <a:lstStyle/>
          <a:p>
            <a:pPr algn="ctr" indent="0" marL="0">
              <a:buNone/>
            </a:pPr>
            <a:r>
              <a:rPr lang="en-US" sz="1400" b="1" dirty="0">
                <a:solidFill>
                  <a:srgbClr val="0F1E3C"/>
                </a:solidFill>
                <a:latin typeface="Malgun Gothic" pitchFamily="34" charset="0"/>
                <a:ea typeface="Malgun Gothic" pitchFamily="34" charset="-122"/>
                <a:cs typeface="Malgun Gothic" pitchFamily="34" charset="-120"/>
              </a:rPr>
              <a:t>Releases</a:t>
            </a:r>
            <a:endParaRPr lang="en-US" sz="1400" dirty="0"/>
          </a:p>
        </p:txBody>
      </p:sp>
      <p:sp>
        <p:nvSpPr>
          <p:cNvPr id="22" name="Text 16"/>
          <p:cNvSpPr txBox="1"/>
          <p:nvPr/>
        </p:nvSpPr>
        <p:spPr>
          <a:xfrm>
            <a:off x="9265615" y="3200400"/>
            <a:ext cx="2377440" cy="640080"/>
          </a:xfrm>
          <a:prstGeom prst="rect">
            <a:avLst/>
          </a:prstGeom>
          <a:noFill/>
          <a:ln/>
        </p:spPr>
        <p:txBody>
          <a:bodyPr wrap="square" lIns="0" tIns="0" rIns="0" bIns="0" rtlCol="0" anchor="t"/>
          <a:lstStyle/>
          <a:p>
            <a:pPr algn="ctr" indent="0" marL="0">
              <a:lnSpc>
                <a:spcPct val="115000"/>
              </a:lnSpc>
              <a:buNone/>
            </a:pPr>
            <a:r>
              <a:rPr lang="en-US" sz="1100" dirty="0">
                <a:solidFill>
                  <a:srgbClr val="6B7A90"/>
                </a:solidFill>
                <a:latin typeface="Malgun Gothic" pitchFamily="34" charset="0"/>
                <a:ea typeface="Malgun Gothic" pitchFamily="34" charset="-122"/>
                <a:cs typeface="Malgun Gothic" pitchFamily="34" charset="-120"/>
              </a:rPr>
              <a:t>fixVersion 별 이슈와</a:t>
            </a:r>
            <a:endParaRPr lang="en-US" sz="1100" dirty="0"/>
          </a:p>
          <a:p>
            <a:pPr algn="ctr" indent="0" marL="0">
              <a:lnSpc>
                <a:spcPct val="115000"/>
              </a:lnSpc>
              <a:buNone/>
            </a:pPr>
            <a:r>
              <a:rPr lang="en-US" sz="1100" dirty="0">
                <a:solidFill>
                  <a:srgbClr val="6B7A90"/>
                </a:solidFill>
                <a:latin typeface="Malgun Gothic" pitchFamily="34" charset="0"/>
                <a:ea typeface="Malgun Gothic" pitchFamily="34" charset="-122"/>
                <a:cs typeface="Malgun Gothic" pitchFamily="34" charset="-120"/>
              </a:rPr>
              <a:t>그 이슈를 덮는 시험</a:t>
            </a:r>
            <a:endParaRPr lang="en-US" sz="1100" dirty="0"/>
          </a:p>
        </p:txBody>
      </p:sp>
      <p:sp>
        <p:nvSpPr>
          <p:cNvPr id="23" name="Shape 17"/>
          <p:cNvSpPr/>
          <p:nvPr/>
        </p:nvSpPr>
        <p:spPr>
          <a:xfrm>
            <a:off x="548640" y="4069080"/>
            <a:ext cx="3515258" cy="2103120"/>
          </a:xfrm>
          <a:prstGeom prst="roundRect">
            <a:avLst>
              <a:gd name="adj" fmla="val 5217"/>
            </a:avLst>
          </a:prstGeom>
          <a:solidFill>
            <a:srgbClr val="EEF3F9"/>
          </a:solidFill>
          <a:ln w="12700">
            <a:solidFill>
              <a:srgbClr val="EEF3F9"/>
            </a:solidFill>
            <a:prstDash val="solid"/>
          </a:ln>
        </p:spPr>
      </p:sp>
      <p:sp>
        <p:nvSpPr>
          <p:cNvPr id="24" name="Text 18"/>
          <p:cNvSpPr txBox="1"/>
          <p:nvPr/>
        </p:nvSpPr>
        <p:spPr>
          <a:xfrm>
            <a:off x="777240" y="4206240"/>
            <a:ext cx="3058058" cy="320040"/>
          </a:xfrm>
          <a:prstGeom prst="rect">
            <a:avLst/>
          </a:prstGeom>
          <a:noFill/>
          <a:ln/>
        </p:spPr>
        <p:txBody>
          <a:bodyPr wrap="square" lIns="0" tIns="0" rIns="0" bIns="0" rtlCol="0" anchor="t"/>
          <a:lstStyle/>
          <a:p>
            <a:pPr indent="0" marL="0">
              <a:buNone/>
            </a:pPr>
            <a:r>
              <a:rPr lang="en-US" sz="1300" b="1" dirty="0">
                <a:solidFill>
                  <a:srgbClr val="0F1E3C"/>
                </a:solidFill>
                <a:latin typeface="Malgun Gothic" pitchFamily="34" charset="0"/>
                <a:ea typeface="Malgun Gothic" pitchFamily="34" charset="-122"/>
                <a:cs typeface="Malgun Gothic" pitchFamily="34" charset="-120"/>
              </a:rPr>
              <a:t>Jira Issue — 가져다 본다</a:t>
            </a:r>
            <a:endParaRPr lang="en-US" sz="1300" dirty="0"/>
          </a:p>
        </p:txBody>
      </p:sp>
      <p:sp>
        <p:nvSpPr>
          <p:cNvPr id="25" name="Text 19"/>
          <p:cNvSpPr txBox="1"/>
          <p:nvPr/>
        </p:nvSpPr>
        <p:spPr>
          <a:xfrm>
            <a:off x="777240" y="4572000"/>
            <a:ext cx="3058058" cy="155448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Jira 에는 팔만 건이 넘는다. 프로젝트를 골라 그것만 받는다</a:t>
            </a:r>
            <a:endParaRPr lang="en-US" sz="1050" dirty="0"/>
          </a:p>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한 번 받은 것은 우리 DB 에 두고, 다음 Sync 는 바뀐 것만 — 두 번째부터는 몇 초</a:t>
            </a:r>
            <a:endParaRPr lang="en-US" sz="1050" dirty="0"/>
          </a:p>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사업자 · 문제유형 · 이슈분류 · 시험시설 같은 실제 커스텀 필드 그대로</a:t>
            </a:r>
            <a:endParaRPr lang="en-US" sz="1050" dirty="0"/>
          </a:p>
        </p:txBody>
      </p:sp>
      <p:sp>
        <p:nvSpPr>
          <p:cNvPr id="26" name="Shape 20"/>
          <p:cNvSpPr/>
          <p:nvPr/>
        </p:nvSpPr>
        <p:spPr>
          <a:xfrm>
            <a:off x="4338218" y="4069080"/>
            <a:ext cx="3515258" cy="2103120"/>
          </a:xfrm>
          <a:prstGeom prst="roundRect">
            <a:avLst>
              <a:gd name="adj" fmla="val 5217"/>
            </a:avLst>
          </a:prstGeom>
          <a:solidFill>
            <a:srgbClr val="EEF3F9"/>
          </a:solidFill>
          <a:ln w="12700">
            <a:solidFill>
              <a:srgbClr val="EEF3F9"/>
            </a:solidFill>
            <a:prstDash val="solid"/>
          </a:ln>
        </p:spPr>
      </p:sp>
      <p:sp>
        <p:nvSpPr>
          <p:cNvPr id="27" name="Text 21"/>
          <p:cNvSpPr txBox="1"/>
          <p:nvPr/>
        </p:nvSpPr>
        <p:spPr>
          <a:xfrm>
            <a:off x="4566818" y="4206240"/>
            <a:ext cx="3058058" cy="320040"/>
          </a:xfrm>
          <a:prstGeom prst="rect">
            <a:avLst/>
          </a:prstGeom>
          <a:noFill/>
          <a:ln/>
        </p:spPr>
        <p:txBody>
          <a:bodyPr wrap="square" lIns="0" tIns="0" rIns="0" bIns="0" rtlCol="0" anchor="t"/>
          <a:lstStyle/>
          <a:p>
            <a:pPr indent="0" marL="0">
              <a:buNone/>
            </a:pPr>
            <a:r>
              <a:rPr lang="en-US" sz="1300" b="1" dirty="0">
                <a:solidFill>
                  <a:srgbClr val="0F1E3C"/>
                </a:solidFill>
                <a:latin typeface="Malgun Gothic" pitchFamily="34" charset="0"/>
                <a:ea typeface="Malgun Gothic" pitchFamily="34" charset="-122"/>
                <a:cs typeface="Malgun Gothic" pitchFamily="34" charset="-120"/>
              </a:rPr>
              <a:t>Releases — 배포 전에 본다</a:t>
            </a:r>
            <a:endParaRPr lang="en-US" sz="1300" dirty="0"/>
          </a:p>
        </p:txBody>
      </p:sp>
      <p:sp>
        <p:nvSpPr>
          <p:cNvPr id="28" name="Text 22"/>
          <p:cNvSpPr txBox="1"/>
          <p:nvPr/>
        </p:nvSpPr>
        <p:spPr>
          <a:xfrm>
            <a:off x="4566818" y="4572000"/>
            <a:ext cx="3058058" cy="155448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"이번 릴리스의 이슈가 다 검증됐나" 를 버전 단위로</a:t>
            </a:r>
            <a:endParaRPr lang="en-US" sz="1050" dirty="0"/>
          </a:p>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Sync 한 것은 남는다 — 새로고침해도 표가 비지 않는다</a:t>
            </a:r>
            <a:endParaRPr lang="en-US" sz="1050" dirty="0"/>
          </a:p>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버전 이름의 괄호에서 사업자를 뽑아 같은 묶음으로</a:t>
            </a:r>
            <a:endParaRPr lang="en-US" sz="1050" dirty="0"/>
          </a:p>
        </p:txBody>
      </p:sp>
      <p:sp>
        <p:nvSpPr>
          <p:cNvPr id="29" name="Shape 23"/>
          <p:cNvSpPr/>
          <p:nvPr/>
        </p:nvSpPr>
        <p:spPr>
          <a:xfrm>
            <a:off x="8127797" y="4069080"/>
            <a:ext cx="3515258" cy="2103120"/>
          </a:xfrm>
          <a:prstGeom prst="roundRect">
            <a:avLst>
              <a:gd name="adj" fmla="val 5217"/>
            </a:avLst>
          </a:prstGeom>
          <a:solidFill>
            <a:srgbClr val="EEF3F9"/>
          </a:solidFill>
          <a:ln w="12700">
            <a:solidFill>
              <a:srgbClr val="EEF3F9"/>
            </a:solidFill>
            <a:prstDash val="solid"/>
          </a:ln>
        </p:spPr>
      </p:sp>
      <p:sp>
        <p:nvSpPr>
          <p:cNvPr id="30" name="Text 24"/>
          <p:cNvSpPr txBox="1"/>
          <p:nvPr/>
        </p:nvSpPr>
        <p:spPr>
          <a:xfrm>
            <a:off x="8356397" y="4206240"/>
            <a:ext cx="3058058" cy="320040"/>
          </a:xfrm>
          <a:prstGeom prst="rect">
            <a:avLst/>
          </a:prstGeom>
          <a:noFill/>
          <a:ln/>
        </p:spPr>
        <p:txBody>
          <a:bodyPr wrap="square" lIns="0" tIns="0" rIns="0" bIns="0" rtlCol="0" anchor="t"/>
          <a:lstStyle/>
          <a:p>
            <a:pPr indent="0" marL="0">
              <a:buNone/>
            </a:pPr>
            <a:r>
              <a:rPr lang="en-US" sz="1300" b="1" dirty="0">
                <a:solidFill>
                  <a:srgbClr val="0F1E3C"/>
                </a:solidFill>
                <a:latin typeface="Malgun Gothic" pitchFamily="34" charset="0"/>
                <a:ea typeface="Malgun Gothic" pitchFamily="34" charset="-122"/>
                <a:cs typeface="Malgun Gothic" pitchFamily="34" charset="-120"/>
              </a:rPr>
              <a:t>Knowledge AI 와 이어진다</a:t>
            </a:r>
            <a:endParaRPr lang="en-US" sz="1300" dirty="0"/>
          </a:p>
        </p:txBody>
      </p:sp>
      <p:sp>
        <p:nvSpPr>
          <p:cNvPr id="31" name="Text 25"/>
          <p:cNvSpPr txBox="1"/>
          <p:nvPr/>
        </p:nvSpPr>
        <p:spPr>
          <a:xfrm>
            <a:off x="8356397" y="4572000"/>
            <a:ext cx="3058058" cy="155448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아침마다 받아 둔 Jira 캐시가 AI 검색의 자료가 된다</a:t>
            </a:r>
            <a:endParaRPr lang="en-US" sz="1050" dirty="0"/>
          </a:p>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"이 증상과 비슷한 이슈가 있었나" 를 근거와 함께 답한다</a:t>
            </a:r>
            <a:endParaRPr lang="en-US" sz="1050" dirty="0"/>
          </a:p>
          <a:p>
            <a:pPr marL="342900" indent="-342900">
              <a:spcAft>
                <a:spcPts val="500"/>
              </a:spcAft>
              <a:buSzPct val="100000"/>
              <a:buChar char="●"/>
            </a:pPr>
            <a:r>
              <a:rPr lang="en-US" sz="1050" dirty="0">
                <a:solidFill>
                  <a:srgbClr val="1A2333"/>
                </a:solidFill>
                <a:latin typeface="Malgun Gothic" pitchFamily="34" charset="0"/>
                <a:ea typeface="Malgun Gothic" pitchFamily="34" charset="-122"/>
                <a:cs typeface="Malgun Gothic" pitchFamily="34" charset="-120"/>
              </a:rPr>
              <a:t>Confluence 문서도 같은 방식으로 붙는다</a:t>
            </a:r>
            <a:endParaRPr lang="en-US" sz="1050" dirty="0"/>
          </a:p>
        </p:txBody>
      </p:sp>
      <p:sp>
        <p:nvSpPr>
          <p:cNvPr id="32" name="Text 26"/>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A0ABBC"/>
                </a:solidFill>
                <a:latin typeface="Malgun Gothic" pitchFamily="34" charset="0"/>
                <a:ea typeface="Malgun Gothic" pitchFamily="34" charset="-122"/>
                <a:cs typeface="Malgun Gothic" pitchFamily="34" charset="-120"/>
              </a:rPr>
              <a:t>UTOP  ·  Ubiquoss Test Orchestration Platform</a:t>
            </a:r>
            <a:endParaRPr lang="en-US" sz="900" dirty="0"/>
          </a:p>
        </p:txBody>
      </p:sp>
      <p:sp>
        <p:nvSpPr>
          <p:cNvPr id="33" name="Text 27"/>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A0ABBC"/>
                </a:solidFill>
                <a:latin typeface="Malgun Gothic" pitchFamily="34" charset="0"/>
                <a:ea typeface="Malgun Gothic" pitchFamily="34" charset="-122"/>
                <a:cs typeface="Malgun Gothic"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t"/>
          <a:lstStyle/>
          <a:p>
            <a:pPr indent="0" marL="0">
              <a:buNone/>
            </a:pPr>
            <a:r>
              <a:rPr lang="en-US" sz="3000" b="1" dirty="0">
                <a:solidFill>
                  <a:srgbClr val="0F1E3C"/>
                </a:solidFill>
                <a:latin typeface="Malgun Gothic" pitchFamily="34" charset="0"/>
                <a:ea typeface="Malgun Gothic" pitchFamily="34" charset="-122"/>
                <a:cs typeface="Malgun Gothic" pitchFamily="34" charset="-120"/>
              </a:rPr>
              <a:t>AI — 시험을 만드는 AI, 자료를 찾는 AI</a:t>
            </a:r>
            <a:endParaRPr lang="en-US" sz="3000" dirty="0"/>
          </a:p>
        </p:txBody>
      </p:sp>
      <p:sp>
        <p:nvSpPr>
          <p:cNvPr id="3" name="Text 1"/>
          <p:cNvSpPr txBox="1"/>
          <p:nvPr/>
        </p:nvSpPr>
        <p:spPr>
          <a:xfrm>
            <a:off x="548640" y="1024128"/>
            <a:ext cx="11094415" cy="365760"/>
          </a:xfrm>
          <a:prstGeom prst="rect">
            <a:avLst/>
          </a:prstGeom>
          <a:noFill/>
          <a:ln/>
        </p:spPr>
        <p:txBody>
          <a:bodyPr wrap="square" lIns="0" tIns="0" rIns="0" bIns="0" rtlCol="0" anchor="t"/>
          <a:lstStyle/>
          <a:p>
            <a:pPr indent="0" marL="0">
              <a:buNone/>
            </a:pPr>
            <a:r>
              <a:rPr lang="en-US" sz="1400" dirty="0">
                <a:solidFill>
                  <a:srgbClr val="6B7A90"/>
                </a:solidFill>
                <a:latin typeface="Malgun Gothic" pitchFamily="34" charset="0"/>
                <a:ea typeface="Malgun Gothic" pitchFamily="34" charset="-122"/>
                <a:cs typeface="Malgun Gothic" pitchFamily="34" charset="-120"/>
              </a:rPr>
              <a:t>쓰기와 읽기는 다른 일이라 자리를 둘로 나눴다</a:t>
            </a:r>
            <a:endParaRPr lang="en-US" sz="1400" dirty="0"/>
          </a:p>
        </p:txBody>
      </p:sp>
      <p:sp>
        <p:nvSpPr>
          <p:cNvPr id="4" name="Shape 2"/>
          <p:cNvSpPr/>
          <p:nvPr/>
        </p:nvSpPr>
        <p:spPr>
          <a:xfrm>
            <a:off x="548640" y="1691640"/>
            <a:ext cx="5364328" cy="3520440"/>
          </a:xfrm>
          <a:prstGeom prst="roundRect">
            <a:avLst>
              <a:gd name="adj" fmla="val 3117"/>
            </a:avLst>
          </a:prstGeom>
          <a:solidFill>
            <a:srgbClr val="EEF3F9"/>
          </a:solidFill>
          <a:ln w="12700">
            <a:solidFill>
              <a:srgbClr val="EEF3F9"/>
            </a:solidFill>
            <a:prstDash val="solid"/>
          </a:ln>
        </p:spPr>
      </p:sp>
      <p:sp>
        <p:nvSpPr>
          <p:cNvPr id="5" name="Shape 3"/>
          <p:cNvSpPr/>
          <p:nvPr/>
        </p:nvSpPr>
        <p:spPr>
          <a:xfrm>
            <a:off x="822960" y="1920240"/>
            <a:ext cx="594360" cy="594360"/>
          </a:xfrm>
          <a:prstGeom prst="ellipse">
            <a:avLst/>
          </a:prstGeom>
          <a:solidFill>
            <a:srgbClr val="7A5AF8"/>
          </a:solidFill>
          <a:ln w="12700">
            <a:solidFill>
              <a:srgbClr val="7A5AF8"/>
            </a:solidFill>
            <a:prstDash val="solid"/>
          </a:ln>
        </p:spPr>
      </p:sp>
      <p:pic>
        <p:nvPicPr>
          <p:cNvPr id="6" name="Image 0" descr="preencoded.png">    </p:cNvPr>
          <p:cNvPicPr>
            <a:picLocks noChangeAspect="1"/>
          </p:cNvPicPr>
          <p:nvPr/>
        </p:nvPicPr>
        <p:blipFill>
          <a:blip r:embed="rId1"/>
          <a:stretch>
            <a:fillRect/>
          </a:stretch>
        </p:blipFill>
        <p:spPr>
          <a:xfrm>
            <a:off x="983437" y="2080717"/>
            <a:ext cx="273406" cy="273406"/>
          </a:xfrm>
          <a:prstGeom prst="rect">
            <a:avLst/>
          </a:prstGeom>
        </p:spPr>
      </p:pic>
      <p:sp>
        <p:nvSpPr>
          <p:cNvPr id="7" name="Text 4"/>
          <p:cNvSpPr txBox="1"/>
          <p:nvPr/>
        </p:nvSpPr>
        <p:spPr>
          <a:xfrm>
            <a:off x="1554480" y="2011680"/>
            <a:ext cx="4084168" cy="411480"/>
          </a:xfrm>
          <a:prstGeom prst="rect">
            <a:avLst/>
          </a:prstGeom>
          <a:noFill/>
          <a:ln/>
        </p:spPr>
        <p:txBody>
          <a:bodyPr wrap="square" lIns="0" tIns="0" rIns="0" bIns="0" rtlCol="0" anchor="t"/>
          <a:lstStyle/>
          <a:p>
            <a:pPr indent="0" marL="0">
              <a:buNone/>
            </a:pPr>
            <a:r>
              <a:rPr lang="en-US" sz="1600" b="1" dirty="0">
                <a:solidFill>
                  <a:srgbClr val="0F1E3C"/>
                </a:solidFill>
                <a:latin typeface="Malgun Gothic" pitchFamily="34" charset="0"/>
                <a:ea typeface="Malgun Gothic" pitchFamily="34" charset="-122"/>
                <a:cs typeface="Malgun Gothic" pitchFamily="34" charset="-120"/>
              </a:rPr>
              <a:t>Coverage AI — 말로 시험을 만든다</a:t>
            </a:r>
            <a:endParaRPr lang="en-US" sz="1600" dirty="0"/>
          </a:p>
        </p:txBody>
      </p:sp>
      <p:sp>
        <p:nvSpPr>
          <p:cNvPr id="8" name="Shape 5"/>
          <p:cNvSpPr/>
          <p:nvPr/>
        </p:nvSpPr>
        <p:spPr>
          <a:xfrm>
            <a:off x="822960" y="2697480"/>
            <a:ext cx="1097280" cy="365760"/>
          </a:xfrm>
          <a:prstGeom prst="roundRect">
            <a:avLst>
              <a:gd name="adj" fmla="val 50000"/>
            </a:avLst>
          </a:prstGeom>
          <a:solidFill>
            <a:srgbClr val="FFFFFF"/>
          </a:solidFill>
          <a:ln w="12700">
            <a:solidFill>
              <a:srgbClr val="D5DDE8"/>
            </a:solidFill>
            <a:prstDash val="solid"/>
          </a:ln>
        </p:spPr>
      </p:sp>
      <p:sp>
        <p:nvSpPr>
          <p:cNvPr id="9" name="Text 6"/>
          <p:cNvSpPr txBox="1"/>
          <p:nvPr/>
        </p:nvSpPr>
        <p:spPr>
          <a:xfrm>
            <a:off x="822960" y="2697480"/>
            <a:ext cx="1097280" cy="365760"/>
          </a:xfrm>
          <a:prstGeom prst="rect">
            <a:avLst/>
          </a:prstGeom>
          <a:noFill/>
          <a:ln/>
        </p:spPr>
        <p:txBody>
          <a:bodyPr wrap="square" lIns="0" tIns="0" rIns="0" bIns="0" rtlCol="0" anchor="ctr"/>
          <a:lstStyle/>
          <a:p>
            <a:pPr algn="ctr" indent="0" marL="0">
              <a:buNone/>
            </a:pPr>
            <a:r>
              <a:rPr lang="en-US" sz="1100" b="1" dirty="0">
                <a:solidFill>
                  <a:srgbClr val="0F1E3C"/>
                </a:solidFill>
                <a:latin typeface="Malgun Gothic" pitchFamily="34" charset="0"/>
                <a:ea typeface="Malgun Gothic" pitchFamily="34" charset="-122"/>
                <a:cs typeface="Malgun Gothic" pitchFamily="34" charset="-120"/>
              </a:rPr>
              <a:t>짜고</a:t>
            </a:r>
            <a:endParaRPr lang="en-US" sz="1100" dirty="0"/>
          </a:p>
        </p:txBody>
      </p:sp>
      <p:sp>
        <p:nvSpPr>
          <p:cNvPr id="10" name="Shape 7"/>
          <p:cNvSpPr/>
          <p:nvPr/>
        </p:nvSpPr>
        <p:spPr>
          <a:xfrm>
            <a:off x="1938528" y="2880360"/>
            <a:ext cx="192024" cy="0"/>
          </a:xfrm>
          <a:prstGeom prst="line">
            <a:avLst/>
          </a:prstGeom>
          <a:noFill/>
          <a:ln w="15875">
            <a:solidFill>
              <a:srgbClr val="6B7A90"/>
            </a:solidFill>
            <a:prstDash val="solid"/>
            <a:tailEnd type="triangle"/>
          </a:ln>
        </p:spPr>
      </p:sp>
      <p:sp>
        <p:nvSpPr>
          <p:cNvPr id="11" name="Shape 8"/>
          <p:cNvSpPr/>
          <p:nvPr/>
        </p:nvSpPr>
        <p:spPr>
          <a:xfrm>
            <a:off x="2148840" y="2697480"/>
            <a:ext cx="1097280" cy="365760"/>
          </a:xfrm>
          <a:prstGeom prst="roundRect">
            <a:avLst>
              <a:gd name="adj" fmla="val 50000"/>
            </a:avLst>
          </a:prstGeom>
          <a:solidFill>
            <a:srgbClr val="FFFFFF"/>
          </a:solidFill>
          <a:ln w="12700">
            <a:solidFill>
              <a:srgbClr val="D5DDE8"/>
            </a:solidFill>
            <a:prstDash val="solid"/>
          </a:ln>
        </p:spPr>
      </p:sp>
      <p:sp>
        <p:nvSpPr>
          <p:cNvPr id="12" name="Text 9"/>
          <p:cNvSpPr txBox="1"/>
          <p:nvPr/>
        </p:nvSpPr>
        <p:spPr>
          <a:xfrm>
            <a:off x="2148840" y="2697480"/>
            <a:ext cx="1097280" cy="365760"/>
          </a:xfrm>
          <a:prstGeom prst="rect">
            <a:avLst/>
          </a:prstGeom>
          <a:noFill/>
          <a:ln/>
        </p:spPr>
        <p:txBody>
          <a:bodyPr wrap="square" lIns="0" tIns="0" rIns="0" bIns="0" rtlCol="0" anchor="ctr"/>
          <a:lstStyle/>
          <a:p>
            <a:pPr algn="ctr" indent="0" marL="0">
              <a:buNone/>
            </a:pPr>
            <a:r>
              <a:rPr lang="en-US" sz="1100" b="1" dirty="0">
                <a:solidFill>
                  <a:srgbClr val="0F1E3C"/>
                </a:solidFill>
                <a:latin typeface="Malgun Gothic" pitchFamily="34" charset="0"/>
                <a:ea typeface="Malgun Gothic" pitchFamily="34" charset="-122"/>
                <a:cs typeface="Malgun Gothic" pitchFamily="34" charset="-120"/>
              </a:rPr>
              <a:t>돌리고</a:t>
            </a:r>
            <a:endParaRPr lang="en-US" sz="1100" dirty="0"/>
          </a:p>
        </p:txBody>
      </p:sp>
      <p:sp>
        <p:nvSpPr>
          <p:cNvPr id="13" name="Shape 10"/>
          <p:cNvSpPr/>
          <p:nvPr/>
        </p:nvSpPr>
        <p:spPr>
          <a:xfrm>
            <a:off x="3264408" y="2880360"/>
            <a:ext cx="192024" cy="0"/>
          </a:xfrm>
          <a:prstGeom prst="line">
            <a:avLst/>
          </a:prstGeom>
          <a:noFill/>
          <a:ln w="15875">
            <a:solidFill>
              <a:srgbClr val="6B7A90"/>
            </a:solidFill>
            <a:prstDash val="solid"/>
            <a:tailEnd type="triangle"/>
          </a:ln>
        </p:spPr>
      </p:sp>
      <p:sp>
        <p:nvSpPr>
          <p:cNvPr id="14" name="Shape 11"/>
          <p:cNvSpPr/>
          <p:nvPr/>
        </p:nvSpPr>
        <p:spPr>
          <a:xfrm>
            <a:off x="3474720" y="2697480"/>
            <a:ext cx="1097280" cy="365760"/>
          </a:xfrm>
          <a:prstGeom prst="roundRect">
            <a:avLst>
              <a:gd name="adj" fmla="val 50000"/>
            </a:avLst>
          </a:prstGeom>
          <a:solidFill>
            <a:srgbClr val="FFFFFF"/>
          </a:solidFill>
          <a:ln w="12700">
            <a:solidFill>
              <a:srgbClr val="D5DDE8"/>
            </a:solidFill>
            <a:prstDash val="solid"/>
          </a:ln>
        </p:spPr>
      </p:sp>
      <p:sp>
        <p:nvSpPr>
          <p:cNvPr id="15" name="Text 12"/>
          <p:cNvSpPr txBox="1"/>
          <p:nvPr/>
        </p:nvSpPr>
        <p:spPr>
          <a:xfrm>
            <a:off x="3474720" y="2697480"/>
            <a:ext cx="1097280" cy="365760"/>
          </a:xfrm>
          <a:prstGeom prst="rect">
            <a:avLst/>
          </a:prstGeom>
          <a:noFill/>
          <a:ln/>
        </p:spPr>
        <p:txBody>
          <a:bodyPr wrap="square" lIns="0" tIns="0" rIns="0" bIns="0" rtlCol="0" anchor="ctr"/>
          <a:lstStyle/>
          <a:p>
            <a:pPr algn="ctr" indent="0" marL="0">
              <a:buNone/>
            </a:pPr>
            <a:r>
              <a:rPr lang="en-US" sz="1100" b="1" dirty="0">
                <a:solidFill>
                  <a:srgbClr val="0F1E3C"/>
                </a:solidFill>
                <a:latin typeface="Malgun Gothic" pitchFamily="34" charset="0"/>
                <a:ea typeface="Malgun Gothic" pitchFamily="34" charset="-122"/>
                <a:cs typeface="Malgun Gothic" pitchFamily="34" charset="-120"/>
              </a:rPr>
              <a:t>보고</a:t>
            </a:r>
            <a:endParaRPr lang="en-US" sz="1100" dirty="0"/>
          </a:p>
        </p:txBody>
      </p:sp>
      <p:sp>
        <p:nvSpPr>
          <p:cNvPr id="16" name="Shape 13"/>
          <p:cNvSpPr/>
          <p:nvPr/>
        </p:nvSpPr>
        <p:spPr>
          <a:xfrm>
            <a:off x="4590288" y="2880360"/>
            <a:ext cx="192024" cy="0"/>
          </a:xfrm>
          <a:prstGeom prst="line">
            <a:avLst/>
          </a:prstGeom>
          <a:noFill/>
          <a:ln w="15875">
            <a:solidFill>
              <a:srgbClr val="6B7A90"/>
            </a:solidFill>
            <a:prstDash val="solid"/>
            <a:tailEnd type="triangle"/>
          </a:ln>
        </p:spPr>
      </p:sp>
      <p:sp>
        <p:nvSpPr>
          <p:cNvPr id="17" name="Shape 14"/>
          <p:cNvSpPr/>
          <p:nvPr/>
        </p:nvSpPr>
        <p:spPr>
          <a:xfrm>
            <a:off x="4800600" y="2697480"/>
            <a:ext cx="1097280" cy="365760"/>
          </a:xfrm>
          <a:prstGeom prst="roundRect">
            <a:avLst>
              <a:gd name="adj" fmla="val 50000"/>
            </a:avLst>
          </a:prstGeom>
          <a:solidFill>
            <a:srgbClr val="12A594"/>
          </a:solidFill>
          <a:ln w="12700">
            <a:solidFill>
              <a:srgbClr val="12A594"/>
            </a:solidFill>
            <a:prstDash val="solid"/>
          </a:ln>
        </p:spPr>
      </p:sp>
      <p:sp>
        <p:nvSpPr>
          <p:cNvPr id="18" name="Text 15"/>
          <p:cNvSpPr txBox="1"/>
          <p:nvPr/>
        </p:nvSpPr>
        <p:spPr>
          <a:xfrm>
            <a:off x="4800600" y="2697480"/>
            <a:ext cx="10972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저장</a:t>
            </a:r>
            <a:endParaRPr lang="en-US" sz="1100" dirty="0"/>
          </a:p>
        </p:txBody>
      </p:sp>
      <p:sp>
        <p:nvSpPr>
          <p:cNvPr id="19" name="Text 16"/>
          <p:cNvSpPr txBox="1"/>
          <p:nvPr/>
        </p:nvSpPr>
        <p:spPr>
          <a:xfrm>
            <a:off x="822960" y="3291840"/>
            <a:ext cx="4815688" cy="210312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매뉴얼 · 기존 시험 항목을 찾아 초안을 짜고, 장비를 골라 바로 돌려 본다</a:t>
            </a:r>
            <a:endParaRPr lang="en-US" sz="1150" dirty="0"/>
          </a:p>
          <a:p>
            <a:pPr marL="342900" indent="-342900">
              <a:spcAft>
                <a:spcPts val="7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응답을 보고 고친 뒤 쓸 만하면 시험으로 저장 — 저장한 뒤에야 플랜에 들어간다</a:t>
            </a:r>
            <a:endParaRPr lang="en-US" sz="1150" dirty="0"/>
          </a:p>
          <a:p>
            <a:pPr marL="342900" indent="-342900">
              <a:spcAft>
                <a:spcPts val="7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워드 · PDF · 엑셀 구현 내용을 올리면 마크다운으로 읽어 시험 초안의 근거로 쓴다</a:t>
            </a:r>
            <a:endParaRPr lang="en-US" sz="1150" dirty="0"/>
          </a:p>
          <a:p>
            <a:pPr marL="342900" indent="-342900">
              <a:spcAft>
                <a:spcPts val="7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자연어 명령 실행에는 명령 차단 필터가 있다</a:t>
            </a:r>
            <a:endParaRPr lang="en-US" sz="1150" dirty="0"/>
          </a:p>
        </p:txBody>
      </p:sp>
      <p:sp>
        <p:nvSpPr>
          <p:cNvPr id="20" name="Shape 17"/>
          <p:cNvSpPr/>
          <p:nvPr/>
        </p:nvSpPr>
        <p:spPr>
          <a:xfrm>
            <a:off x="6278728" y="1691640"/>
            <a:ext cx="5364328" cy="3520440"/>
          </a:xfrm>
          <a:prstGeom prst="roundRect">
            <a:avLst>
              <a:gd name="adj" fmla="val 3117"/>
            </a:avLst>
          </a:prstGeom>
          <a:solidFill>
            <a:srgbClr val="EEF3F9"/>
          </a:solidFill>
          <a:ln w="12700">
            <a:solidFill>
              <a:srgbClr val="EEF3F9"/>
            </a:solidFill>
            <a:prstDash val="solid"/>
          </a:ln>
        </p:spPr>
      </p:sp>
      <p:sp>
        <p:nvSpPr>
          <p:cNvPr id="21" name="Shape 18"/>
          <p:cNvSpPr/>
          <p:nvPr/>
        </p:nvSpPr>
        <p:spPr>
          <a:xfrm>
            <a:off x="6553048" y="1920240"/>
            <a:ext cx="594360" cy="594360"/>
          </a:xfrm>
          <a:prstGeom prst="ellipse">
            <a:avLst/>
          </a:prstGeom>
          <a:solidFill>
            <a:srgbClr val="7A5AF8"/>
          </a:solidFill>
          <a:ln w="12700">
            <a:solidFill>
              <a:srgbClr val="7A5AF8"/>
            </a:solidFill>
            <a:prstDash val="solid"/>
          </a:ln>
        </p:spPr>
      </p:sp>
      <p:pic>
        <p:nvPicPr>
          <p:cNvPr id="22" name="Image 1" descr="preencoded.png">    </p:cNvPr>
          <p:cNvPicPr>
            <a:picLocks noChangeAspect="1"/>
          </p:cNvPicPr>
          <p:nvPr/>
        </p:nvPicPr>
        <p:blipFill>
          <a:blip r:embed="rId2"/>
          <a:stretch>
            <a:fillRect/>
          </a:stretch>
        </p:blipFill>
        <p:spPr>
          <a:xfrm>
            <a:off x="6713525" y="2080717"/>
            <a:ext cx="273406" cy="273406"/>
          </a:xfrm>
          <a:prstGeom prst="rect">
            <a:avLst/>
          </a:prstGeom>
        </p:spPr>
      </p:pic>
      <p:sp>
        <p:nvSpPr>
          <p:cNvPr id="23" name="Text 19"/>
          <p:cNvSpPr txBox="1"/>
          <p:nvPr/>
        </p:nvSpPr>
        <p:spPr>
          <a:xfrm>
            <a:off x="7284568" y="2011680"/>
            <a:ext cx="4084168" cy="411480"/>
          </a:xfrm>
          <a:prstGeom prst="rect">
            <a:avLst/>
          </a:prstGeom>
          <a:noFill/>
          <a:ln/>
        </p:spPr>
        <p:txBody>
          <a:bodyPr wrap="square" lIns="0" tIns="0" rIns="0" bIns="0" rtlCol="0" anchor="t"/>
          <a:lstStyle/>
          <a:p>
            <a:pPr indent="0" marL="0">
              <a:buNone/>
            </a:pPr>
            <a:r>
              <a:rPr lang="en-US" sz="1600" b="1" dirty="0">
                <a:solidFill>
                  <a:srgbClr val="0F1E3C"/>
                </a:solidFill>
                <a:latin typeface="Malgun Gothic" pitchFamily="34" charset="0"/>
                <a:ea typeface="Malgun Gothic" pitchFamily="34" charset="-122"/>
                <a:cs typeface="Malgun Gothic" pitchFamily="34" charset="-120"/>
              </a:rPr>
              <a:t>Knowledge AI — 근거 있는 답</a:t>
            </a:r>
            <a:endParaRPr lang="en-US" sz="1600" dirty="0"/>
          </a:p>
        </p:txBody>
      </p:sp>
      <p:sp>
        <p:nvSpPr>
          <p:cNvPr id="24" name="Shape 20"/>
          <p:cNvSpPr/>
          <p:nvPr/>
        </p:nvSpPr>
        <p:spPr>
          <a:xfrm>
            <a:off x="6553048" y="2697480"/>
            <a:ext cx="1188720" cy="365760"/>
          </a:xfrm>
          <a:prstGeom prst="roundRect">
            <a:avLst>
              <a:gd name="adj" fmla="val 50000"/>
            </a:avLst>
          </a:prstGeom>
          <a:solidFill>
            <a:srgbClr val="FFFFFF"/>
          </a:solidFill>
          <a:ln w="12700">
            <a:solidFill>
              <a:srgbClr val="D5DDE8"/>
            </a:solidFill>
            <a:prstDash val="solid"/>
          </a:ln>
        </p:spPr>
      </p:sp>
      <p:sp>
        <p:nvSpPr>
          <p:cNvPr id="25" name="Text 21"/>
          <p:cNvSpPr txBox="1"/>
          <p:nvPr/>
        </p:nvSpPr>
        <p:spPr>
          <a:xfrm>
            <a:off x="6553048" y="2697480"/>
            <a:ext cx="1188720" cy="365760"/>
          </a:xfrm>
          <a:prstGeom prst="rect">
            <a:avLst/>
          </a:prstGeom>
          <a:noFill/>
          <a:ln/>
        </p:spPr>
        <p:txBody>
          <a:bodyPr wrap="square" lIns="0" tIns="0" rIns="0" bIns="0" rtlCol="0" anchor="ctr"/>
          <a:lstStyle/>
          <a:p>
            <a:pPr algn="ctr" indent="0" marL="0">
              <a:buNone/>
            </a:pPr>
            <a:r>
              <a:rPr lang="en-US" sz="1050" b="1" dirty="0">
                <a:solidFill>
                  <a:srgbClr val="0F1E3C"/>
                </a:solidFill>
                <a:latin typeface="Malgun Gothic" pitchFamily="34" charset="0"/>
                <a:ea typeface="Malgun Gothic" pitchFamily="34" charset="-122"/>
                <a:cs typeface="Malgun Gothic" pitchFamily="34" charset="-120"/>
              </a:rPr>
              <a:t>Wiki</a:t>
            </a:r>
            <a:endParaRPr lang="en-US" sz="1050" dirty="0"/>
          </a:p>
        </p:txBody>
      </p:sp>
      <p:sp>
        <p:nvSpPr>
          <p:cNvPr id="26" name="Shape 22"/>
          <p:cNvSpPr/>
          <p:nvPr/>
        </p:nvSpPr>
        <p:spPr>
          <a:xfrm>
            <a:off x="7878928" y="2697480"/>
            <a:ext cx="1188720" cy="365760"/>
          </a:xfrm>
          <a:prstGeom prst="roundRect">
            <a:avLst>
              <a:gd name="adj" fmla="val 50000"/>
            </a:avLst>
          </a:prstGeom>
          <a:solidFill>
            <a:srgbClr val="FFFFFF"/>
          </a:solidFill>
          <a:ln w="12700">
            <a:solidFill>
              <a:srgbClr val="D5DDE8"/>
            </a:solidFill>
            <a:prstDash val="solid"/>
          </a:ln>
        </p:spPr>
      </p:sp>
      <p:sp>
        <p:nvSpPr>
          <p:cNvPr id="27" name="Text 23"/>
          <p:cNvSpPr txBox="1"/>
          <p:nvPr/>
        </p:nvSpPr>
        <p:spPr>
          <a:xfrm>
            <a:off x="7878928" y="2697480"/>
            <a:ext cx="1188720" cy="365760"/>
          </a:xfrm>
          <a:prstGeom prst="rect">
            <a:avLst/>
          </a:prstGeom>
          <a:noFill/>
          <a:ln/>
        </p:spPr>
        <p:txBody>
          <a:bodyPr wrap="square" lIns="0" tIns="0" rIns="0" bIns="0" rtlCol="0" anchor="ctr"/>
          <a:lstStyle/>
          <a:p>
            <a:pPr algn="ctr" indent="0" marL="0">
              <a:buNone/>
            </a:pPr>
            <a:r>
              <a:rPr lang="en-US" sz="1050" b="1" dirty="0">
                <a:solidFill>
                  <a:srgbClr val="0F1E3C"/>
                </a:solidFill>
                <a:latin typeface="Malgun Gothic" pitchFamily="34" charset="0"/>
                <a:ea typeface="Malgun Gothic" pitchFamily="34" charset="-122"/>
                <a:cs typeface="Malgun Gothic" pitchFamily="34" charset="-120"/>
              </a:rPr>
              <a:t>요구사항 · 시험</a:t>
            </a:r>
            <a:endParaRPr lang="en-US" sz="1050" dirty="0"/>
          </a:p>
        </p:txBody>
      </p:sp>
      <p:sp>
        <p:nvSpPr>
          <p:cNvPr id="28" name="Shape 24"/>
          <p:cNvSpPr/>
          <p:nvPr/>
        </p:nvSpPr>
        <p:spPr>
          <a:xfrm>
            <a:off x="9204808" y="2697480"/>
            <a:ext cx="1188720" cy="365760"/>
          </a:xfrm>
          <a:prstGeom prst="roundRect">
            <a:avLst>
              <a:gd name="adj" fmla="val 50000"/>
            </a:avLst>
          </a:prstGeom>
          <a:solidFill>
            <a:srgbClr val="FFFFFF"/>
          </a:solidFill>
          <a:ln w="12700">
            <a:solidFill>
              <a:srgbClr val="D5DDE8"/>
            </a:solidFill>
            <a:prstDash val="solid"/>
          </a:ln>
        </p:spPr>
      </p:sp>
      <p:sp>
        <p:nvSpPr>
          <p:cNvPr id="29" name="Text 25"/>
          <p:cNvSpPr txBox="1"/>
          <p:nvPr/>
        </p:nvSpPr>
        <p:spPr>
          <a:xfrm>
            <a:off x="9204808" y="2697480"/>
            <a:ext cx="1188720" cy="365760"/>
          </a:xfrm>
          <a:prstGeom prst="rect">
            <a:avLst/>
          </a:prstGeom>
          <a:noFill/>
          <a:ln/>
        </p:spPr>
        <p:txBody>
          <a:bodyPr wrap="square" lIns="0" tIns="0" rIns="0" bIns="0" rtlCol="0" anchor="ctr"/>
          <a:lstStyle/>
          <a:p>
            <a:pPr algn="ctr" indent="0" marL="0">
              <a:buNone/>
            </a:pPr>
            <a:r>
              <a:rPr lang="en-US" sz="1050" b="1" dirty="0">
                <a:solidFill>
                  <a:srgbClr val="0F1E3C"/>
                </a:solidFill>
                <a:latin typeface="Malgun Gothic" pitchFamily="34" charset="0"/>
                <a:ea typeface="Malgun Gothic" pitchFamily="34" charset="-122"/>
                <a:cs typeface="Malgun Gothic" pitchFamily="34" charset="-120"/>
              </a:rPr>
              <a:t>실행 결과</a:t>
            </a:r>
            <a:endParaRPr lang="en-US" sz="1050" dirty="0"/>
          </a:p>
        </p:txBody>
      </p:sp>
      <p:sp>
        <p:nvSpPr>
          <p:cNvPr id="30" name="Shape 26"/>
          <p:cNvSpPr/>
          <p:nvPr/>
        </p:nvSpPr>
        <p:spPr>
          <a:xfrm>
            <a:off x="10530688" y="2697480"/>
            <a:ext cx="1188720" cy="365760"/>
          </a:xfrm>
          <a:prstGeom prst="roundRect">
            <a:avLst>
              <a:gd name="adj" fmla="val 50000"/>
            </a:avLst>
          </a:prstGeom>
          <a:solidFill>
            <a:srgbClr val="FFFFFF"/>
          </a:solidFill>
          <a:ln w="12700">
            <a:solidFill>
              <a:srgbClr val="D5DDE8"/>
            </a:solidFill>
            <a:prstDash val="solid"/>
          </a:ln>
        </p:spPr>
      </p:sp>
      <p:sp>
        <p:nvSpPr>
          <p:cNvPr id="31" name="Text 27"/>
          <p:cNvSpPr txBox="1"/>
          <p:nvPr/>
        </p:nvSpPr>
        <p:spPr>
          <a:xfrm>
            <a:off x="10530688" y="2697480"/>
            <a:ext cx="1188720" cy="365760"/>
          </a:xfrm>
          <a:prstGeom prst="rect">
            <a:avLst/>
          </a:prstGeom>
          <a:noFill/>
          <a:ln/>
        </p:spPr>
        <p:txBody>
          <a:bodyPr wrap="square" lIns="0" tIns="0" rIns="0" bIns="0" rtlCol="0" anchor="ctr"/>
          <a:lstStyle/>
          <a:p>
            <a:pPr algn="ctr" indent="0" marL="0">
              <a:buNone/>
            </a:pPr>
            <a:r>
              <a:rPr lang="en-US" sz="1050" b="1" dirty="0">
                <a:solidFill>
                  <a:srgbClr val="0F1E3C"/>
                </a:solidFill>
                <a:latin typeface="Malgun Gothic" pitchFamily="34" charset="0"/>
                <a:ea typeface="Malgun Gothic" pitchFamily="34" charset="-122"/>
                <a:cs typeface="Malgun Gothic" pitchFamily="34" charset="-120"/>
              </a:rPr>
              <a:t>Jira 캐시</a:t>
            </a:r>
            <a:endParaRPr lang="en-US" sz="1050" dirty="0"/>
          </a:p>
        </p:txBody>
      </p:sp>
      <p:sp>
        <p:nvSpPr>
          <p:cNvPr id="32" name="Text 28"/>
          <p:cNvSpPr txBox="1"/>
          <p:nvPr/>
        </p:nvSpPr>
        <p:spPr>
          <a:xfrm>
            <a:off x="6553048" y="3291840"/>
            <a:ext cx="4815688" cy="210312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자료는 전부 우리 저장소 — 묻는다고 Jira 에 실시간으로 가지 않는다</a:t>
            </a:r>
            <a:endParaRPr lang="en-US" sz="1150" dirty="0"/>
          </a:p>
          <a:p>
            <a:pPr marL="342900" indent="-342900">
              <a:spcAft>
                <a:spcPts val="7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답 속 [n] 을 누르면 근거 문서가 옆에 열린다. 어디서 나온 답인지 늘 안다</a:t>
            </a:r>
            <a:endParaRPr lang="en-US" sz="1150" dirty="0"/>
          </a:p>
          <a:p>
            <a:pPr marL="342900" indent="-342900">
              <a:spcAft>
                <a:spcPts val="7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검색 범위는 하나만 고른다 — 셋을 켜 두고 물으면 출처를 알 수 없었다</a:t>
            </a:r>
            <a:endParaRPr lang="en-US" sz="1150" dirty="0"/>
          </a:p>
          <a:p>
            <a:pPr marL="342900" indent="-342900">
              <a:spcAft>
                <a:spcPts val="7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대화는 계정별로 남아 다음 접속에 이어지고, 도움이 됐는지 표시를 모은다</a:t>
            </a:r>
            <a:endParaRPr lang="en-US" sz="1150" dirty="0"/>
          </a:p>
        </p:txBody>
      </p:sp>
      <p:sp>
        <p:nvSpPr>
          <p:cNvPr id="33" name="Shape 29"/>
          <p:cNvSpPr/>
          <p:nvPr/>
        </p:nvSpPr>
        <p:spPr>
          <a:xfrm>
            <a:off x="548640" y="5440680"/>
            <a:ext cx="11094415" cy="640080"/>
          </a:xfrm>
          <a:prstGeom prst="roundRect">
            <a:avLst>
              <a:gd name="adj" fmla="val 17143"/>
            </a:avLst>
          </a:prstGeom>
          <a:solidFill>
            <a:srgbClr val="0F1E3C"/>
          </a:solidFill>
          <a:ln w="12700">
            <a:solidFill>
              <a:srgbClr val="0F1E3C"/>
            </a:solidFill>
            <a:prstDash val="solid"/>
          </a:ln>
        </p:spPr>
      </p:sp>
      <p:sp>
        <p:nvSpPr>
          <p:cNvPr id="34" name="Text 30"/>
          <p:cNvSpPr txBox="1"/>
          <p:nvPr/>
        </p:nvSpPr>
        <p:spPr>
          <a:xfrm>
            <a:off x="822960" y="5440680"/>
            <a:ext cx="10545775" cy="640080"/>
          </a:xfrm>
          <a:prstGeom prst="rect">
            <a:avLst/>
          </a:prstGeom>
          <a:noFill/>
          <a:ln/>
        </p:spPr>
        <p:txBody>
          <a:bodyPr wrap="square" lIns="0" tIns="0" rIns="0" bIns="0" rtlCol="0" anchor="ctr"/>
          <a:lstStyle/>
          <a:p>
            <a:pPr indent="0" marL="0">
              <a:buNone/>
            </a:pPr>
            <a:r>
              <a:rPr lang="en-US" sz="1150" dirty="0">
                <a:solidFill>
                  <a:srgbClr val="FFFFFF"/>
                </a:solidFill>
                <a:latin typeface="Malgun Gothic" pitchFamily="34" charset="0"/>
                <a:ea typeface="Malgun Gothic" pitchFamily="34" charset="-122"/>
                <a:cs typeface="Malgun Gothic" pitchFamily="34" charset="-120"/>
              </a:rPr>
              <a:t>LLM 은 골라 쓴다 —  Claude API  ·  로컬 LLM  ·  Dify 어시스턴트.   설정 화면에서 여러 모델을 등록하고 순서를 정한다. API 키는 저장소에 두지 않는다.</a:t>
            </a:r>
            <a:endParaRPr lang="en-US" sz="1150" dirty="0"/>
          </a:p>
        </p:txBody>
      </p:sp>
      <p:sp>
        <p:nvSpPr>
          <p:cNvPr id="35" name="Text 31"/>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A0ABBC"/>
                </a:solidFill>
                <a:latin typeface="Malgun Gothic" pitchFamily="34" charset="0"/>
                <a:ea typeface="Malgun Gothic" pitchFamily="34" charset="-122"/>
                <a:cs typeface="Malgun Gothic" pitchFamily="34" charset="-120"/>
              </a:rPr>
              <a:t>UTOP  ·  Ubiquoss Test Orchestration Platform</a:t>
            </a:r>
            <a:endParaRPr lang="en-US" sz="900" dirty="0"/>
          </a:p>
        </p:txBody>
      </p:sp>
      <p:sp>
        <p:nvSpPr>
          <p:cNvPr id="36" name="Text 3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A0ABBC"/>
                </a:solidFill>
                <a:latin typeface="Malgun Gothic" pitchFamily="34" charset="0"/>
                <a:ea typeface="Malgun Gothic" pitchFamily="34" charset="-122"/>
                <a:cs typeface="Malgun Gothic"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t"/>
          <a:lstStyle/>
          <a:p>
            <a:pPr indent="0" marL="0">
              <a:buNone/>
            </a:pPr>
            <a:r>
              <a:rPr lang="en-US" sz="3000" b="1" dirty="0">
                <a:solidFill>
                  <a:srgbClr val="0F1E3C"/>
                </a:solidFill>
                <a:latin typeface="Malgun Gothic" pitchFamily="34" charset="0"/>
                <a:ea typeface="Malgun Gothic" pitchFamily="34" charset="-122"/>
                <a:cs typeface="Malgun Gothic" pitchFamily="34" charset="-120"/>
              </a:rPr>
              <a:t>운영 · 보안 · 데이터</a:t>
            </a:r>
            <a:endParaRPr lang="en-US" sz="3000" dirty="0"/>
          </a:p>
        </p:txBody>
      </p:sp>
      <p:sp>
        <p:nvSpPr>
          <p:cNvPr id="3" name="Text 1"/>
          <p:cNvSpPr txBox="1"/>
          <p:nvPr/>
        </p:nvSpPr>
        <p:spPr>
          <a:xfrm>
            <a:off x="548640" y="1024128"/>
            <a:ext cx="11094415" cy="365760"/>
          </a:xfrm>
          <a:prstGeom prst="rect">
            <a:avLst/>
          </a:prstGeom>
          <a:noFill/>
          <a:ln/>
        </p:spPr>
        <p:txBody>
          <a:bodyPr wrap="square" lIns="0" tIns="0" rIns="0" bIns="0" rtlCol="0" anchor="t"/>
          <a:lstStyle/>
          <a:p>
            <a:pPr indent="0" marL="0">
              <a:buNone/>
            </a:pPr>
            <a:r>
              <a:rPr lang="en-US" sz="1400" dirty="0">
                <a:solidFill>
                  <a:srgbClr val="6B7A90"/>
                </a:solidFill>
                <a:latin typeface="Malgun Gothic" pitchFamily="34" charset="0"/>
                <a:ea typeface="Malgun Gothic" pitchFamily="34" charset="-122"/>
                <a:cs typeface="Malgun Gothic" pitchFamily="34" charset="-120"/>
              </a:rPr>
              <a:t>설치는 한 줄, 데이터는 소스와 분리, 계정과 권한은 화면 단위</a:t>
            </a:r>
            <a:endParaRPr lang="en-US" sz="1400" dirty="0"/>
          </a:p>
        </p:txBody>
      </p:sp>
      <p:sp>
        <p:nvSpPr>
          <p:cNvPr id="4" name="Shape 2"/>
          <p:cNvSpPr/>
          <p:nvPr/>
        </p:nvSpPr>
        <p:spPr>
          <a:xfrm>
            <a:off x="548640" y="1691640"/>
            <a:ext cx="548640" cy="548640"/>
          </a:xfrm>
          <a:prstGeom prst="ellipse">
            <a:avLst/>
          </a:prstGeom>
          <a:solidFill>
            <a:srgbClr val="12A594"/>
          </a:solidFill>
          <a:ln w="12700">
            <a:solidFill>
              <a:srgbClr val="12A594"/>
            </a:solidFill>
            <a:prstDash val="solid"/>
          </a:ln>
        </p:spPr>
      </p:sp>
      <p:pic>
        <p:nvPicPr>
          <p:cNvPr id="5" name="Image 0" descr="preencoded.png">    </p:cNvPr>
          <p:cNvPicPr>
            <a:picLocks noChangeAspect="1"/>
          </p:cNvPicPr>
          <p:nvPr/>
        </p:nvPicPr>
        <p:blipFill>
          <a:blip r:embed="rId1"/>
          <a:stretch>
            <a:fillRect/>
          </a:stretch>
        </p:blipFill>
        <p:spPr>
          <a:xfrm>
            <a:off x="696773" y="1839773"/>
            <a:ext cx="252374" cy="252374"/>
          </a:xfrm>
          <a:prstGeom prst="rect">
            <a:avLst/>
          </a:prstGeom>
        </p:spPr>
      </p:pic>
      <p:sp>
        <p:nvSpPr>
          <p:cNvPr id="6" name="Text 3"/>
          <p:cNvSpPr txBox="1"/>
          <p:nvPr/>
        </p:nvSpPr>
        <p:spPr>
          <a:xfrm>
            <a:off x="1325880" y="1673352"/>
            <a:ext cx="2377440" cy="548640"/>
          </a:xfrm>
          <a:prstGeom prst="rect">
            <a:avLst/>
          </a:prstGeom>
          <a:noFill/>
          <a:ln/>
        </p:spPr>
        <p:txBody>
          <a:bodyPr wrap="square" lIns="0" tIns="0" rIns="0" bIns="0" rtlCol="0" anchor="ctr"/>
          <a:lstStyle/>
          <a:p>
            <a:pPr indent="0" marL="0">
              <a:buNone/>
            </a:pPr>
            <a:r>
              <a:rPr lang="en-US" sz="1400" b="1" dirty="0">
                <a:solidFill>
                  <a:srgbClr val="0F1E3C"/>
                </a:solidFill>
                <a:latin typeface="Malgun Gothic" pitchFamily="34" charset="0"/>
                <a:ea typeface="Malgun Gothic" pitchFamily="34" charset="-122"/>
                <a:cs typeface="Malgun Gothic" pitchFamily="34" charset="-120"/>
              </a:rPr>
              <a:t>설치 · 업데이트</a:t>
            </a:r>
            <a:endParaRPr lang="en-US" sz="1400" dirty="0"/>
          </a:p>
        </p:txBody>
      </p:sp>
      <p:sp>
        <p:nvSpPr>
          <p:cNvPr id="7" name="Text 4"/>
          <p:cNvSpPr txBox="1"/>
          <p:nvPr/>
        </p:nvSpPr>
        <p:spPr>
          <a:xfrm>
            <a:off x="3749040" y="1645920"/>
            <a:ext cx="7894015" cy="777240"/>
          </a:xfrm>
          <a:prstGeom prst="rect">
            <a:avLst/>
          </a:prstGeom>
          <a:noFill/>
          <a:ln/>
        </p:spPr>
        <p:txBody>
          <a:bodyPr wrap="square" lIns="0" tIns="0" rIns="0" bIns="0" rtlCol="0" anchor="ctr"/>
          <a:lstStyle/>
          <a:p>
            <a:pPr indent="0" marL="0">
              <a:lnSpc>
                <a:spcPct val="120000"/>
              </a:lnSpc>
              <a:buNone/>
            </a:pPr>
            <a:r>
              <a:rPr lang="en-US" sz="1100" dirty="0">
                <a:solidFill>
                  <a:srgbClr val="1A2333"/>
                </a:solidFill>
                <a:latin typeface="Malgun Gothic" pitchFamily="34" charset="0"/>
                <a:ea typeface="Malgun Gothic" pitchFamily="34" charset="-122"/>
                <a:cs typeface="Malgun Gothic" pitchFamily="34" charset="-120"/>
              </a:rPr>
              <a:t>Windows 는 start.ps1, 리눅스 · macOS 는 start.sh 한 번. 최신 소스 → .env 생성 → 이미지 빌드 → 기동 → 브라우저. 같은 스크립트를 다시 돌리면 업데이트다. 데이터는 볼륨에 있어 지워지지 않는다.</a:t>
            </a:r>
            <a:endParaRPr lang="en-US" sz="1100" dirty="0"/>
          </a:p>
        </p:txBody>
      </p:sp>
      <p:sp>
        <p:nvSpPr>
          <p:cNvPr id="8" name="Shape 5"/>
          <p:cNvSpPr/>
          <p:nvPr/>
        </p:nvSpPr>
        <p:spPr>
          <a:xfrm>
            <a:off x="548640" y="2450592"/>
            <a:ext cx="11094415" cy="0"/>
          </a:xfrm>
          <a:prstGeom prst="line">
            <a:avLst/>
          </a:prstGeom>
          <a:noFill/>
          <a:ln w="9525">
            <a:solidFill>
              <a:srgbClr val="D5DDE8"/>
            </a:solidFill>
            <a:prstDash val="solid"/>
          </a:ln>
        </p:spPr>
      </p:sp>
      <p:sp>
        <p:nvSpPr>
          <p:cNvPr id="9" name="Shape 6"/>
          <p:cNvSpPr/>
          <p:nvPr/>
        </p:nvSpPr>
        <p:spPr>
          <a:xfrm>
            <a:off x="548640" y="2587752"/>
            <a:ext cx="548640" cy="548640"/>
          </a:xfrm>
          <a:prstGeom prst="ellipse">
            <a:avLst/>
          </a:prstGeom>
          <a:solidFill>
            <a:srgbClr val="1B2F5C"/>
          </a:solidFill>
          <a:ln w="12700">
            <a:solidFill>
              <a:srgbClr val="1B2F5C"/>
            </a:solidFill>
            <a:prstDash val="solid"/>
          </a:ln>
        </p:spPr>
      </p:sp>
      <p:pic>
        <p:nvPicPr>
          <p:cNvPr id="10" name="Image 1" descr="preencoded.png">    </p:cNvPr>
          <p:cNvPicPr>
            <a:picLocks noChangeAspect="1"/>
          </p:cNvPicPr>
          <p:nvPr/>
        </p:nvPicPr>
        <p:blipFill>
          <a:blip r:embed="rId2"/>
          <a:stretch>
            <a:fillRect/>
          </a:stretch>
        </p:blipFill>
        <p:spPr>
          <a:xfrm>
            <a:off x="696773" y="2735885"/>
            <a:ext cx="252374" cy="252374"/>
          </a:xfrm>
          <a:prstGeom prst="rect">
            <a:avLst/>
          </a:prstGeom>
        </p:spPr>
      </p:pic>
      <p:sp>
        <p:nvSpPr>
          <p:cNvPr id="11" name="Text 7"/>
          <p:cNvSpPr txBox="1"/>
          <p:nvPr/>
        </p:nvSpPr>
        <p:spPr>
          <a:xfrm>
            <a:off x="1325880" y="2569464"/>
            <a:ext cx="2377440" cy="548640"/>
          </a:xfrm>
          <a:prstGeom prst="rect">
            <a:avLst/>
          </a:prstGeom>
          <a:noFill/>
          <a:ln/>
        </p:spPr>
        <p:txBody>
          <a:bodyPr wrap="square" lIns="0" tIns="0" rIns="0" bIns="0" rtlCol="0" anchor="ctr"/>
          <a:lstStyle/>
          <a:p>
            <a:pPr indent="0" marL="0">
              <a:buNone/>
            </a:pPr>
            <a:r>
              <a:rPr lang="en-US" sz="1400" b="1" dirty="0">
                <a:solidFill>
                  <a:srgbClr val="0F1E3C"/>
                </a:solidFill>
                <a:latin typeface="Malgun Gothic" pitchFamily="34" charset="0"/>
                <a:ea typeface="Malgun Gothic" pitchFamily="34" charset="-122"/>
                <a:cs typeface="Malgun Gothic" pitchFamily="34" charset="-120"/>
              </a:rPr>
              <a:t>데이터 · 백업</a:t>
            </a:r>
            <a:endParaRPr lang="en-US" sz="1400" dirty="0"/>
          </a:p>
        </p:txBody>
      </p:sp>
      <p:sp>
        <p:nvSpPr>
          <p:cNvPr id="12" name="Text 8"/>
          <p:cNvSpPr txBox="1"/>
          <p:nvPr/>
        </p:nvSpPr>
        <p:spPr>
          <a:xfrm>
            <a:off x="3749040" y="2542032"/>
            <a:ext cx="7894015" cy="777240"/>
          </a:xfrm>
          <a:prstGeom prst="rect">
            <a:avLst/>
          </a:prstGeom>
          <a:noFill/>
          <a:ln/>
        </p:spPr>
        <p:txBody>
          <a:bodyPr wrap="square" lIns="0" tIns="0" rIns="0" bIns="0" rtlCol="0" anchor="ctr"/>
          <a:lstStyle/>
          <a:p>
            <a:pPr indent="0" marL="0">
              <a:lnSpc>
                <a:spcPct val="120000"/>
              </a:lnSpc>
              <a:buNone/>
            </a:pPr>
            <a:r>
              <a:rPr lang="en-US" sz="1100" dirty="0">
                <a:solidFill>
                  <a:srgbClr val="1A2333"/>
                </a:solidFill>
                <a:latin typeface="Malgun Gothic" pitchFamily="34" charset="0"/>
                <a:ea typeface="Malgun Gothic" pitchFamily="34" charset="-122"/>
                <a:cs typeface="Malgun Gothic" pitchFamily="34" charset="-120"/>
              </a:rPr>
              <a:t>운영 데이터는 db-data · app-data 볼륨 두 개에만 있다. 저장소를 clone 해도 남의 시험 데이터나 장비 비밀번호가 따라오지 않고, 백업은 볼륨 두 개만 챙긴다.</a:t>
            </a:r>
            <a:endParaRPr lang="en-US" sz="1100" dirty="0"/>
          </a:p>
        </p:txBody>
      </p:sp>
      <p:sp>
        <p:nvSpPr>
          <p:cNvPr id="13" name="Shape 9"/>
          <p:cNvSpPr/>
          <p:nvPr/>
        </p:nvSpPr>
        <p:spPr>
          <a:xfrm>
            <a:off x="548640" y="3346704"/>
            <a:ext cx="11094415" cy="0"/>
          </a:xfrm>
          <a:prstGeom prst="line">
            <a:avLst/>
          </a:prstGeom>
          <a:noFill/>
          <a:ln w="9525">
            <a:solidFill>
              <a:srgbClr val="D5DDE8"/>
            </a:solidFill>
            <a:prstDash val="solid"/>
          </a:ln>
        </p:spPr>
      </p:sp>
      <p:sp>
        <p:nvSpPr>
          <p:cNvPr id="14" name="Shape 10"/>
          <p:cNvSpPr/>
          <p:nvPr/>
        </p:nvSpPr>
        <p:spPr>
          <a:xfrm>
            <a:off x="548640" y="3483864"/>
            <a:ext cx="548640" cy="548640"/>
          </a:xfrm>
          <a:prstGeom prst="ellipse">
            <a:avLst/>
          </a:prstGeom>
          <a:solidFill>
            <a:srgbClr val="F2A23A"/>
          </a:solidFill>
          <a:ln w="12700">
            <a:solidFill>
              <a:srgbClr val="F2A23A"/>
            </a:solidFill>
            <a:prstDash val="solid"/>
          </a:ln>
        </p:spPr>
      </p:sp>
      <p:pic>
        <p:nvPicPr>
          <p:cNvPr id="15" name="Image 2" descr="preencoded.png">    </p:cNvPr>
          <p:cNvPicPr>
            <a:picLocks noChangeAspect="1"/>
          </p:cNvPicPr>
          <p:nvPr/>
        </p:nvPicPr>
        <p:blipFill>
          <a:blip r:embed="rId3"/>
          <a:stretch>
            <a:fillRect/>
          </a:stretch>
        </p:blipFill>
        <p:spPr>
          <a:xfrm>
            <a:off x="696773" y="3631997"/>
            <a:ext cx="252374" cy="252374"/>
          </a:xfrm>
          <a:prstGeom prst="rect">
            <a:avLst/>
          </a:prstGeom>
        </p:spPr>
      </p:pic>
      <p:sp>
        <p:nvSpPr>
          <p:cNvPr id="16" name="Text 11"/>
          <p:cNvSpPr txBox="1"/>
          <p:nvPr/>
        </p:nvSpPr>
        <p:spPr>
          <a:xfrm>
            <a:off x="1325880" y="3465576"/>
            <a:ext cx="2377440" cy="548640"/>
          </a:xfrm>
          <a:prstGeom prst="rect">
            <a:avLst/>
          </a:prstGeom>
          <a:noFill/>
          <a:ln/>
        </p:spPr>
        <p:txBody>
          <a:bodyPr wrap="square" lIns="0" tIns="0" rIns="0" bIns="0" rtlCol="0" anchor="ctr"/>
          <a:lstStyle/>
          <a:p>
            <a:pPr indent="0" marL="0">
              <a:buNone/>
            </a:pPr>
            <a:r>
              <a:rPr lang="en-US" sz="1400" b="1" dirty="0">
                <a:solidFill>
                  <a:srgbClr val="0F1E3C"/>
                </a:solidFill>
                <a:latin typeface="Malgun Gothic" pitchFamily="34" charset="0"/>
                <a:ea typeface="Malgun Gothic" pitchFamily="34" charset="-122"/>
                <a:cs typeface="Malgun Gothic" pitchFamily="34" charset="-120"/>
              </a:rPr>
              <a:t>랩 간 자료 이사</a:t>
            </a:r>
            <a:endParaRPr lang="en-US" sz="1400" dirty="0"/>
          </a:p>
        </p:txBody>
      </p:sp>
      <p:sp>
        <p:nvSpPr>
          <p:cNvPr id="17" name="Text 12"/>
          <p:cNvSpPr txBox="1"/>
          <p:nvPr/>
        </p:nvSpPr>
        <p:spPr>
          <a:xfrm>
            <a:off x="3749040" y="3438144"/>
            <a:ext cx="7894015" cy="777240"/>
          </a:xfrm>
          <a:prstGeom prst="rect">
            <a:avLst/>
          </a:prstGeom>
          <a:noFill/>
          <a:ln/>
        </p:spPr>
        <p:txBody>
          <a:bodyPr wrap="square" lIns="0" tIns="0" rIns="0" bIns="0" rtlCol="0" anchor="ctr"/>
          <a:lstStyle/>
          <a:p>
            <a:pPr indent="0" marL="0">
              <a:lnSpc>
                <a:spcPct val="120000"/>
              </a:lnSpc>
              <a:buNone/>
            </a:pPr>
            <a:r>
              <a:rPr lang="en-US" sz="1100" dirty="0">
                <a:solidFill>
                  <a:srgbClr val="1A2333"/>
                </a:solidFill>
                <a:latin typeface="Malgun Gothic" pitchFamily="34" charset="0"/>
                <a:ea typeface="Malgun Gothic" pitchFamily="34" charset="-122"/>
                <a:cs typeface="Malgun Gothic" pitchFamily="34" charset="-120"/>
              </a:rPr>
              <a:t>WIKI · 요구사항 · 시험 · 플랜 · 결함 · 장비 · 카탈로그 · 설정을 묶음으로 골라 JSON 하나로 내보내고, 받는 쪽은 ID 기준 합치기(있으면 덮고 없으면 만들고 지우지 않음). 장비 비밀번호와 LLM · Jira 키는 기본 제외.</a:t>
            </a:r>
            <a:endParaRPr lang="en-US" sz="1100" dirty="0"/>
          </a:p>
        </p:txBody>
      </p:sp>
      <p:sp>
        <p:nvSpPr>
          <p:cNvPr id="18" name="Shape 13"/>
          <p:cNvSpPr/>
          <p:nvPr/>
        </p:nvSpPr>
        <p:spPr>
          <a:xfrm>
            <a:off x="548640" y="4242816"/>
            <a:ext cx="11094415" cy="0"/>
          </a:xfrm>
          <a:prstGeom prst="line">
            <a:avLst/>
          </a:prstGeom>
          <a:noFill/>
          <a:ln w="9525">
            <a:solidFill>
              <a:srgbClr val="D5DDE8"/>
            </a:solidFill>
            <a:prstDash val="solid"/>
          </a:ln>
        </p:spPr>
      </p:sp>
      <p:sp>
        <p:nvSpPr>
          <p:cNvPr id="19" name="Shape 14"/>
          <p:cNvSpPr/>
          <p:nvPr/>
        </p:nvSpPr>
        <p:spPr>
          <a:xfrm>
            <a:off x="548640" y="4379976"/>
            <a:ext cx="548640" cy="548640"/>
          </a:xfrm>
          <a:prstGeom prst="ellipse">
            <a:avLst/>
          </a:prstGeom>
          <a:solidFill>
            <a:srgbClr val="7A5AF8"/>
          </a:solidFill>
          <a:ln w="12700">
            <a:solidFill>
              <a:srgbClr val="7A5AF8"/>
            </a:solidFill>
            <a:prstDash val="solid"/>
          </a:ln>
        </p:spPr>
      </p:sp>
      <p:pic>
        <p:nvPicPr>
          <p:cNvPr id="20" name="Image 3" descr="preencoded.png">    </p:cNvPr>
          <p:cNvPicPr>
            <a:picLocks noChangeAspect="1"/>
          </p:cNvPicPr>
          <p:nvPr/>
        </p:nvPicPr>
        <p:blipFill>
          <a:blip r:embed="rId4"/>
          <a:stretch>
            <a:fillRect/>
          </a:stretch>
        </p:blipFill>
        <p:spPr>
          <a:xfrm>
            <a:off x="696773" y="4528109"/>
            <a:ext cx="252374" cy="252374"/>
          </a:xfrm>
          <a:prstGeom prst="rect">
            <a:avLst/>
          </a:prstGeom>
        </p:spPr>
      </p:pic>
      <p:sp>
        <p:nvSpPr>
          <p:cNvPr id="21" name="Text 15"/>
          <p:cNvSpPr txBox="1"/>
          <p:nvPr/>
        </p:nvSpPr>
        <p:spPr>
          <a:xfrm>
            <a:off x="1325880" y="4361688"/>
            <a:ext cx="2377440" cy="548640"/>
          </a:xfrm>
          <a:prstGeom prst="rect">
            <a:avLst/>
          </a:prstGeom>
          <a:noFill/>
          <a:ln/>
        </p:spPr>
        <p:txBody>
          <a:bodyPr wrap="square" lIns="0" tIns="0" rIns="0" bIns="0" rtlCol="0" anchor="ctr"/>
          <a:lstStyle/>
          <a:p>
            <a:pPr indent="0" marL="0">
              <a:buNone/>
            </a:pPr>
            <a:r>
              <a:rPr lang="en-US" sz="1400" b="1" dirty="0">
                <a:solidFill>
                  <a:srgbClr val="0F1E3C"/>
                </a:solidFill>
                <a:latin typeface="Malgun Gothic" pitchFamily="34" charset="0"/>
                <a:ea typeface="Malgun Gothic" pitchFamily="34" charset="-122"/>
                <a:cs typeface="Malgun Gothic" pitchFamily="34" charset="-120"/>
              </a:rPr>
              <a:t>계정 · 권한 · 이력</a:t>
            </a:r>
            <a:endParaRPr lang="en-US" sz="1400" dirty="0"/>
          </a:p>
        </p:txBody>
      </p:sp>
      <p:sp>
        <p:nvSpPr>
          <p:cNvPr id="22" name="Text 16"/>
          <p:cNvSpPr txBox="1"/>
          <p:nvPr/>
        </p:nvSpPr>
        <p:spPr>
          <a:xfrm>
            <a:off x="3749040" y="4334256"/>
            <a:ext cx="7894015" cy="777240"/>
          </a:xfrm>
          <a:prstGeom prst="rect">
            <a:avLst/>
          </a:prstGeom>
          <a:noFill/>
          <a:ln/>
        </p:spPr>
        <p:txBody>
          <a:bodyPr wrap="square" lIns="0" tIns="0" rIns="0" bIns="0" rtlCol="0" anchor="ctr"/>
          <a:lstStyle/>
          <a:p>
            <a:pPr indent="0" marL="0">
              <a:lnSpc>
                <a:spcPct val="120000"/>
              </a:lnSpc>
              <a:buNone/>
            </a:pPr>
            <a:r>
              <a:rPr lang="en-US" sz="1100" dirty="0">
                <a:solidFill>
                  <a:srgbClr val="1A2333"/>
                </a:solidFill>
                <a:latin typeface="Malgun Gothic" pitchFamily="34" charset="0"/>
                <a:ea typeface="Malgun Gothic" pitchFamily="34" charset="-122"/>
                <a:cs typeface="Malgun Gothic" pitchFamily="34" charset="-120"/>
              </a:rPr>
              <a:t>회원가입 + 관리자 승인(승인 메일), 역할별 화면 · 기능 권한, 조직 옵션. 변경은 감사 로그와 시험 개정 이력에 남는다. 같은 것을 누가 같이 보고 있는지 표시하되 잠그지는 않는다.</a:t>
            </a:r>
            <a:endParaRPr lang="en-US" sz="1100" dirty="0"/>
          </a:p>
        </p:txBody>
      </p:sp>
      <p:sp>
        <p:nvSpPr>
          <p:cNvPr id="23" name="Shape 17"/>
          <p:cNvSpPr/>
          <p:nvPr/>
        </p:nvSpPr>
        <p:spPr>
          <a:xfrm>
            <a:off x="548640" y="5138928"/>
            <a:ext cx="11094415" cy="0"/>
          </a:xfrm>
          <a:prstGeom prst="line">
            <a:avLst/>
          </a:prstGeom>
          <a:noFill/>
          <a:ln w="9525">
            <a:solidFill>
              <a:srgbClr val="D5DDE8"/>
            </a:solidFill>
            <a:prstDash val="solid"/>
          </a:ln>
        </p:spPr>
      </p:sp>
      <p:sp>
        <p:nvSpPr>
          <p:cNvPr id="24" name="Shape 18"/>
          <p:cNvSpPr/>
          <p:nvPr/>
        </p:nvSpPr>
        <p:spPr>
          <a:xfrm>
            <a:off x="548640" y="5276088"/>
            <a:ext cx="548640" cy="548640"/>
          </a:xfrm>
          <a:prstGeom prst="ellipse">
            <a:avLst/>
          </a:prstGeom>
          <a:solidFill>
            <a:srgbClr val="E05252"/>
          </a:solidFill>
          <a:ln w="12700">
            <a:solidFill>
              <a:srgbClr val="E05252"/>
            </a:solidFill>
            <a:prstDash val="solid"/>
          </a:ln>
        </p:spPr>
      </p:sp>
      <p:pic>
        <p:nvPicPr>
          <p:cNvPr id="25" name="Image 4" descr="preencoded.png">    </p:cNvPr>
          <p:cNvPicPr>
            <a:picLocks noChangeAspect="1"/>
          </p:cNvPicPr>
          <p:nvPr/>
        </p:nvPicPr>
        <p:blipFill>
          <a:blip r:embed="rId5"/>
          <a:stretch>
            <a:fillRect/>
          </a:stretch>
        </p:blipFill>
        <p:spPr>
          <a:xfrm>
            <a:off x="696773" y="5424221"/>
            <a:ext cx="252374" cy="252374"/>
          </a:xfrm>
          <a:prstGeom prst="rect">
            <a:avLst/>
          </a:prstGeom>
        </p:spPr>
      </p:pic>
      <p:sp>
        <p:nvSpPr>
          <p:cNvPr id="26" name="Text 19"/>
          <p:cNvSpPr txBox="1"/>
          <p:nvPr/>
        </p:nvSpPr>
        <p:spPr>
          <a:xfrm>
            <a:off x="1325880" y="5257800"/>
            <a:ext cx="2377440" cy="548640"/>
          </a:xfrm>
          <a:prstGeom prst="rect">
            <a:avLst/>
          </a:prstGeom>
          <a:noFill/>
          <a:ln/>
        </p:spPr>
        <p:txBody>
          <a:bodyPr wrap="square" lIns="0" tIns="0" rIns="0" bIns="0" rtlCol="0" anchor="ctr"/>
          <a:lstStyle/>
          <a:p>
            <a:pPr indent="0" marL="0">
              <a:buNone/>
            </a:pPr>
            <a:r>
              <a:rPr lang="en-US" sz="1400" b="1" dirty="0">
                <a:solidFill>
                  <a:srgbClr val="0F1E3C"/>
                </a:solidFill>
                <a:latin typeface="Malgun Gothic" pitchFamily="34" charset="0"/>
                <a:ea typeface="Malgun Gothic" pitchFamily="34" charset="-122"/>
                <a:cs typeface="Malgun Gothic" pitchFamily="34" charset="-120"/>
              </a:rPr>
              <a:t>노출 최소화</a:t>
            </a:r>
            <a:endParaRPr lang="en-US" sz="1400" dirty="0"/>
          </a:p>
        </p:txBody>
      </p:sp>
      <p:sp>
        <p:nvSpPr>
          <p:cNvPr id="27" name="Text 20"/>
          <p:cNvSpPr txBox="1"/>
          <p:nvPr/>
        </p:nvSpPr>
        <p:spPr>
          <a:xfrm>
            <a:off x="3749040" y="5230368"/>
            <a:ext cx="7894015" cy="777240"/>
          </a:xfrm>
          <a:prstGeom prst="rect">
            <a:avLst/>
          </a:prstGeom>
          <a:noFill/>
          <a:ln/>
        </p:spPr>
        <p:txBody>
          <a:bodyPr wrap="square" lIns="0" tIns="0" rIns="0" bIns="0" rtlCol="0" anchor="ctr"/>
          <a:lstStyle/>
          <a:p>
            <a:pPr indent="0" marL="0">
              <a:lnSpc>
                <a:spcPct val="120000"/>
              </a:lnSpc>
              <a:buNone/>
            </a:pPr>
            <a:r>
              <a:rPr lang="en-US" sz="1100" dirty="0">
                <a:solidFill>
                  <a:srgbClr val="1A2333"/>
                </a:solidFill>
                <a:latin typeface="Malgun Gothic" pitchFamily="34" charset="0"/>
                <a:ea typeface="Malgun Gothic" pitchFamily="34" charset="-122"/>
                <a:cs typeface="Malgun Gothic" pitchFamily="34" charset="-120"/>
              </a:rPr>
              <a:t>백엔드 포트는 호스트에 열지 않는다. 사용자는 web 포트 하나로 들어오고 nginx 가 내부망으로 API 에 붙는다. 자격증명 파일은 커밋되지 않는다.</a:t>
            </a:r>
            <a:endParaRPr lang="en-US" sz="1100" dirty="0"/>
          </a:p>
        </p:txBody>
      </p:sp>
      <p:sp>
        <p:nvSpPr>
          <p:cNvPr id="28" name="Text 21"/>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A0ABBC"/>
                </a:solidFill>
                <a:latin typeface="Malgun Gothic" pitchFamily="34" charset="0"/>
                <a:ea typeface="Malgun Gothic" pitchFamily="34" charset="-122"/>
                <a:cs typeface="Malgun Gothic" pitchFamily="34" charset="-120"/>
              </a:rPr>
              <a:t>UTOP  ·  Ubiquoss Test Orchestration Platform</a:t>
            </a:r>
            <a:endParaRPr lang="en-US" sz="900" dirty="0"/>
          </a:p>
        </p:txBody>
      </p:sp>
      <p:sp>
        <p:nvSpPr>
          <p:cNvPr id="29" name="Text 2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A0ABBC"/>
                </a:solidFill>
                <a:latin typeface="Malgun Gothic" pitchFamily="34" charset="0"/>
                <a:ea typeface="Malgun Gothic" pitchFamily="34" charset="-122"/>
                <a:cs typeface="Malgun Gothic"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t"/>
          <a:lstStyle/>
          <a:p>
            <a:pPr indent="0" marL="0">
              <a:buNone/>
            </a:pPr>
            <a:r>
              <a:rPr lang="en-US" sz="3000" b="1" dirty="0">
                <a:solidFill>
                  <a:srgbClr val="0F1E3C"/>
                </a:solidFill>
                <a:latin typeface="Malgun Gothic" pitchFamily="34" charset="0"/>
                <a:ea typeface="Malgun Gothic" pitchFamily="34" charset="-122"/>
                <a:cs typeface="Malgun Gothic" pitchFamily="34" charset="-120"/>
              </a:rPr>
              <a:t>도입 전 · 후</a:t>
            </a:r>
            <a:endParaRPr lang="en-US" sz="3000" dirty="0"/>
          </a:p>
        </p:txBody>
      </p:sp>
      <p:sp>
        <p:nvSpPr>
          <p:cNvPr id="3" name="Text 1"/>
          <p:cNvSpPr txBox="1"/>
          <p:nvPr/>
        </p:nvSpPr>
        <p:spPr>
          <a:xfrm>
            <a:off x="548640" y="1024128"/>
            <a:ext cx="11094415" cy="365760"/>
          </a:xfrm>
          <a:prstGeom prst="rect">
            <a:avLst/>
          </a:prstGeom>
          <a:noFill/>
          <a:ln/>
        </p:spPr>
        <p:txBody>
          <a:bodyPr wrap="square" lIns="0" tIns="0" rIns="0" bIns="0" rtlCol="0" anchor="t"/>
          <a:lstStyle/>
          <a:p>
            <a:pPr indent="0" marL="0">
              <a:buNone/>
            </a:pPr>
            <a:r>
              <a:rPr lang="en-US" sz="1400" dirty="0">
                <a:solidFill>
                  <a:srgbClr val="6B7A90"/>
                </a:solidFill>
                <a:latin typeface="Malgun Gothic" pitchFamily="34" charset="0"/>
                <a:ea typeface="Malgun Gothic" pitchFamily="34" charset="-122"/>
                <a:cs typeface="Malgun Gothic" pitchFamily="34" charset="-120"/>
              </a:rPr>
              <a:t>사람이 하던 옮기기 · 붙들기 · 찾기가 사라진다</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737360"/>
                <a:gridCol w="4678528"/>
                <a:gridCol w="4678528"/>
              </a:tblGrid>
              <a:tr h="384048">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항목</a:t>
                      </a:r>
                      <a:endParaRPr lang="en-US" sz="12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0F1E3C"/>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도입 전</a:t>
                      </a:r>
                      <a:endParaRPr lang="en-US" sz="12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8A94A6"/>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UTOP</a:t>
                      </a:r>
                      <a:endParaRPr lang="en-US" sz="12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12A594"/>
                    </a:solidFill>
                  </a:tcPr>
                </a:tc>
              </a:tr>
              <a:tr h="548640">
                <a:tc>
                  <a:txBody>
                    <a:bodyPr/>
                    <a:lstStyle/>
                    <a:p>
                      <a:pPr indent="0" marL="0">
                        <a:buNone/>
                      </a:pPr>
                      <a:r>
                        <a:rPr lang="en-US" sz="1100" b="1" dirty="0">
                          <a:solidFill>
                            <a:srgbClr val="1A2333"/>
                          </a:solidFill>
                          <a:latin typeface="Malgun Gothic" pitchFamily="34" charset="0"/>
                          <a:ea typeface="Malgun Gothic" pitchFamily="34" charset="-122"/>
                          <a:cs typeface="Malgun Gothic" pitchFamily="34" charset="-120"/>
                        </a:rPr>
                        <a:t>결과서</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시험이 끝난 뒤 고객사 양식에 손으로 옮겨 붙임 — 100 건이면 하루</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사이클에서 바로 고객사 양식 PPTX · PDF, 서식 그대로</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1A2333"/>
                          </a:solidFill>
                          <a:latin typeface="Malgun Gothic" pitchFamily="34" charset="0"/>
                          <a:ea typeface="Malgun Gothic" pitchFamily="34" charset="-122"/>
                          <a:cs typeface="Malgun Gothic" pitchFamily="34" charset="-120"/>
                        </a:rPr>
                        <a:t>실행</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브라우저가 붙들고 있어 탭을 닫으면 멈춤, 진행은 실행자만 앎</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실행 서버가 대기줄을 집어 돌리고 진행은 모두에게 실시간</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1A2333"/>
                          </a:solidFill>
                          <a:latin typeface="Malgun Gothic" pitchFamily="34" charset="0"/>
                          <a:ea typeface="Malgun Gothic" pitchFamily="34" charset="-122"/>
                          <a:cs typeface="Malgun Gothic" pitchFamily="34" charset="-120"/>
                        </a:rPr>
                        <a:t>다기종 · 다버전</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기종 · 버전마다 시험을 복사해 따로 관리</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IF ${model} 분기 · 파라미터로 시험 한 벌</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1A2333"/>
                          </a:solidFill>
                          <a:latin typeface="Malgun Gothic" pitchFamily="34" charset="0"/>
                          <a:ea typeface="Malgun Gothic" pitchFamily="34" charset="-122"/>
                          <a:cs typeface="Malgun Gothic" pitchFamily="34" charset="-120"/>
                        </a:rPr>
                        <a:t>요구사항 추적</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문서 · 요구사항 · 시험 · 결과가 각각의 파일에</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문서 ↔ 요구사항 ↔ 시험 ↔ 실행 ↔ 결함이 링크로 이어짐, 갭이 바로 보임</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1A2333"/>
                          </a:solidFill>
                          <a:latin typeface="Malgun Gothic" pitchFamily="34" charset="0"/>
                          <a:ea typeface="Malgun Gothic" pitchFamily="34" charset="-122"/>
                          <a:cs typeface="Malgun Gothic" pitchFamily="34" charset="-120"/>
                        </a:rPr>
                        <a:t>계측기</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N2X · STC 를 별도 도구로 조작하고 값을 사람이 모음</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같은 스텝 문법으로 트래픽 · 미터 값을 받아 자동 판정</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1A2333"/>
                          </a:solidFill>
                          <a:latin typeface="Malgun Gothic" pitchFamily="34" charset="0"/>
                          <a:ea typeface="Malgun Gothic" pitchFamily="34" charset="-122"/>
                          <a:cs typeface="Malgun Gothic" pitchFamily="34" charset="-120"/>
                        </a:rPr>
                        <a:t>결함</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시험 결과를 보고 Jira 에 다시 입력</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실패한 자리에서 결함 등록 → Jira 이슈, 릴리즈별 검증 현황</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1A2333"/>
                          </a:solidFill>
                          <a:latin typeface="Malgun Gothic" pitchFamily="34" charset="0"/>
                          <a:ea typeface="Malgun Gothic" pitchFamily="34" charset="-122"/>
                          <a:cs typeface="Malgun Gothic" pitchFamily="34" charset="-120"/>
                        </a:rPr>
                        <a:t>설치 · 이전</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Python · DB 를 PC 마다 맞춰 설치, 데이터는 폴더 복사</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Malgun Gothic" pitchFamily="34" charset="0"/>
                          <a:ea typeface="Malgun Gothic" pitchFamily="34" charset="-122"/>
                          <a:cs typeface="Malgun Gothic" pitchFamily="34" charset="-120"/>
                        </a:rPr>
                        <a:t>Docker 한 줄, 데이터는 볼륨, 랩 간 이사는 묶음 내보내기</a:t>
                      </a:r>
                      <a:endParaRPr lang="en-US" sz="1100" dirty="0">
                        <a:latin typeface="Malgun Gothic" charset="0"/>
                        <a:ea typeface="Malgun Gothic" charset="0"/>
                        <a:cs typeface="Malgun Gothic" charset="0"/>
                      </a:endParaRPr>
                    </a:p>
                  </a:txBody>
                  <a:tcPr marL="73152" marR="73152" marT="73152" marB="73152"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A0ABBC"/>
                </a:solidFill>
                <a:latin typeface="Malgun Gothic" pitchFamily="34" charset="0"/>
                <a:ea typeface="Malgun Gothic" pitchFamily="34" charset="-122"/>
                <a:cs typeface="Malgun Gothic" pitchFamily="34" charset="-120"/>
              </a:rPr>
              <a:t>UTOP  ·  Ubiquoss Test Orchestration Platform</a:t>
            </a:r>
            <a:endParaRPr lang="en-US" sz="900" dirty="0"/>
          </a:p>
        </p:txBody>
      </p:sp>
      <p:sp>
        <p:nvSpPr>
          <p:cNvPr id="6" name="Text 3"/>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A0ABBC"/>
                </a:solidFill>
                <a:latin typeface="Malgun Gothic" pitchFamily="34" charset="0"/>
                <a:ea typeface="Malgun Gothic" pitchFamily="34" charset="-122"/>
                <a:cs typeface="Malgun Gothic"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t"/>
          <a:lstStyle/>
          <a:p>
            <a:pPr indent="0" marL="0">
              <a:buNone/>
            </a:pPr>
            <a:r>
              <a:rPr lang="en-US" sz="3000" b="1" dirty="0">
                <a:solidFill>
                  <a:srgbClr val="0F1E3C"/>
                </a:solidFill>
                <a:latin typeface="Malgun Gothic" pitchFamily="34" charset="0"/>
                <a:ea typeface="Malgun Gothic" pitchFamily="34" charset="-122"/>
                <a:cs typeface="Malgun Gothic" pitchFamily="34" charset="-120"/>
              </a:rPr>
              <a:t>도입 절차</a:t>
            </a:r>
            <a:endParaRPr lang="en-US" sz="3000" dirty="0"/>
          </a:p>
        </p:txBody>
      </p:sp>
      <p:sp>
        <p:nvSpPr>
          <p:cNvPr id="3" name="Text 1"/>
          <p:cNvSpPr txBox="1"/>
          <p:nvPr/>
        </p:nvSpPr>
        <p:spPr>
          <a:xfrm>
            <a:off x="548640" y="1024128"/>
            <a:ext cx="11094415" cy="365760"/>
          </a:xfrm>
          <a:prstGeom prst="rect">
            <a:avLst/>
          </a:prstGeom>
          <a:noFill/>
          <a:ln/>
        </p:spPr>
        <p:txBody>
          <a:bodyPr wrap="square" lIns="0" tIns="0" rIns="0" bIns="0" rtlCol="0" anchor="t"/>
          <a:lstStyle/>
          <a:p>
            <a:pPr indent="0" marL="0">
              <a:buNone/>
            </a:pPr>
            <a:r>
              <a:rPr lang="en-US" sz="1400" dirty="0">
                <a:solidFill>
                  <a:srgbClr val="6B7A90"/>
                </a:solidFill>
                <a:latin typeface="Malgun Gothic" pitchFamily="34" charset="0"/>
                <a:ea typeface="Malgun Gothic" pitchFamily="34" charset="-122"/>
                <a:cs typeface="Malgun Gothic" pitchFamily="34" charset="-120"/>
              </a:rPr>
              <a:t>첫 결과서까지 네 단계</a:t>
            </a:r>
            <a:endParaRPr lang="en-US" sz="1400" dirty="0"/>
          </a:p>
        </p:txBody>
      </p:sp>
      <p:sp>
        <p:nvSpPr>
          <p:cNvPr id="4" name="Shape 2"/>
          <p:cNvSpPr/>
          <p:nvPr/>
        </p:nvSpPr>
        <p:spPr>
          <a:xfrm>
            <a:off x="548640" y="1691640"/>
            <a:ext cx="2567864" cy="4206240"/>
          </a:xfrm>
          <a:prstGeom prst="roundRect">
            <a:avLst>
              <a:gd name="adj" fmla="val 4273"/>
            </a:avLst>
          </a:prstGeom>
          <a:solidFill>
            <a:srgbClr val="EEF3F9"/>
          </a:solidFill>
          <a:ln w="12700">
            <a:solidFill>
              <a:srgbClr val="EEF3F9"/>
            </a:solidFill>
            <a:prstDash val="solid"/>
          </a:ln>
        </p:spPr>
      </p:sp>
      <p:sp>
        <p:nvSpPr>
          <p:cNvPr id="5" name="Shape 3"/>
          <p:cNvSpPr/>
          <p:nvPr/>
        </p:nvSpPr>
        <p:spPr>
          <a:xfrm>
            <a:off x="822960" y="1920240"/>
            <a:ext cx="457200" cy="457200"/>
          </a:xfrm>
          <a:prstGeom prst="ellipse">
            <a:avLst/>
          </a:prstGeom>
          <a:solidFill>
            <a:srgbClr val="0F1E3C"/>
          </a:solidFill>
          <a:ln w="12700">
            <a:solidFill>
              <a:srgbClr val="0F1E3C"/>
            </a:solidFill>
            <a:prstDash val="solid"/>
          </a:ln>
        </p:spPr>
      </p:sp>
      <p:sp>
        <p:nvSpPr>
          <p:cNvPr id="6" name="Text 4"/>
          <p:cNvSpPr txBox="1"/>
          <p:nvPr/>
        </p:nvSpPr>
        <p:spPr>
          <a:xfrm>
            <a:off x="822960"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Shape 5"/>
          <p:cNvSpPr/>
          <p:nvPr/>
        </p:nvSpPr>
        <p:spPr>
          <a:xfrm>
            <a:off x="2247824" y="1874520"/>
            <a:ext cx="548640" cy="54864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2395957" y="2022653"/>
            <a:ext cx="252374" cy="252374"/>
          </a:xfrm>
          <a:prstGeom prst="rect">
            <a:avLst/>
          </a:prstGeom>
        </p:spPr>
      </p:pic>
      <p:sp>
        <p:nvSpPr>
          <p:cNvPr id="9" name="Text 6"/>
          <p:cNvSpPr txBox="1"/>
          <p:nvPr/>
        </p:nvSpPr>
        <p:spPr>
          <a:xfrm>
            <a:off x="822960" y="2560320"/>
            <a:ext cx="2019224" cy="411480"/>
          </a:xfrm>
          <a:prstGeom prst="rect">
            <a:avLst/>
          </a:prstGeom>
          <a:noFill/>
          <a:ln/>
        </p:spPr>
        <p:txBody>
          <a:bodyPr wrap="square" lIns="0" tIns="0" rIns="0" bIns="0" rtlCol="0" anchor="t"/>
          <a:lstStyle/>
          <a:p>
            <a:pPr indent="0" marL="0">
              <a:buNone/>
            </a:pPr>
            <a:r>
              <a:rPr lang="en-US" sz="1700" b="1" dirty="0">
                <a:solidFill>
                  <a:srgbClr val="0F1E3C"/>
                </a:solidFill>
                <a:latin typeface="Malgun Gothic" pitchFamily="34" charset="0"/>
                <a:ea typeface="Malgun Gothic" pitchFamily="34" charset="-122"/>
                <a:cs typeface="Malgun Gothic" pitchFamily="34" charset="-120"/>
              </a:rPr>
              <a:t>환경 준비</a:t>
            </a:r>
            <a:endParaRPr lang="en-US" sz="1700" dirty="0"/>
          </a:p>
        </p:txBody>
      </p:sp>
      <p:sp>
        <p:nvSpPr>
          <p:cNvPr id="10" name="Text 7"/>
          <p:cNvSpPr txBox="1"/>
          <p:nvPr/>
        </p:nvSpPr>
        <p:spPr>
          <a:xfrm>
            <a:off x="822960" y="3108960"/>
            <a:ext cx="2019224" cy="26517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Docker 가 있는 서버 1 대 (Windows · 리눅스)</a:t>
            </a:r>
            <a:endParaRPr lang="en-US" sz="1150" dirty="0"/>
          </a:p>
          <a:p>
            <a:pPr marL="342900" indent="-342900">
              <a:spcAft>
                <a:spcPts val="8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start 스크립트로 기동, 접속 확인</a:t>
            </a:r>
            <a:endParaRPr lang="en-US" sz="1150" dirty="0"/>
          </a:p>
          <a:p>
            <a:pPr marL="342900" indent="-342900">
              <a:spcAft>
                <a:spcPts val="8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장비 접속 정보(IP · 계정 · 방식) 등록</a:t>
            </a:r>
            <a:endParaRPr lang="en-US" sz="1150" dirty="0"/>
          </a:p>
          <a:p>
            <a:pPr marL="342900" indent="-342900">
              <a:spcAft>
                <a:spcPts val="8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N2X 는 윈도우 중계, STC 는 서버 주소</a:t>
            </a:r>
            <a:endParaRPr lang="en-US" sz="1150" dirty="0"/>
          </a:p>
        </p:txBody>
      </p:sp>
      <p:sp>
        <p:nvSpPr>
          <p:cNvPr id="11" name="Shape 8"/>
          <p:cNvSpPr/>
          <p:nvPr/>
        </p:nvSpPr>
        <p:spPr>
          <a:xfrm>
            <a:off x="3134792" y="3749040"/>
            <a:ext cx="237744" cy="0"/>
          </a:xfrm>
          <a:prstGeom prst="line">
            <a:avLst/>
          </a:prstGeom>
          <a:noFill/>
          <a:ln w="25400">
            <a:solidFill>
              <a:srgbClr val="6B7A90"/>
            </a:solidFill>
            <a:prstDash val="solid"/>
            <a:tailEnd type="triangle"/>
          </a:ln>
        </p:spPr>
      </p:sp>
      <p:sp>
        <p:nvSpPr>
          <p:cNvPr id="12" name="Shape 9"/>
          <p:cNvSpPr/>
          <p:nvPr/>
        </p:nvSpPr>
        <p:spPr>
          <a:xfrm>
            <a:off x="822960" y="5074920"/>
            <a:ext cx="2019224" cy="0"/>
          </a:xfrm>
          <a:prstGeom prst="line">
            <a:avLst/>
          </a:prstGeom>
          <a:noFill/>
          <a:ln w="9525">
            <a:solidFill>
              <a:srgbClr val="D5DDE8"/>
            </a:solidFill>
            <a:prstDash val="solid"/>
          </a:ln>
        </p:spPr>
      </p:sp>
      <p:sp>
        <p:nvSpPr>
          <p:cNvPr id="13" name="Text 10"/>
          <p:cNvSpPr txBox="1"/>
          <p:nvPr/>
        </p:nvSpPr>
        <p:spPr>
          <a:xfrm>
            <a:off x="822960" y="5166360"/>
            <a:ext cx="2019224" cy="228600"/>
          </a:xfrm>
          <a:prstGeom prst="rect">
            <a:avLst/>
          </a:prstGeom>
          <a:noFill/>
          <a:ln/>
        </p:spPr>
        <p:txBody>
          <a:bodyPr wrap="square" lIns="0" tIns="0" rIns="0" bIns="0" rtlCol="0" anchor="t"/>
          <a:lstStyle/>
          <a:p>
            <a:pPr indent="0" marL="0">
              <a:buNone/>
            </a:pPr>
            <a:r>
              <a:rPr lang="en-US" sz="950" b="1" dirty="0">
                <a:solidFill>
                  <a:srgbClr val="6B7A90"/>
                </a:solidFill>
                <a:latin typeface="Malgun Gothic" pitchFamily="34" charset="0"/>
                <a:ea typeface="Malgun Gothic" pitchFamily="34" charset="-122"/>
                <a:cs typeface="Malgun Gothic" pitchFamily="34" charset="-120"/>
              </a:rPr>
              <a:t>완료 기준</a:t>
            </a:r>
            <a:endParaRPr lang="en-US" sz="950" dirty="0"/>
          </a:p>
        </p:txBody>
      </p:sp>
      <p:pic>
        <p:nvPicPr>
          <p:cNvPr id="14" name="Image 1" descr="preencoded.png">    </p:cNvPr>
          <p:cNvPicPr>
            <a:picLocks noChangeAspect="1"/>
          </p:cNvPicPr>
          <p:nvPr/>
        </p:nvPicPr>
        <p:blipFill>
          <a:blip r:embed="rId2"/>
          <a:stretch>
            <a:fillRect/>
          </a:stretch>
        </p:blipFill>
        <p:spPr>
          <a:xfrm>
            <a:off x="822960" y="5440680"/>
            <a:ext cx="201168" cy="201168"/>
          </a:xfrm>
          <a:prstGeom prst="rect">
            <a:avLst/>
          </a:prstGeom>
        </p:spPr>
      </p:pic>
      <p:sp>
        <p:nvSpPr>
          <p:cNvPr id="15" name="Text 11"/>
          <p:cNvSpPr txBox="1"/>
          <p:nvPr/>
        </p:nvSpPr>
        <p:spPr>
          <a:xfrm>
            <a:off x="1097280" y="5394960"/>
            <a:ext cx="1744904" cy="292608"/>
          </a:xfrm>
          <a:prstGeom prst="rect">
            <a:avLst/>
          </a:prstGeom>
          <a:noFill/>
          <a:ln/>
        </p:spPr>
        <p:txBody>
          <a:bodyPr wrap="square" lIns="0" tIns="0" rIns="0" bIns="0" rtlCol="0" anchor="ctr"/>
          <a:lstStyle/>
          <a:p>
            <a:pPr indent="0" marL="0">
              <a:buNone/>
            </a:pPr>
            <a:r>
              <a:rPr lang="en-US" sz="1100" b="1" dirty="0">
                <a:solidFill>
                  <a:srgbClr val="0F1E3C"/>
                </a:solidFill>
                <a:latin typeface="Malgun Gothic" pitchFamily="34" charset="0"/>
                <a:ea typeface="Malgun Gothic" pitchFamily="34" charset="-122"/>
                <a:cs typeface="Malgun Gothic" pitchFamily="34" charset="-120"/>
              </a:rPr>
              <a:t>장비 접속 확인 완료</a:t>
            </a:r>
            <a:endParaRPr lang="en-US" sz="1100" dirty="0"/>
          </a:p>
        </p:txBody>
      </p:sp>
      <p:sp>
        <p:nvSpPr>
          <p:cNvPr id="16" name="Shape 12"/>
          <p:cNvSpPr/>
          <p:nvPr/>
        </p:nvSpPr>
        <p:spPr>
          <a:xfrm>
            <a:off x="3390824" y="1691640"/>
            <a:ext cx="2567864" cy="4206240"/>
          </a:xfrm>
          <a:prstGeom prst="roundRect">
            <a:avLst>
              <a:gd name="adj" fmla="val 4273"/>
            </a:avLst>
          </a:prstGeom>
          <a:solidFill>
            <a:srgbClr val="EEF3F9"/>
          </a:solidFill>
          <a:ln w="12700">
            <a:solidFill>
              <a:srgbClr val="EEF3F9"/>
            </a:solidFill>
            <a:prstDash val="solid"/>
          </a:ln>
        </p:spPr>
      </p:sp>
      <p:sp>
        <p:nvSpPr>
          <p:cNvPr id="17" name="Shape 13"/>
          <p:cNvSpPr/>
          <p:nvPr/>
        </p:nvSpPr>
        <p:spPr>
          <a:xfrm>
            <a:off x="3665144" y="1920240"/>
            <a:ext cx="457200" cy="457200"/>
          </a:xfrm>
          <a:prstGeom prst="ellipse">
            <a:avLst/>
          </a:prstGeom>
          <a:solidFill>
            <a:srgbClr val="0F1E3C"/>
          </a:solidFill>
          <a:ln w="12700">
            <a:solidFill>
              <a:srgbClr val="0F1E3C"/>
            </a:solidFill>
            <a:prstDash val="solid"/>
          </a:ln>
        </p:spPr>
      </p:sp>
      <p:sp>
        <p:nvSpPr>
          <p:cNvPr id="18" name="Text 14"/>
          <p:cNvSpPr txBox="1"/>
          <p:nvPr/>
        </p:nvSpPr>
        <p:spPr>
          <a:xfrm>
            <a:off x="3665144"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9" name="Shape 15"/>
          <p:cNvSpPr/>
          <p:nvPr/>
        </p:nvSpPr>
        <p:spPr>
          <a:xfrm>
            <a:off x="5090008" y="1874520"/>
            <a:ext cx="548640" cy="548640"/>
          </a:xfrm>
          <a:prstGeom prst="ellipse">
            <a:avLst/>
          </a:prstGeom>
          <a:solidFill>
            <a:srgbClr val="FFFFFF"/>
          </a:solidFill>
          <a:ln w="12700">
            <a:solidFill>
              <a:srgbClr val="FFFFFF"/>
            </a:solidFill>
            <a:prstDash val="solid"/>
          </a:ln>
        </p:spPr>
      </p:sp>
      <p:pic>
        <p:nvPicPr>
          <p:cNvPr id="20" name="Image 2" descr="preencoded.png">    </p:cNvPr>
          <p:cNvPicPr>
            <a:picLocks noChangeAspect="1"/>
          </p:cNvPicPr>
          <p:nvPr/>
        </p:nvPicPr>
        <p:blipFill>
          <a:blip r:embed="rId3"/>
          <a:stretch>
            <a:fillRect/>
          </a:stretch>
        </p:blipFill>
        <p:spPr>
          <a:xfrm>
            <a:off x="5238140" y="2022653"/>
            <a:ext cx="252374" cy="252374"/>
          </a:xfrm>
          <a:prstGeom prst="rect">
            <a:avLst/>
          </a:prstGeom>
        </p:spPr>
      </p:pic>
      <p:sp>
        <p:nvSpPr>
          <p:cNvPr id="21" name="Text 16"/>
          <p:cNvSpPr txBox="1"/>
          <p:nvPr/>
        </p:nvSpPr>
        <p:spPr>
          <a:xfrm>
            <a:off x="3665144" y="2560320"/>
            <a:ext cx="2019224" cy="411480"/>
          </a:xfrm>
          <a:prstGeom prst="rect">
            <a:avLst/>
          </a:prstGeom>
          <a:noFill/>
          <a:ln/>
        </p:spPr>
        <p:txBody>
          <a:bodyPr wrap="square" lIns="0" tIns="0" rIns="0" bIns="0" rtlCol="0" anchor="t"/>
          <a:lstStyle/>
          <a:p>
            <a:pPr indent="0" marL="0">
              <a:buNone/>
            </a:pPr>
            <a:r>
              <a:rPr lang="en-US" sz="1700" b="1" dirty="0">
                <a:solidFill>
                  <a:srgbClr val="0F1E3C"/>
                </a:solidFill>
                <a:latin typeface="Malgun Gothic" pitchFamily="34" charset="0"/>
                <a:ea typeface="Malgun Gothic" pitchFamily="34" charset="-122"/>
                <a:cs typeface="Malgun Gothic" pitchFamily="34" charset="-120"/>
              </a:rPr>
              <a:t>자료 이관</a:t>
            </a:r>
            <a:endParaRPr lang="en-US" sz="1700" dirty="0"/>
          </a:p>
        </p:txBody>
      </p:sp>
      <p:sp>
        <p:nvSpPr>
          <p:cNvPr id="22" name="Text 17"/>
          <p:cNvSpPr txBox="1"/>
          <p:nvPr/>
        </p:nvSpPr>
        <p:spPr>
          <a:xfrm>
            <a:off x="3665144" y="3108960"/>
            <a:ext cx="2019224" cy="26517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기존 요구사항 · 시험 항목 가져오기</a:t>
            </a:r>
            <a:endParaRPr lang="en-US" sz="1150" dirty="0"/>
          </a:p>
          <a:p>
            <a:pPr marL="342900" indent="-342900">
              <a:spcAft>
                <a:spcPts val="8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규격 · 절차 문서를 WIKI 에</a:t>
            </a:r>
            <a:endParaRPr lang="en-US" sz="1150" dirty="0"/>
          </a:p>
          <a:p>
            <a:pPr marL="342900" indent="-342900">
              <a:spcAft>
                <a:spcPts val="8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Jira 프로젝트 연결과 첫 Sync</a:t>
            </a:r>
            <a:endParaRPr lang="en-US" sz="1150" dirty="0"/>
          </a:p>
          <a:p>
            <a:pPr marL="342900" indent="-342900">
              <a:spcAft>
                <a:spcPts val="8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고객사 결과서 양식 등록</a:t>
            </a:r>
            <a:endParaRPr lang="en-US" sz="1150" dirty="0"/>
          </a:p>
        </p:txBody>
      </p:sp>
      <p:sp>
        <p:nvSpPr>
          <p:cNvPr id="23" name="Shape 18"/>
          <p:cNvSpPr/>
          <p:nvPr/>
        </p:nvSpPr>
        <p:spPr>
          <a:xfrm>
            <a:off x="5976976" y="3749040"/>
            <a:ext cx="237744" cy="0"/>
          </a:xfrm>
          <a:prstGeom prst="line">
            <a:avLst/>
          </a:prstGeom>
          <a:noFill/>
          <a:ln w="25400">
            <a:solidFill>
              <a:srgbClr val="6B7A90"/>
            </a:solidFill>
            <a:prstDash val="solid"/>
            <a:tailEnd type="triangle"/>
          </a:ln>
        </p:spPr>
      </p:sp>
      <p:sp>
        <p:nvSpPr>
          <p:cNvPr id="24" name="Shape 19"/>
          <p:cNvSpPr/>
          <p:nvPr/>
        </p:nvSpPr>
        <p:spPr>
          <a:xfrm>
            <a:off x="3665144" y="5074920"/>
            <a:ext cx="2019224" cy="0"/>
          </a:xfrm>
          <a:prstGeom prst="line">
            <a:avLst/>
          </a:prstGeom>
          <a:noFill/>
          <a:ln w="9525">
            <a:solidFill>
              <a:srgbClr val="D5DDE8"/>
            </a:solidFill>
            <a:prstDash val="solid"/>
          </a:ln>
        </p:spPr>
      </p:sp>
      <p:sp>
        <p:nvSpPr>
          <p:cNvPr id="25" name="Text 20"/>
          <p:cNvSpPr txBox="1"/>
          <p:nvPr/>
        </p:nvSpPr>
        <p:spPr>
          <a:xfrm>
            <a:off x="3665144" y="5166360"/>
            <a:ext cx="2019224" cy="228600"/>
          </a:xfrm>
          <a:prstGeom prst="rect">
            <a:avLst/>
          </a:prstGeom>
          <a:noFill/>
          <a:ln/>
        </p:spPr>
        <p:txBody>
          <a:bodyPr wrap="square" lIns="0" tIns="0" rIns="0" bIns="0" rtlCol="0" anchor="t"/>
          <a:lstStyle/>
          <a:p>
            <a:pPr indent="0" marL="0">
              <a:buNone/>
            </a:pPr>
            <a:r>
              <a:rPr lang="en-US" sz="950" b="1" dirty="0">
                <a:solidFill>
                  <a:srgbClr val="6B7A90"/>
                </a:solidFill>
                <a:latin typeface="Malgun Gothic" pitchFamily="34" charset="0"/>
                <a:ea typeface="Malgun Gothic" pitchFamily="34" charset="-122"/>
                <a:cs typeface="Malgun Gothic" pitchFamily="34" charset="-120"/>
              </a:rPr>
              <a:t>완료 기준</a:t>
            </a:r>
            <a:endParaRPr lang="en-US" sz="950" dirty="0"/>
          </a:p>
        </p:txBody>
      </p:sp>
      <p:pic>
        <p:nvPicPr>
          <p:cNvPr id="26" name="Image 3" descr="preencoded.png">    </p:cNvPr>
          <p:cNvPicPr>
            <a:picLocks noChangeAspect="1"/>
          </p:cNvPicPr>
          <p:nvPr/>
        </p:nvPicPr>
        <p:blipFill>
          <a:blip r:embed="rId4"/>
          <a:stretch>
            <a:fillRect/>
          </a:stretch>
        </p:blipFill>
        <p:spPr>
          <a:xfrm>
            <a:off x="3665144" y="5440680"/>
            <a:ext cx="201168" cy="201168"/>
          </a:xfrm>
          <a:prstGeom prst="rect">
            <a:avLst/>
          </a:prstGeom>
        </p:spPr>
      </p:pic>
      <p:sp>
        <p:nvSpPr>
          <p:cNvPr id="27" name="Text 21"/>
          <p:cNvSpPr txBox="1"/>
          <p:nvPr/>
        </p:nvSpPr>
        <p:spPr>
          <a:xfrm>
            <a:off x="3939464" y="5394960"/>
            <a:ext cx="1744904" cy="292608"/>
          </a:xfrm>
          <a:prstGeom prst="rect">
            <a:avLst/>
          </a:prstGeom>
          <a:noFill/>
          <a:ln/>
        </p:spPr>
        <p:txBody>
          <a:bodyPr wrap="square" lIns="0" tIns="0" rIns="0" bIns="0" rtlCol="0" anchor="ctr"/>
          <a:lstStyle/>
          <a:p>
            <a:pPr indent="0" marL="0">
              <a:buNone/>
            </a:pPr>
            <a:r>
              <a:rPr lang="en-US" sz="1100" b="1" dirty="0">
                <a:solidFill>
                  <a:srgbClr val="0F1E3C"/>
                </a:solidFill>
                <a:latin typeface="Malgun Gothic" pitchFamily="34" charset="0"/>
                <a:ea typeface="Malgun Gothic" pitchFamily="34" charset="-122"/>
                <a:cs typeface="Malgun Gothic" pitchFamily="34" charset="-120"/>
              </a:rPr>
              <a:t>커버리지 갭 0 확인</a:t>
            </a:r>
            <a:endParaRPr lang="en-US" sz="1100" dirty="0"/>
          </a:p>
        </p:txBody>
      </p:sp>
      <p:sp>
        <p:nvSpPr>
          <p:cNvPr id="28" name="Shape 22"/>
          <p:cNvSpPr/>
          <p:nvPr/>
        </p:nvSpPr>
        <p:spPr>
          <a:xfrm>
            <a:off x="6233008" y="1691640"/>
            <a:ext cx="2567864" cy="4206240"/>
          </a:xfrm>
          <a:prstGeom prst="roundRect">
            <a:avLst>
              <a:gd name="adj" fmla="val 4273"/>
            </a:avLst>
          </a:prstGeom>
          <a:solidFill>
            <a:srgbClr val="DDF4F0"/>
          </a:solidFill>
          <a:ln w="12700">
            <a:solidFill>
              <a:srgbClr val="DDF4F0"/>
            </a:solidFill>
            <a:prstDash val="solid"/>
          </a:ln>
        </p:spPr>
      </p:sp>
      <p:sp>
        <p:nvSpPr>
          <p:cNvPr id="29" name="Shape 23"/>
          <p:cNvSpPr/>
          <p:nvPr/>
        </p:nvSpPr>
        <p:spPr>
          <a:xfrm>
            <a:off x="6507328" y="1920240"/>
            <a:ext cx="457200" cy="457200"/>
          </a:xfrm>
          <a:prstGeom prst="ellipse">
            <a:avLst/>
          </a:prstGeom>
          <a:solidFill>
            <a:srgbClr val="0F1E3C"/>
          </a:solidFill>
          <a:ln w="12700">
            <a:solidFill>
              <a:srgbClr val="0F1E3C"/>
            </a:solidFill>
            <a:prstDash val="solid"/>
          </a:ln>
        </p:spPr>
      </p:sp>
      <p:sp>
        <p:nvSpPr>
          <p:cNvPr id="30" name="Text 24"/>
          <p:cNvSpPr txBox="1"/>
          <p:nvPr/>
        </p:nvSpPr>
        <p:spPr>
          <a:xfrm>
            <a:off x="6507328"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31" name="Shape 25"/>
          <p:cNvSpPr/>
          <p:nvPr/>
        </p:nvSpPr>
        <p:spPr>
          <a:xfrm>
            <a:off x="7932191" y="1874520"/>
            <a:ext cx="548640" cy="548640"/>
          </a:xfrm>
          <a:prstGeom prst="ellipse">
            <a:avLst/>
          </a:prstGeom>
          <a:solidFill>
            <a:srgbClr val="FFFFFF"/>
          </a:solidFill>
          <a:ln w="12700">
            <a:solidFill>
              <a:srgbClr val="FFFFFF"/>
            </a:solidFill>
            <a:prstDash val="solid"/>
          </a:ln>
        </p:spPr>
      </p:sp>
      <p:pic>
        <p:nvPicPr>
          <p:cNvPr id="32" name="Image 4" descr="preencoded.png">    </p:cNvPr>
          <p:cNvPicPr>
            <a:picLocks noChangeAspect="1"/>
          </p:cNvPicPr>
          <p:nvPr/>
        </p:nvPicPr>
        <p:blipFill>
          <a:blip r:embed="rId5"/>
          <a:stretch>
            <a:fillRect/>
          </a:stretch>
        </p:blipFill>
        <p:spPr>
          <a:xfrm>
            <a:off x="8080324" y="2022653"/>
            <a:ext cx="252374" cy="252374"/>
          </a:xfrm>
          <a:prstGeom prst="rect">
            <a:avLst/>
          </a:prstGeom>
        </p:spPr>
      </p:pic>
      <p:sp>
        <p:nvSpPr>
          <p:cNvPr id="33" name="Text 26"/>
          <p:cNvSpPr txBox="1"/>
          <p:nvPr/>
        </p:nvSpPr>
        <p:spPr>
          <a:xfrm>
            <a:off x="6507328" y="2560320"/>
            <a:ext cx="2019224" cy="411480"/>
          </a:xfrm>
          <a:prstGeom prst="rect">
            <a:avLst/>
          </a:prstGeom>
          <a:noFill/>
          <a:ln/>
        </p:spPr>
        <p:txBody>
          <a:bodyPr wrap="square" lIns="0" tIns="0" rIns="0" bIns="0" rtlCol="0" anchor="t"/>
          <a:lstStyle/>
          <a:p>
            <a:pPr indent="0" marL="0">
              <a:buNone/>
            </a:pPr>
            <a:r>
              <a:rPr lang="en-US" sz="1700" b="1" dirty="0">
                <a:solidFill>
                  <a:srgbClr val="0F1E3C"/>
                </a:solidFill>
                <a:latin typeface="Malgun Gothic" pitchFamily="34" charset="0"/>
                <a:ea typeface="Malgun Gothic" pitchFamily="34" charset="-122"/>
                <a:cs typeface="Malgun Gothic" pitchFamily="34" charset="-120"/>
              </a:rPr>
              <a:t>시범 사이클</a:t>
            </a:r>
            <a:endParaRPr lang="en-US" sz="1700" dirty="0"/>
          </a:p>
        </p:txBody>
      </p:sp>
      <p:sp>
        <p:nvSpPr>
          <p:cNvPr id="34" name="Text 27"/>
          <p:cNvSpPr txBox="1"/>
          <p:nvPr/>
        </p:nvSpPr>
        <p:spPr>
          <a:xfrm>
            <a:off x="6507328" y="3108960"/>
            <a:ext cx="2019224" cy="26517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한 버전을 골라 플랜 구성</a:t>
            </a:r>
            <a:endParaRPr lang="en-US" sz="1150" dirty="0"/>
          </a:p>
          <a:p>
            <a:pPr marL="342900" indent="-342900">
              <a:spcAft>
                <a:spcPts val="8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자동 · 수동 시험을 나눠 실행</a:t>
            </a:r>
            <a:endParaRPr lang="en-US" sz="1150" dirty="0"/>
          </a:p>
          <a:p>
            <a:pPr marL="342900" indent="-342900">
              <a:spcAft>
                <a:spcPts val="8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결과서 · 결과 메일 산출</a:t>
            </a:r>
            <a:endParaRPr lang="en-US" sz="1150" dirty="0"/>
          </a:p>
          <a:p>
            <a:pPr marL="342900" indent="-342900">
              <a:spcAft>
                <a:spcPts val="8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결함 1 건을 Jira 까지 흘려 본다</a:t>
            </a:r>
            <a:endParaRPr lang="en-US" sz="1150" dirty="0"/>
          </a:p>
        </p:txBody>
      </p:sp>
      <p:sp>
        <p:nvSpPr>
          <p:cNvPr id="35" name="Shape 28"/>
          <p:cNvSpPr/>
          <p:nvPr/>
        </p:nvSpPr>
        <p:spPr>
          <a:xfrm>
            <a:off x="8819159" y="3749040"/>
            <a:ext cx="237744" cy="0"/>
          </a:xfrm>
          <a:prstGeom prst="line">
            <a:avLst/>
          </a:prstGeom>
          <a:noFill/>
          <a:ln w="25400">
            <a:solidFill>
              <a:srgbClr val="6B7A90"/>
            </a:solidFill>
            <a:prstDash val="solid"/>
            <a:tailEnd type="triangle"/>
          </a:ln>
        </p:spPr>
      </p:sp>
      <p:sp>
        <p:nvSpPr>
          <p:cNvPr id="36" name="Shape 29"/>
          <p:cNvSpPr/>
          <p:nvPr/>
        </p:nvSpPr>
        <p:spPr>
          <a:xfrm>
            <a:off x="6507328" y="5074920"/>
            <a:ext cx="2019224" cy="0"/>
          </a:xfrm>
          <a:prstGeom prst="line">
            <a:avLst/>
          </a:prstGeom>
          <a:noFill/>
          <a:ln w="9525">
            <a:solidFill>
              <a:srgbClr val="D5DDE8"/>
            </a:solidFill>
            <a:prstDash val="solid"/>
          </a:ln>
        </p:spPr>
      </p:sp>
      <p:sp>
        <p:nvSpPr>
          <p:cNvPr id="37" name="Text 30"/>
          <p:cNvSpPr txBox="1"/>
          <p:nvPr/>
        </p:nvSpPr>
        <p:spPr>
          <a:xfrm>
            <a:off x="6507328" y="5166360"/>
            <a:ext cx="2019224" cy="228600"/>
          </a:xfrm>
          <a:prstGeom prst="rect">
            <a:avLst/>
          </a:prstGeom>
          <a:noFill/>
          <a:ln/>
        </p:spPr>
        <p:txBody>
          <a:bodyPr wrap="square" lIns="0" tIns="0" rIns="0" bIns="0" rtlCol="0" anchor="t"/>
          <a:lstStyle/>
          <a:p>
            <a:pPr indent="0" marL="0">
              <a:buNone/>
            </a:pPr>
            <a:r>
              <a:rPr lang="en-US" sz="950" b="1" dirty="0">
                <a:solidFill>
                  <a:srgbClr val="6B7A90"/>
                </a:solidFill>
                <a:latin typeface="Malgun Gothic" pitchFamily="34" charset="0"/>
                <a:ea typeface="Malgun Gothic" pitchFamily="34" charset="-122"/>
                <a:cs typeface="Malgun Gothic" pitchFamily="34" charset="-120"/>
              </a:rPr>
              <a:t>완료 기준</a:t>
            </a:r>
            <a:endParaRPr lang="en-US" sz="950" dirty="0"/>
          </a:p>
        </p:txBody>
      </p:sp>
      <p:pic>
        <p:nvPicPr>
          <p:cNvPr id="38" name="Image 5" descr="preencoded.png">    </p:cNvPr>
          <p:cNvPicPr>
            <a:picLocks noChangeAspect="1"/>
          </p:cNvPicPr>
          <p:nvPr/>
        </p:nvPicPr>
        <p:blipFill>
          <a:blip r:embed="rId6"/>
          <a:stretch>
            <a:fillRect/>
          </a:stretch>
        </p:blipFill>
        <p:spPr>
          <a:xfrm>
            <a:off x="6507328" y="5440680"/>
            <a:ext cx="201168" cy="201168"/>
          </a:xfrm>
          <a:prstGeom prst="rect">
            <a:avLst/>
          </a:prstGeom>
        </p:spPr>
      </p:pic>
      <p:sp>
        <p:nvSpPr>
          <p:cNvPr id="39" name="Text 31"/>
          <p:cNvSpPr txBox="1"/>
          <p:nvPr/>
        </p:nvSpPr>
        <p:spPr>
          <a:xfrm>
            <a:off x="6781648" y="5394960"/>
            <a:ext cx="1744904" cy="292608"/>
          </a:xfrm>
          <a:prstGeom prst="rect">
            <a:avLst/>
          </a:prstGeom>
          <a:noFill/>
          <a:ln/>
        </p:spPr>
        <p:txBody>
          <a:bodyPr wrap="square" lIns="0" tIns="0" rIns="0" bIns="0" rtlCol="0" anchor="ctr"/>
          <a:lstStyle/>
          <a:p>
            <a:pPr indent="0" marL="0">
              <a:buNone/>
            </a:pPr>
            <a:r>
              <a:rPr lang="en-US" sz="1100" b="1" dirty="0">
                <a:solidFill>
                  <a:srgbClr val="0F1E3C"/>
                </a:solidFill>
                <a:latin typeface="Malgun Gothic" pitchFamily="34" charset="0"/>
                <a:ea typeface="Malgun Gothic" pitchFamily="34" charset="-122"/>
                <a:cs typeface="Malgun Gothic" pitchFamily="34" charset="-120"/>
              </a:rPr>
              <a:t>첫 결과서 · 결함 1 건 산출</a:t>
            </a:r>
            <a:endParaRPr lang="en-US" sz="1100" dirty="0"/>
          </a:p>
        </p:txBody>
      </p:sp>
      <p:sp>
        <p:nvSpPr>
          <p:cNvPr id="40" name="Shape 32"/>
          <p:cNvSpPr/>
          <p:nvPr/>
        </p:nvSpPr>
        <p:spPr>
          <a:xfrm>
            <a:off x="9075191" y="1691640"/>
            <a:ext cx="2567864" cy="4206240"/>
          </a:xfrm>
          <a:prstGeom prst="roundRect">
            <a:avLst>
              <a:gd name="adj" fmla="val 4273"/>
            </a:avLst>
          </a:prstGeom>
          <a:solidFill>
            <a:srgbClr val="EEF3F9"/>
          </a:solidFill>
          <a:ln w="12700">
            <a:solidFill>
              <a:srgbClr val="EEF3F9"/>
            </a:solidFill>
            <a:prstDash val="solid"/>
          </a:ln>
        </p:spPr>
      </p:sp>
      <p:sp>
        <p:nvSpPr>
          <p:cNvPr id="41" name="Shape 33"/>
          <p:cNvSpPr/>
          <p:nvPr/>
        </p:nvSpPr>
        <p:spPr>
          <a:xfrm>
            <a:off x="9349511" y="1920240"/>
            <a:ext cx="457200" cy="457200"/>
          </a:xfrm>
          <a:prstGeom prst="ellipse">
            <a:avLst/>
          </a:prstGeom>
          <a:solidFill>
            <a:srgbClr val="0F1E3C"/>
          </a:solidFill>
          <a:ln w="12700">
            <a:solidFill>
              <a:srgbClr val="0F1E3C"/>
            </a:solidFill>
            <a:prstDash val="solid"/>
          </a:ln>
        </p:spPr>
      </p:sp>
      <p:sp>
        <p:nvSpPr>
          <p:cNvPr id="42" name="Text 34"/>
          <p:cNvSpPr txBox="1"/>
          <p:nvPr/>
        </p:nvSpPr>
        <p:spPr>
          <a:xfrm>
            <a:off x="9349511"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43" name="Shape 35"/>
          <p:cNvSpPr/>
          <p:nvPr/>
        </p:nvSpPr>
        <p:spPr>
          <a:xfrm>
            <a:off x="10774375" y="1874520"/>
            <a:ext cx="548640" cy="548640"/>
          </a:xfrm>
          <a:prstGeom prst="ellipse">
            <a:avLst/>
          </a:prstGeom>
          <a:solidFill>
            <a:srgbClr val="FFFFFF"/>
          </a:solidFill>
          <a:ln w="12700">
            <a:solidFill>
              <a:srgbClr val="FFFFFF"/>
            </a:solidFill>
            <a:prstDash val="solid"/>
          </a:ln>
        </p:spPr>
      </p:sp>
      <p:pic>
        <p:nvPicPr>
          <p:cNvPr id="44" name="Image 6" descr="preencoded.png">    </p:cNvPr>
          <p:cNvPicPr>
            <a:picLocks noChangeAspect="1"/>
          </p:cNvPicPr>
          <p:nvPr/>
        </p:nvPicPr>
        <p:blipFill>
          <a:blip r:embed="rId7"/>
          <a:stretch>
            <a:fillRect/>
          </a:stretch>
        </p:blipFill>
        <p:spPr>
          <a:xfrm>
            <a:off x="10922508" y="2022653"/>
            <a:ext cx="252374" cy="252374"/>
          </a:xfrm>
          <a:prstGeom prst="rect">
            <a:avLst/>
          </a:prstGeom>
        </p:spPr>
      </p:pic>
      <p:sp>
        <p:nvSpPr>
          <p:cNvPr id="45" name="Text 36"/>
          <p:cNvSpPr txBox="1"/>
          <p:nvPr/>
        </p:nvSpPr>
        <p:spPr>
          <a:xfrm>
            <a:off x="9349511" y="2560320"/>
            <a:ext cx="2019224" cy="411480"/>
          </a:xfrm>
          <a:prstGeom prst="rect">
            <a:avLst/>
          </a:prstGeom>
          <a:noFill/>
          <a:ln/>
        </p:spPr>
        <p:txBody>
          <a:bodyPr wrap="square" lIns="0" tIns="0" rIns="0" bIns="0" rtlCol="0" anchor="t"/>
          <a:lstStyle/>
          <a:p>
            <a:pPr indent="0" marL="0">
              <a:buNone/>
            </a:pPr>
            <a:r>
              <a:rPr lang="en-US" sz="1700" b="1" dirty="0">
                <a:solidFill>
                  <a:srgbClr val="0F1E3C"/>
                </a:solidFill>
                <a:latin typeface="Malgun Gothic" pitchFamily="34" charset="0"/>
                <a:ea typeface="Malgun Gothic" pitchFamily="34" charset="-122"/>
                <a:cs typeface="Malgun Gothic" pitchFamily="34" charset="-120"/>
              </a:rPr>
              <a:t>정착</a:t>
            </a:r>
            <a:endParaRPr lang="en-US" sz="1700" dirty="0"/>
          </a:p>
        </p:txBody>
      </p:sp>
      <p:sp>
        <p:nvSpPr>
          <p:cNvPr id="46" name="Text 37"/>
          <p:cNvSpPr txBox="1"/>
          <p:nvPr/>
        </p:nvSpPr>
        <p:spPr>
          <a:xfrm>
            <a:off x="9349511" y="3108960"/>
            <a:ext cx="2019224" cy="26517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계정 · 역할 · 권한 정리</a:t>
            </a:r>
            <a:endParaRPr lang="en-US" sz="1150" dirty="0"/>
          </a:p>
          <a:p>
            <a:pPr marL="342900" indent="-342900">
              <a:spcAft>
                <a:spcPts val="8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실행기 추가(다른 PC)</a:t>
            </a:r>
            <a:endParaRPr lang="en-US" sz="1150" dirty="0"/>
          </a:p>
          <a:p>
            <a:pPr marL="342900" indent="-342900">
              <a:spcAft>
                <a:spcPts val="8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사용자 교육과 도움말</a:t>
            </a:r>
            <a:endParaRPr lang="en-US" sz="1150" dirty="0"/>
          </a:p>
          <a:p>
            <a:pPr marL="342900" indent="-342900">
              <a:spcAft>
                <a:spcPts val="800"/>
              </a:spcAft>
              <a:buSzPct val="100000"/>
              <a:buChar char="●"/>
            </a:pPr>
            <a:r>
              <a:rPr lang="en-US" sz="1150" dirty="0">
                <a:solidFill>
                  <a:srgbClr val="1A2333"/>
                </a:solidFill>
                <a:latin typeface="Malgun Gothic" pitchFamily="34" charset="0"/>
                <a:ea typeface="Malgun Gothic" pitchFamily="34" charset="-122"/>
                <a:cs typeface="Malgun Gothic" pitchFamily="34" charset="-120"/>
              </a:rPr>
              <a:t>백업 주기와 볼륨 관리</a:t>
            </a:r>
            <a:endParaRPr lang="en-US" sz="1150" dirty="0"/>
          </a:p>
        </p:txBody>
      </p:sp>
      <p:sp>
        <p:nvSpPr>
          <p:cNvPr id="47" name="Shape 38"/>
          <p:cNvSpPr/>
          <p:nvPr/>
        </p:nvSpPr>
        <p:spPr>
          <a:xfrm>
            <a:off x="9349511" y="5074920"/>
            <a:ext cx="2019224" cy="0"/>
          </a:xfrm>
          <a:prstGeom prst="line">
            <a:avLst/>
          </a:prstGeom>
          <a:noFill/>
          <a:ln w="9525">
            <a:solidFill>
              <a:srgbClr val="D5DDE8"/>
            </a:solidFill>
            <a:prstDash val="solid"/>
          </a:ln>
        </p:spPr>
      </p:sp>
      <p:sp>
        <p:nvSpPr>
          <p:cNvPr id="48" name="Text 39"/>
          <p:cNvSpPr txBox="1"/>
          <p:nvPr/>
        </p:nvSpPr>
        <p:spPr>
          <a:xfrm>
            <a:off x="9349511" y="5166360"/>
            <a:ext cx="2019224" cy="228600"/>
          </a:xfrm>
          <a:prstGeom prst="rect">
            <a:avLst/>
          </a:prstGeom>
          <a:noFill/>
          <a:ln/>
        </p:spPr>
        <p:txBody>
          <a:bodyPr wrap="square" lIns="0" tIns="0" rIns="0" bIns="0" rtlCol="0" anchor="t"/>
          <a:lstStyle/>
          <a:p>
            <a:pPr indent="0" marL="0">
              <a:buNone/>
            </a:pPr>
            <a:r>
              <a:rPr lang="en-US" sz="950" b="1" dirty="0">
                <a:solidFill>
                  <a:srgbClr val="6B7A90"/>
                </a:solidFill>
                <a:latin typeface="Malgun Gothic" pitchFamily="34" charset="0"/>
                <a:ea typeface="Malgun Gothic" pitchFamily="34" charset="-122"/>
                <a:cs typeface="Malgun Gothic" pitchFamily="34" charset="-120"/>
              </a:rPr>
              <a:t>완료 기준</a:t>
            </a:r>
            <a:endParaRPr lang="en-US" sz="950" dirty="0"/>
          </a:p>
        </p:txBody>
      </p:sp>
      <p:pic>
        <p:nvPicPr>
          <p:cNvPr id="49" name="Image 7" descr="preencoded.png">    </p:cNvPr>
          <p:cNvPicPr>
            <a:picLocks noChangeAspect="1"/>
          </p:cNvPicPr>
          <p:nvPr/>
        </p:nvPicPr>
        <p:blipFill>
          <a:blip r:embed="rId8"/>
          <a:stretch>
            <a:fillRect/>
          </a:stretch>
        </p:blipFill>
        <p:spPr>
          <a:xfrm>
            <a:off x="9349511" y="5440680"/>
            <a:ext cx="201168" cy="201168"/>
          </a:xfrm>
          <a:prstGeom prst="rect">
            <a:avLst/>
          </a:prstGeom>
        </p:spPr>
      </p:pic>
      <p:sp>
        <p:nvSpPr>
          <p:cNvPr id="50" name="Text 40"/>
          <p:cNvSpPr txBox="1"/>
          <p:nvPr/>
        </p:nvSpPr>
        <p:spPr>
          <a:xfrm>
            <a:off x="9623831" y="5394960"/>
            <a:ext cx="1744904" cy="292608"/>
          </a:xfrm>
          <a:prstGeom prst="rect">
            <a:avLst/>
          </a:prstGeom>
          <a:noFill/>
          <a:ln/>
        </p:spPr>
        <p:txBody>
          <a:bodyPr wrap="square" lIns="0" tIns="0" rIns="0" bIns="0" rtlCol="0" anchor="ctr"/>
          <a:lstStyle/>
          <a:p>
            <a:pPr indent="0" marL="0">
              <a:buNone/>
            </a:pPr>
            <a:r>
              <a:rPr lang="en-US" sz="1100" b="1" dirty="0">
                <a:solidFill>
                  <a:srgbClr val="0F1E3C"/>
                </a:solidFill>
                <a:latin typeface="Malgun Gothic" pitchFamily="34" charset="0"/>
                <a:ea typeface="Malgun Gothic" pitchFamily="34" charset="-122"/>
                <a:cs typeface="Malgun Gothic" pitchFamily="34" charset="-120"/>
              </a:rPr>
              <a:t>운영 이관 완료</a:t>
            </a:r>
            <a:endParaRPr lang="en-US" sz="1100" dirty="0"/>
          </a:p>
        </p:txBody>
      </p:sp>
      <p:sp>
        <p:nvSpPr>
          <p:cNvPr id="51" name="Text 41"/>
          <p:cNvSpPr txBox="1"/>
          <p:nvPr/>
        </p:nvSpPr>
        <p:spPr>
          <a:xfrm>
            <a:off x="548640" y="6080760"/>
            <a:ext cx="11094415" cy="274320"/>
          </a:xfrm>
          <a:prstGeom prst="rect">
            <a:avLst/>
          </a:prstGeom>
          <a:noFill/>
          <a:ln/>
        </p:spPr>
        <p:txBody>
          <a:bodyPr wrap="square" lIns="0" tIns="0" rIns="0" bIns="0" rtlCol="0" anchor="t"/>
          <a:lstStyle/>
          <a:p>
            <a:pPr indent="0" marL="0">
              <a:buNone/>
            </a:pPr>
            <a:r>
              <a:rPr lang="en-US" sz="1100" dirty="0">
                <a:solidFill>
                  <a:srgbClr val="6B7A90"/>
                </a:solidFill>
                <a:latin typeface="Malgun Gothic" pitchFamily="34" charset="0"/>
                <a:ea typeface="Malgun Gothic" pitchFamily="34" charset="-122"/>
                <a:cs typeface="Malgun Gothic" pitchFamily="34" charset="-120"/>
              </a:rPr>
              <a:t>기존 UTOP 이 있는 랩이라면 「데이터 내보내기 · 가져오기」 로 2 단계가 몇 분에 끝난다.</a:t>
            </a:r>
            <a:endParaRPr lang="en-US" sz="1100" dirty="0"/>
          </a:p>
        </p:txBody>
      </p:sp>
      <p:sp>
        <p:nvSpPr>
          <p:cNvPr id="52" name="Text 42"/>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A0ABBC"/>
                </a:solidFill>
                <a:latin typeface="Malgun Gothic" pitchFamily="34" charset="0"/>
                <a:ea typeface="Malgun Gothic" pitchFamily="34" charset="-122"/>
                <a:cs typeface="Malgun Gothic" pitchFamily="34" charset="-120"/>
              </a:rPr>
              <a:t>UTOP  ·  Ubiquoss Test Orchestration Platform</a:t>
            </a:r>
            <a:endParaRPr lang="en-US" sz="900" dirty="0"/>
          </a:p>
        </p:txBody>
      </p:sp>
      <p:sp>
        <p:nvSpPr>
          <p:cNvPr id="53" name="Text 43"/>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A0ABBC"/>
                </a:solidFill>
                <a:latin typeface="Malgun Gothic" pitchFamily="34" charset="0"/>
                <a:ea typeface="Malgun Gothic" pitchFamily="34" charset="-122"/>
                <a:cs typeface="Malgun Gothic"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1078992" y="1444752"/>
            <a:ext cx="1170432" cy="987552"/>
          </a:xfrm>
          <a:prstGeom prst="line">
            <a:avLst/>
          </a:prstGeom>
          <a:noFill/>
          <a:ln w="19050">
            <a:solidFill>
              <a:srgbClr val="2E4A85"/>
            </a:solidFill>
            <a:prstDash val="solid"/>
          </a:ln>
        </p:spPr>
      </p:sp>
      <p:sp>
        <p:nvSpPr>
          <p:cNvPr id="3" name="Shape 1"/>
          <p:cNvSpPr/>
          <p:nvPr/>
        </p:nvSpPr>
        <p:spPr>
          <a:xfrm flipH="1">
            <a:off x="960120" y="2432304"/>
            <a:ext cx="1289304" cy="996696"/>
          </a:xfrm>
          <a:prstGeom prst="line">
            <a:avLst/>
          </a:prstGeom>
          <a:noFill/>
          <a:ln w="19050">
            <a:solidFill>
              <a:srgbClr val="2E4A85"/>
            </a:solidFill>
            <a:prstDash val="solid"/>
          </a:ln>
        </p:spPr>
      </p:sp>
      <p:sp>
        <p:nvSpPr>
          <p:cNvPr id="4" name="Shape 2"/>
          <p:cNvSpPr/>
          <p:nvPr/>
        </p:nvSpPr>
        <p:spPr>
          <a:xfrm>
            <a:off x="2249424" y="2432304"/>
            <a:ext cx="283464" cy="1746504"/>
          </a:xfrm>
          <a:prstGeom prst="line">
            <a:avLst/>
          </a:prstGeom>
          <a:noFill/>
          <a:ln w="19050">
            <a:solidFill>
              <a:srgbClr val="2E4A85"/>
            </a:solidFill>
            <a:prstDash val="solid"/>
          </a:ln>
        </p:spPr>
      </p:sp>
      <p:sp>
        <p:nvSpPr>
          <p:cNvPr id="5" name="Shape 3"/>
          <p:cNvSpPr/>
          <p:nvPr/>
        </p:nvSpPr>
        <p:spPr>
          <a:xfrm>
            <a:off x="960120" y="3429000"/>
            <a:ext cx="704088" cy="1892808"/>
          </a:xfrm>
          <a:prstGeom prst="line">
            <a:avLst/>
          </a:prstGeom>
          <a:noFill/>
          <a:ln w="19050">
            <a:solidFill>
              <a:srgbClr val="2E4A85"/>
            </a:solidFill>
            <a:prstDash val="solid"/>
          </a:ln>
        </p:spPr>
      </p:sp>
      <p:sp>
        <p:nvSpPr>
          <p:cNvPr id="6" name="Shape 4"/>
          <p:cNvSpPr/>
          <p:nvPr/>
        </p:nvSpPr>
        <p:spPr>
          <a:xfrm flipH="1">
            <a:off x="1664208" y="4178808"/>
            <a:ext cx="868680" cy="1143000"/>
          </a:xfrm>
          <a:prstGeom prst="line">
            <a:avLst/>
          </a:prstGeom>
          <a:noFill/>
          <a:ln w="19050">
            <a:solidFill>
              <a:srgbClr val="2E4A85"/>
            </a:solidFill>
            <a:prstDash val="solid"/>
          </a:ln>
        </p:spPr>
      </p:sp>
      <p:sp>
        <p:nvSpPr>
          <p:cNvPr id="7" name="Shape 5"/>
          <p:cNvSpPr/>
          <p:nvPr/>
        </p:nvSpPr>
        <p:spPr>
          <a:xfrm>
            <a:off x="1664208" y="5321808"/>
            <a:ext cx="1572768" cy="201168"/>
          </a:xfrm>
          <a:prstGeom prst="line">
            <a:avLst/>
          </a:prstGeom>
          <a:noFill/>
          <a:ln w="19050">
            <a:solidFill>
              <a:srgbClr val="2E4A85"/>
            </a:solidFill>
            <a:prstDash val="solid"/>
          </a:ln>
        </p:spPr>
      </p:sp>
      <p:sp>
        <p:nvSpPr>
          <p:cNvPr id="8" name="Shape 6"/>
          <p:cNvSpPr/>
          <p:nvPr/>
        </p:nvSpPr>
        <p:spPr>
          <a:xfrm>
            <a:off x="2532888" y="4178808"/>
            <a:ext cx="704088" cy="1344168"/>
          </a:xfrm>
          <a:prstGeom prst="line">
            <a:avLst/>
          </a:prstGeom>
          <a:noFill/>
          <a:ln w="19050">
            <a:solidFill>
              <a:srgbClr val="2E4A85"/>
            </a:solidFill>
            <a:prstDash val="solid"/>
          </a:ln>
        </p:spPr>
      </p:sp>
      <p:sp>
        <p:nvSpPr>
          <p:cNvPr id="9" name="Shape 7"/>
          <p:cNvSpPr/>
          <p:nvPr/>
        </p:nvSpPr>
        <p:spPr>
          <a:xfrm>
            <a:off x="914400" y="1280160"/>
            <a:ext cx="329184" cy="329184"/>
          </a:xfrm>
          <a:prstGeom prst="ellipse">
            <a:avLst/>
          </a:prstGeom>
          <a:solidFill>
            <a:srgbClr val="2E4A85"/>
          </a:solidFill>
          <a:ln w="25400">
            <a:solidFill>
              <a:srgbClr val="0F1E3C"/>
            </a:solidFill>
            <a:prstDash val="solid"/>
          </a:ln>
        </p:spPr>
      </p:sp>
      <p:sp>
        <p:nvSpPr>
          <p:cNvPr id="10" name="Shape 8"/>
          <p:cNvSpPr/>
          <p:nvPr/>
        </p:nvSpPr>
        <p:spPr>
          <a:xfrm>
            <a:off x="2011680" y="2194560"/>
            <a:ext cx="475488" cy="475488"/>
          </a:xfrm>
          <a:prstGeom prst="ellipse">
            <a:avLst/>
          </a:prstGeom>
          <a:solidFill>
            <a:srgbClr val="12A594"/>
          </a:solidFill>
          <a:ln w="25400">
            <a:solidFill>
              <a:srgbClr val="0F1E3C"/>
            </a:solidFill>
            <a:prstDash val="solid"/>
          </a:ln>
        </p:spPr>
      </p:sp>
      <p:sp>
        <p:nvSpPr>
          <p:cNvPr id="11" name="Shape 9"/>
          <p:cNvSpPr/>
          <p:nvPr/>
        </p:nvSpPr>
        <p:spPr>
          <a:xfrm>
            <a:off x="822960" y="3291840"/>
            <a:ext cx="274320" cy="274320"/>
          </a:xfrm>
          <a:prstGeom prst="ellipse">
            <a:avLst/>
          </a:prstGeom>
          <a:solidFill>
            <a:srgbClr val="2E4A85"/>
          </a:solidFill>
          <a:ln w="25400">
            <a:solidFill>
              <a:srgbClr val="0F1E3C"/>
            </a:solidFill>
            <a:prstDash val="solid"/>
          </a:ln>
        </p:spPr>
      </p:sp>
      <p:sp>
        <p:nvSpPr>
          <p:cNvPr id="12" name="Shape 10"/>
          <p:cNvSpPr/>
          <p:nvPr/>
        </p:nvSpPr>
        <p:spPr>
          <a:xfrm>
            <a:off x="2377440" y="4023360"/>
            <a:ext cx="310896" cy="310896"/>
          </a:xfrm>
          <a:prstGeom prst="ellipse">
            <a:avLst/>
          </a:prstGeom>
          <a:solidFill>
            <a:srgbClr val="2E4A85"/>
          </a:solidFill>
          <a:ln w="25400">
            <a:solidFill>
              <a:srgbClr val="0F1E3C"/>
            </a:solidFill>
            <a:prstDash val="solid"/>
          </a:ln>
        </p:spPr>
      </p:sp>
      <p:sp>
        <p:nvSpPr>
          <p:cNvPr id="13" name="Shape 11"/>
          <p:cNvSpPr/>
          <p:nvPr/>
        </p:nvSpPr>
        <p:spPr>
          <a:xfrm>
            <a:off x="1463040" y="5120640"/>
            <a:ext cx="402336" cy="402336"/>
          </a:xfrm>
          <a:prstGeom prst="ellipse">
            <a:avLst/>
          </a:prstGeom>
          <a:solidFill>
            <a:srgbClr val="F2A23A"/>
          </a:solidFill>
          <a:ln w="25400">
            <a:solidFill>
              <a:srgbClr val="0F1E3C"/>
            </a:solidFill>
            <a:prstDash val="solid"/>
          </a:ln>
        </p:spPr>
      </p:sp>
      <p:sp>
        <p:nvSpPr>
          <p:cNvPr id="14" name="Shape 12"/>
          <p:cNvSpPr/>
          <p:nvPr/>
        </p:nvSpPr>
        <p:spPr>
          <a:xfrm>
            <a:off x="3108960" y="5394960"/>
            <a:ext cx="256032" cy="256032"/>
          </a:xfrm>
          <a:prstGeom prst="ellipse">
            <a:avLst/>
          </a:prstGeom>
          <a:solidFill>
            <a:srgbClr val="2E4A85"/>
          </a:solidFill>
          <a:ln w="25400">
            <a:solidFill>
              <a:srgbClr val="0F1E3C"/>
            </a:solidFill>
            <a:prstDash val="solid"/>
          </a:ln>
        </p:spPr>
      </p:sp>
      <p:sp>
        <p:nvSpPr>
          <p:cNvPr id="15" name="Text 13"/>
          <p:cNvSpPr txBox="1"/>
          <p:nvPr/>
        </p:nvSpPr>
        <p:spPr>
          <a:xfrm>
            <a:off x="4206240" y="1737360"/>
            <a:ext cx="7498080" cy="1645920"/>
          </a:xfrm>
          <a:prstGeom prst="rect">
            <a:avLst/>
          </a:prstGeom>
          <a:noFill/>
          <a:ln/>
        </p:spPr>
        <p:txBody>
          <a:bodyPr wrap="square" lIns="0" tIns="0" rIns="0" bIns="0" rtlCol="0" anchor="t"/>
          <a:lstStyle/>
          <a:p>
            <a:pPr indent="0" marL="0">
              <a:lnSpc>
                <a:spcPct val="115000"/>
              </a:lnSpc>
              <a:buNone/>
            </a:pPr>
            <a:r>
              <a:rPr lang="en-US" sz="4000" b="1" dirty="0">
                <a:solidFill>
                  <a:srgbClr val="FFFFFF"/>
                </a:solidFill>
                <a:latin typeface="Malgun Gothic" pitchFamily="34" charset="0"/>
                <a:ea typeface="Malgun Gothic" pitchFamily="34" charset="-122"/>
                <a:cs typeface="Malgun Gothic" pitchFamily="34" charset="-120"/>
              </a:rPr>
              <a:t>요구사항에서 결과서까지,</a:t>
            </a:r>
            <a:endParaRPr lang="en-US" sz="4000" dirty="0"/>
          </a:p>
          <a:p>
            <a:pPr indent="0" marL="0">
              <a:lnSpc>
                <a:spcPct val="115000"/>
              </a:lnSpc>
              <a:buNone/>
            </a:pPr>
            <a:r>
              <a:rPr lang="en-US" sz="4000" b="1" dirty="0">
                <a:solidFill>
                  <a:srgbClr val="FFFFFF"/>
                </a:solidFill>
                <a:latin typeface="Malgun Gothic" pitchFamily="34" charset="0"/>
                <a:ea typeface="Malgun Gothic" pitchFamily="34" charset="-122"/>
                <a:cs typeface="Malgun Gothic" pitchFamily="34" charset="-120"/>
              </a:rPr>
              <a:t>한 곳에서.</a:t>
            </a:r>
            <a:endParaRPr lang="en-US" sz="4000" dirty="0"/>
          </a:p>
        </p:txBody>
      </p:sp>
      <p:sp>
        <p:nvSpPr>
          <p:cNvPr id="16" name="Text 14"/>
          <p:cNvSpPr txBox="1"/>
          <p:nvPr/>
        </p:nvSpPr>
        <p:spPr>
          <a:xfrm>
            <a:off x="4206240" y="3520440"/>
            <a:ext cx="7315200" cy="457200"/>
          </a:xfrm>
          <a:prstGeom prst="rect">
            <a:avLst/>
          </a:prstGeom>
          <a:noFill/>
          <a:ln/>
        </p:spPr>
        <p:txBody>
          <a:bodyPr wrap="square" lIns="0" tIns="0" rIns="0" bIns="0" rtlCol="0" anchor="t"/>
          <a:lstStyle/>
          <a:p>
            <a:pPr indent="0" marL="0">
              <a:buNone/>
            </a:pPr>
            <a:r>
              <a:rPr lang="en-US" sz="1800" b="1" dirty="0">
                <a:solidFill>
                  <a:srgbClr val="12A594"/>
                </a:solidFill>
                <a:latin typeface="Malgun Gothic" pitchFamily="34" charset="0"/>
                <a:ea typeface="Malgun Gothic" pitchFamily="34" charset="-122"/>
                <a:cs typeface="Malgun Gothic" pitchFamily="34" charset="-120"/>
              </a:rPr>
              <a:t>적고 → 덮고 → 돌리고 → 낸다</a:t>
            </a:r>
            <a:endParaRPr lang="en-US" sz="1800" dirty="0"/>
          </a:p>
        </p:txBody>
      </p:sp>
      <p:sp>
        <p:nvSpPr>
          <p:cNvPr id="17" name="Text 15"/>
          <p:cNvSpPr txBox="1"/>
          <p:nvPr/>
        </p:nvSpPr>
        <p:spPr>
          <a:xfrm>
            <a:off x="4206240" y="4114800"/>
            <a:ext cx="731520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CADCFC"/>
                </a:solidFill>
                <a:latin typeface="Malgun Gothic" pitchFamily="34" charset="0"/>
                <a:ea typeface="Malgun Gothic" pitchFamily="34" charset="-122"/>
                <a:cs typeface="Malgun Gothic" pitchFamily="34" charset="-120"/>
              </a:rPr>
              <a:t>고객사 양식 그대로 나오는 결과서</a:t>
            </a:r>
            <a:endParaRPr lang="en-US" sz="1400" dirty="0"/>
          </a:p>
          <a:p>
            <a:pPr marL="342900" indent="-342900">
              <a:spcAft>
                <a:spcPts val="600"/>
              </a:spcAft>
              <a:buSzPct val="100000"/>
              <a:buChar char="●"/>
            </a:pPr>
            <a:r>
              <a:rPr lang="en-US" sz="1400" dirty="0">
                <a:solidFill>
                  <a:srgbClr val="CADCFC"/>
                </a:solidFill>
                <a:latin typeface="Malgun Gothic" pitchFamily="34" charset="0"/>
                <a:ea typeface="Malgun Gothic" pitchFamily="34" charset="-122"/>
                <a:cs typeface="Malgun Gothic" pitchFamily="34" charset="-120"/>
              </a:rPr>
              <a:t>브라우저를 닫아도 도는 실행 서버</a:t>
            </a:r>
            <a:endParaRPr lang="en-US" sz="1400" dirty="0"/>
          </a:p>
          <a:p>
            <a:pPr marL="342900" indent="-342900">
              <a:spcAft>
                <a:spcPts val="600"/>
              </a:spcAft>
              <a:buSzPct val="100000"/>
              <a:buChar char="●"/>
            </a:pPr>
            <a:r>
              <a:rPr lang="en-US" sz="1400" dirty="0">
                <a:solidFill>
                  <a:srgbClr val="CADCFC"/>
                </a:solidFill>
                <a:latin typeface="Malgun Gothic" pitchFamily="34" charset="0"/>
                <a:ea typeface="Malgun Gothic" pitchFamily="34" charset="-122"/>
                <a:cs typeface="Malgun Gothic" pitchFamily="34" charset="-120"/>
              </a:rPr>
              <a:t>문서 · 요구사항 · 시험 · 결함이 이어진 추적</a:t>
            </a:r>
            <a:endParaRPr lang="en-US" sz="1400" dirty="0"/>
          </a:p>
          <a:p>
            <a:pPr marL="342900" indent="-342900">
              <a:spcAft>
                <a:spcPts val="600"/>
              </a:spcAft>
              <a:buSzPct val="100000"/>
              <a:buChar char="●"/>
            </a:pPr>
            <a:r>
              <a:rPr lang="en-US" sz="1400" dirty="0">
                <a:solidFill>
                  <a:srgbClr val="CADCFC"/>
                </a:solidFill>
                <a:latin typeface="Malgun Gothic" pitchFamily="34" charset="0"/>
                <a:ea typeface="Malgun Gothic" pitchFamily="34" charset="-122"/>
                <a:cs typeface="Malgun Gothic" pitchFamily="34" charset="-120"/>
              </a:rPr>
              <a:t>CLI · SNMP · N2X · STC 를 한 문법으로</a:t>
            </a:r>
            <a:endParaRPr lang="en-US" sz="1400" dirty="0"/>
          </a:p>
        </p:txBody>
      </p:sp>
      <p:sp>
        <p:nvSpPr>
          <p:cNvPr id="18" name="Text 16"/>
          <p:cNvSpPr txBox="1"/>
          <p:nvPr/>
        </p:nvSpPr>
        <p:spPr>
          <a:xfrm>
            <a:off x="4206240" y="5852160"/>
            <a:ext cx="7315200" cy="457200"/>
          </a:xfrm>
          <a:prstGeom prst="rect">
            <a:avLst/>
          </a:prstGeom>
          <a:noFill/>
          <a:ln/>
        </p:spPr>
        <p:txBody>
          <a:bodyPr wrap="square" lIns="0" tIns="0" rIns="0" bIns="0" rtlCol="0" anchor="t"/>
          <a:lstStyle/>
          <a:p>
            <a:pPr indent="0" marL="0">
              <a:buNone/>
            </a:pPr>
            <a:r>
              <a:rPr lang="en-US" sz="1600" b="1" dirty="0">
                <a:solidFill>
                  <a:srgbClr val="FFFFFF"/>
                </a:solidFill>
                <a:latin typeface="Malgun Gothic" pitchFamily="34" charset="0"/>
                <a:ea typeface="Malgun Gothic" pitchFamily="34" charset="-122"/>
                <a:cs typeface="Malgun Gothic" pitchFamily="34" charset="-120"/>
              </a:rPr>
              <a:t>감사합니다  ·  Q &amp; A</a:t>
            </a:r>
            <a:endParaRPr lang="en-US" sz="1600" dirty="0"/>
          </a:p>
        </p:txBody>
      </p:sp>
      <p:sp>
        <p:nvSpPr>
          <p:cNvPr id="19" name="Text 17"/>
          <p:cNvSpPr txBox="1"/>
          <p:nvPr/>
        </p:nvSpPr>
        <p:spPr>
          <a:xfrm>
            <a:off x="4206240" y="6263640"/>
            <a:ext cx="7315200" cy="274320"/>
          </a:xfrm>
          <a:prstGeom prst="rect">
            <a:avLst/>
          </a:prstGeom>
          <a:noFill/>
          <a:ln/>
        </p:spPr>
        <p:txBody>
          <a:bodyPr wrap="square" lIns="0" tIns="0" rIns="0" bIns="0" rtlCol="0" anchor="t"/>
          <a:lstStyle/>
          <a:p>
            <a:pPr indent="0" marL="0">
              <a:buNone/>
            </a:pPr>
            <a:r>
              <a:rPr lang="en-US" sz="1000" dirty="0">
                <a:solidFill>
                  <a:srgbClr val="7F8FB0"/>
                </a:solidFill>
                <a:latin typeface="Malgun Gothic" pitchFamily="34" charset="0"/>
                <a:ea typeface="Malgun Gothic" pitchFamily="34" charset="-122"/>
                <a:cs typeface="Malgun Gothic" pitchFamily="34" charset="-120"/>
              </a:rPr>
              <a:t>UTOP  ·  Ubiquoss Test Orchestration Platform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UTOP 소개</dc:title>
  <dc:subject>PptxGenJS Presentation</dc:subject>
  <dc:creator>Ubiquoss</dc:creator>
  <cp:lastModifiedBy>Ubiquoss</cp:lastModifiedBy>
  <cp:revision>1</cp:revision>
  <dcterms:created xsi:type="dcterms:W3CDTF">2026-09-28T11:26:11Z</dcterms:created>
  <dcterms:modified xsi:type="dcterms:W3CDTF">2026-09-28T11:26:11Z</dcterms:modified>
</cp:coreProperties>
</file>